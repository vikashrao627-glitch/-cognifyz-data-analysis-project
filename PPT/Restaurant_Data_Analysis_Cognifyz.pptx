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7.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0.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E4572E"/>
            </a:solidFill>
            <a:effectLst/>
          </c:spPr>
          <c:invertIfNegative val="0"/>
          <c:dLbls>
            <c:numFmt formatCode="0.0&quot;%&quot;" sourceLinked="0"/>
            <c:txPr>
              <a:bodyPr/>
              <a:lstStyle/>
              <a:p>
                <a:pPr>
                  <a:defRPr b="0" i="0" strike="noStrike" sz="1000" u="none">
                    <a:solidFill>
                      <a:srgbClr val="1F2430"/>
                    </a:solidFill>
                    <a:latin typeface="Calibri"/>
                  </a:defRPr>
                </a:pPr>
              </a:p>
            </c:txPr>
            <c:showLegendKey val="0"/>
            <c:showVal val="1"/>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1F8A8A"/>
              </a:solidFill>
              <a:effectLst/>
            </c:spPr>
          </c:dPt>
          <c:dPt>
            <c:idx val="2"/>
            <c:invertIfNegative val="0"/>
            <c:bubble3D val="0"/>
            <c:spPr>
              <a:solidFill>
                <a:srgbClr val="1F8A8A"/>
              </a:solidFill>
              <a:effectLst/>
            </c:spPr>
          </c:dPt>
          <c:cat>
            <c:multiLvlStrRef>
              <c:f>Sheet1!$A$2:$A$4</c:f>
              <c:multiLvlStrCache>
                <c:ptCount val="3"/>
                <c:lvl>
                  <c:pt idx="0">
                    <c:v>North Indian</c:v>
                  </c:pt>
                  <c:pt idx="1">
                    <c:v>Chinese</c:v>
                  </c:pt>
                  <c:pt idx="2">
                    <c:v>Fast Food</c:v>
                  </c:pt>
                </c:lvl>
              </c:multiLvlStrCache>
            </c:multiLvlStrRef>
          </c:cat>
          <c:val>
            <c:numRef>
              <c:f>Sheet1!$B$2:$B$4</c:f>
              <c:numCache>
                <c:formatCode>General</c:formatCode>
                <c:ptCount val="3"/>
                <c:pt idx="0">
                  <c:v>41.46</c:v>
                </c:pt>
                <c:pt idx="1">
                  <c:v>28.64</c:v>
                </c:pt>
                <c:pt idx="2">
                  <c:v>20.79</c:v>
                </c:pt>
              </c:numCache>
            </c:numRef>
          </c:val>
        </c:ser>
        <c:dLbls>
          <c:numFmt formatCode="0.0&quot;%&quot;" sourceLinked="0"/>
          <c:txPr>
            <a:bodyPr/>
            <a:lstStyle/>
            <a:p>
              <a:pPr>
                <a:defRPr b="0" i="0" strike="noStrike" sz="1000" u="none">
                  <a:solidFill>
                    <a:srgbClr val="1F243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c:v>
                </c:pt>
              </c:strCache>
            </c:strRef>
          </c:tx>
          <c:spPr>
            <a:solidFill>
              <a:srgbClr val="E4572E"/>
            </a:solidFill>
            <a:effectLst/>
          </c:spPr>
          <c:invertIfNegative val="0"/>
          <c:dLbls>
            <c:numFmt formatCode="#,##0" sourceLinked="0"/>
            <c:txPr>
              <a:bodyPr/>
              <a:lstStyle/>
              <a:p>
                <a:pPr>
                  <a:defRPr b="0" i="0" strike="noStrike" sz="1000" u="none">
                    <a:solidFill>
                      <a:srgbClr val="1F2430"/>
                    </a:solidFill>
                    <a:latin typeface="Calibri"/>
                  </a:defRPr>
                </a:pPr>
              </a:p>
            </c:txPr>
            <c:showLegendKey val="0"/>
            <c:showVal val="1"/>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1F8A8A"/>
              </a:solidFill>
              <a:effectLst/>
            </c:spPr>
          </c:dPt>
          <c:dPt>
            <c:idx val="2"/>
            <c:invertIfNegative val="0"/>
            <c:bubble3D val="0"/>
            <c:spPr>
              <a:solidFill>
                <a:srgbClr val="1F8A8A"/>
              </a:solidFill>
              <a:effectLst/>
            </c:spPr>
          </c:dPt>
          <c:dPt>
            <c:idx val="3"/>
            <c:invertIfNegative val="0"/>
            <c:bubble3D val="0"/>
            <c:spPr>
              <a:solidFill>
                <a:srgbClr val="1F8A8A"/>
              </a:solidFill>
              <a:effectLst/>
            </c:spPr>
          </c:dPt>
          <c:dPt>
            <c:idx val="4"/>
            <c:invertIfNegative val="0"/>
            <c:bubble3D val="0"/>
            <c:spPr>
              <a:solidFill>
                <a:srgbClr val="1F8A8A"/>
              </a:solidFill>
              <a:effectLst/>
            </c:spPr>
          </c:dPt>
          <c:cat>
            <c:multiLvlStrRef>
              <c:f>Sheet1!$A$2:$A$6</c:f>
              <c:multiLvlStrCache>
                <c:ptCount val="5"/>
                <c:lvl>
                  <c:pt idx="0">
                    <c:v>New Delhi</c:v>
                  </c:pt>
                  <c:pt idx="1">
                    <c:v>Gurgaon</c:v>
                  </c:pt>
                  <c:pt idx="2">
                    <c:v>Noida</c:v>
                  </c:pt>
                  <c:pt idx="3">
                    <c:v>Faridabad</c:v>
                  </c:pt>
                  <c:pt idx="4">
                    <c:v>Ghaziabad</c:v>
                  </c:pt>
                </c:lvl>
              </c:multiLvlStrCache>
            </c:multiLvlStrRef>
          </c:cat>
          <c:val>
            <c:numRef>
              <c:f>Sheet1!$B$2:$B$6</c:f>
              <c:numCache>
                <c:formatCode>General</c:formatCode>
                <c:ptCount val="5"/>
                <c:pt idx="0">
                  <c:v>5473</c:v>
                </c:pt>
                <c:pt idx="1">
                  <c:v>1118</c:v>
                </c:pt>
                <c:pt idx="2">
                  <c:v>1080</c:v>
                </c:pt>
                <c:pt idx="3">
                  <c:v>251</c:v>
                </c:pt>
                <c:pt idx="4">
                  <c:v>25</c:v>
                </c:pt>
              </c:numCache>
            </c:numRef>
          </c:val>
        </c:ser>
        <c:dLbls>
          <c:numFmt formatCode="#,##0" sourceLinked="0"/>
          <c:txPr>
            <a:bodyPr/>
            <a:lstStyle/>
            <a:p>
              <a:pPr>
                <a:defRPr b="0" i="0" strike="noStrike" sz="1000" u="none">
                  <a:solidFill>
                    <a:srgbClr val="1F243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Price</c:v>
                </c:pt>
              </c:strCache>
            </c:strRef>
          </c:tx>
          <c:spPr>
            <a:solidFill>
              <a:schemeClr val="accent1"/>
            </a:solidFill>
            <a:ln w="9525" cap="flat">
              <a:solidFill>
                <a:srgbClr val="F9F9F9"/>
              </a:solidFill>
              <a:prstDash val="solid"/>
              <a:round/>
            </a:ln>
            <a:effectLst/>
          </c:spPr>
          <c:dPt>
            <c:idx val="0"/>
            <c:bubble3D val="0"/>
            <c:spPr>
              <a:solidFill>
                <a:srgbClr val="E4572E"/>
              </a:solidFill>
              <a:ln w="12700" cap="flat">
                <a:solidFill>
                  <a:srgbClr val="FFFFFF"/>
                </a:solidFill>
                <a:prstDash val="solid"/>
                <a:round/>
              </a:ln>
              <a:effectLst/>
            </c:spPr>
          </c:dPt>
          <c:dPt>
            <c:idx val="1"/>
            <c:bubble3D val="0"/>
            <c:spPr>
              <a:solidFill>
                <a:srgbClr val="1F8A8A"/>
              </a:solidFill>
              <a:ln w="12700" cap="flat">
                <a:solidFill>
                  <a:srgbClr val="FFFFFF"/>
                </a:solidFill>
                <a:prstDash val="solid"/>
                <a:round/>
              </a:ln>
              <a:effectLst/>
            </c:spPr>
          </c:dPt>
          <c:dPt>
            <c:idx val="2"/>
            <c:bubble3D val="0"/>
            <c:spPr>
              <a:solidFill>
                <a:srgbClr val="F2B134"/>
              </a:solidFill>
              <a:ln w="12700" cap="flat">
                <a:solidFill>
                  <a:srgbClr val="FFFFFF"/>
                </a:solidFill>
                <a:prstDash val="solid"/>
                <a:round/>
              </a:ln>
              <a:effectLst/>
            </c:spPr>
          </c:dPt>
          <c:dPt>
            <c:idx val="3"/>
            <c:bubble3D val="0"/>
            <c:spPr>
              <a:solidFill>
                <a:srgbClr val="1B1F2A"/>
              </a:solidFill>
              <a:ln w="12700" cap="flat">
                <a:solidFill>
                  <a:srgbClr val="FFFFFF"/>
                </a:solidFill>
                <a:prstDash val="solid"/>
                <a:round/>
              </a:ln>
              <a:effectLst/>
            </c:spPr>
          </c:dPt>
          <c:dLbls>
            <c:dLbl>
              <c:idx val="0"/>
              <c:numFmt formatCode="0.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2"/>
              <c:numFmt formatCode="0.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3"/>
              <c:numFmt formatCode="0.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Range 1</c:v>
                </c:pt>
                <c:pt idx="1">
                  <c:v>Range 2</c:v>
                </c:pt>
                <c:pt idx="2">
                  <c:v>Range 3</c:v>
                </c:pt>
                <c:pt idx="3">
                  <c:v>Range 4</c:v>
                </c:pt>
              </c:strCache>
            </c:strRef>
          </c:cat>
          <c:val>
            <c:numRef>
              <c:f>Sheet1!$B$2:$B$5</c:f>
              <c:numCache>
                <c:ptCount val="4"/>
                <c:pt idx="0">
                  <c:v>4444</c:v>
                </c:pt>
                <c:pt idx="1">
                  <c:v>3113</c:v>
                </c:pt>
                <c:pt idx="2">
                  <c:v>1408</c:v>
                </c:pt>
                <c:pt idx="3">
                  <c:v>586</c:v>
                </c:pt>
              </c:numCache>
            </c:numRef>
          </c:val>
        </c:ser>
        <c:firstSliceAng val="0"/>
        <c:holeSize val="55"/>
      </c:doughnutChart>
      <c:spPr>
        <a:noFill/>
        <a:ln>
          <a:noFill/>
        </a:ln>
        <a:effectLst/>
      </c:spPr>
    </c:plotArea>
    <c:legend>
      <c:legendPos val="b"/>
      <c:overlay val="0"/>
      <c:txPr>
        <a:bodyPr/>
        <a:lstStyle/>
        <a:p>
          <a:pPr>
            <a:defRPr sz="1000">
              <a:solidFill>
                <a:srgbClr val="1F2430"/>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Delivery</c:v>
                </c:pt>
              </c:strCache>
            </c:strRef>
          </c:tx>
          <c:spPr>
            <a:solidFill>
              <a:schemeClr val="accent1"/>
            </a:solidFill>
            <a:ln w="9525" cap="flat">
              <a:solidFill>
                <a:srgbClr val="F9F9F9"/>
              </a:solidFill>
              <a:prstDash val="solid"/>
              <a:round/>
            </a:ln>
            <a:effectLst/>
          </c:spPr>
          <c:dPt>
            <c:idx val="0"/>
            <c:bubble3D val="0"/>
            <c:spPr>
              <a:solidFill>
                <a:srgbClr val="1F8A8A"/>
              </a:solidFill>
              <a:ln w="12700" cap="flat">
                <a:solidFill>
                  <a:srgbClr val="FFFFFF"/>
                </a:solidFill>
                <a:prstDash val="solid"/>
                <a:round/>
              </a:ln>
              <a:effectLst/>
            </c:spPr>
          </c:dPt>
          <c:dPt>
            <c:idx val="1"/>
            <c:bubble3D val="0"/>
            <c:spPr>
              <a:solidFill>
                <a:srgbClr val="C9CFD8"/>
              </a:solidFill>
              <a:ln w="12700" cap="flat">
                <a:solidFill>
                  <a:srgbClr val="FFFFFF"/>
                </a:solidFill>
                <a:prstDash val="solid"/>
                <a:round/>
              </a:ln>
              <a:effectLst/>
            </c:spPr>
          </c:dPt>
          <c:dLbls>
            <c:dLbl>
              <c:idx val="0"/>
              <c:numFmt formatCode="0.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Yes</c:v>
                </c:pt>
                <c:pt idx="1">
                  <c:v>No</c:v>
                </c:pt>
              </c:strCache>
            </c:strRef>
          </c:cat>
          <c:val>
            <c:numRef>
              <c:f>Sheet1!$B$2:$B$3</c:f>
              <c:numCache>
                <c:ptCount val="2"/>
                <c:pt idx="0">
                  <c:v>2451</c:v>
                </c:pt>
                <c:pt idx="1">
                  <c:v>7100</c:v>
                </c:pt>
              </c:numCache>
            </c:numRef>
          </c:val>
        </c:ser>
        <c:firstSliceAng val="0"/>
        <c:holeSize val="55"/>
      </c:doughnutChart>
      <c:spPr>
        <a:noFill/>
        <a:ln>
          <a:noFill/>
        </a:ln>
        <a:effectLst/>
      </c:spPr>
    </c:plotArea>
    <c:legend>
      <c:legendPos val="b"/>
      <c:overlay val="0"/>
      <c:txPr>
        <a:bodyPr/>
        <a:lstStyle/>
        <a:p>
          <a:pPr>
            <a:defRPr sz="1000">
              <a:solidFill>
                <a:srgbClr val="1F2430"/>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c:v>
                </c:pt>
              </c:strCache>
            </c:strRef>
          </c:tx>
          <c:spPr>
            <a:solidFill>
              <a:srgbClr val="1F8A8A"/>
            </a:solidFill>
            <a:effectLst/>
          </c:spPr>
          <c:invertIfNegative val="0"/>
          <c:dLbls>
            <c:numFmt formatCode="#,##0" sourceLinked="0"/>
            <c:txPr>
              <a:bodyPr/>
              <a:lstStyle/>
              <a:p>
                <a:pPr>
                  <a:defRPr b="0" i="0" strike="noStrike" sz="1000" u="none">
                    <a:solidFill>
                      <a:srgbClr val="1F2430"/>
                    </a:solidFill>
                    <a:latin typeface="Calibri"/>
                  </a:defRPr>
                </a:pPr>
              </a:p>
            </c:txPr>
            <c:showLegendKey val="0"/>
            <c:showVal val="1"/>
            <c:showCatName val="0"/>
            <c:showSerName val="0"/>
            <c:showPercent val="0"/>
            <c:showBubbleSize val="0"/>
            <c:showLeaderLines val="0"/>
          </c:dLbls>
          <c:dPt>
            <c:idx val="0"/>
            <c:invertIfNegative val="0"/>
            <c:bubble3D val="0"/>
            <c:spPr>
              <a:solidFill>
                <a:srgbClr val="1F8A8A"/>
              </a:solidFill>
              <a:effectLst/>
            </c:spPr>
          </c:dPt>
          <c:dPt>
            <c:idx val="1"/>
            <c:invertIfNegative val="0"/>
            <c:bubble3D val="0"/>
            <c:spPr>
              <a:solidFill>
                <a:srgbClr val="1F8A8A"/>
              </a:solidFill>
              <a:effectLst/>
            </c:spPr>
          </c:dPt>
          <c:dPt>
            <c:idx val="2"/>
            <c:invertIfNegative val="0"/>
            <c:bubble3D val="0"/>
            <c:spPr>
              <a:solidFill>
                <a:srgbClr val="1F8A8A"/>
              </a:solidFill>
              <a:effectLst/>
            </c:spPr>
          </c:dPt>
          <c:dPt>
            <c:idx val="3"/>
            <c:invertIfNegative val="0"/>
            <c:bubble3D val="0"/>
            <c:spPr>
              <a:solidFill>
                <a:srgbClr val="E4572E"/>
              </a:solidFill>
              <a:effectLst/>
            </c:spPr>
          </c:dPt>
          <c:dPt>
            <c:idx val="4"/>
            <c:invertIfNegative val="0"/>
            <c:bubble3D val="0"/>
            <c:spPr>
              <a:solidFill>
                <a:srgbClr val="1F8A8A"/>
              </a:solidFill>
              <a:effectLst/>
            </c:spPr>
          </c:dPt>
          <c:cat>
            <c:multiLvlStrRef>
              <c:f>Sheet1!$A$2:$A$6</c:f>
              <c:multiLvlStrCache>
                <c:ptCount val="5"/>
                <c:lvl>
                  <c:pt idx="0">
                    <c:v>0–1</c:v>
                  </c:pt>
                  <c:pt idx="1">
                    <c:v>1–2</c:v>
                  </c:pt>
                  <c:pt idx="2">
                    <c:v>2–3</c:v>
                  </c:pt>
                  <c:pt idx="3">
                    <c:v>3–4</c:v>
                  </c:pt>
                  <c:pt idx="4">
                    <c:v>4–5</c:v>
                  </c:pt>
                </c:lvl>
              </c:multiLvlStrCache>
            </c:multiLvlStrRef>
          </c:cat>
          <c:val>
            <c:numRef>
              <c:f>Sheet1!$B$2:$B$6</c:f>
              <c:numCache>
                <c:formatCode>General</c:formatCode>
                <c:ptCount val="5"/>
                <c:pt idx="0">
                  <c:v>2148</c:v>
                </c:pt>
                <c:pt idx="1">
                  <c:v>10</c:v>
                </c:pt>
                <c:pt idx="2">
                  <c:v>1891</c:v>
                </c:pt>
                <c:pt idx="3">
                  <c:v>4388</c:v>
                </c:pt>
                <c:pt idx="4">
                  <c:v>1114</c:v>
                </c:pt>
              </c:numCache>
            </c:numRef>
          </c:val>
        </c:ser>
        <c:dLbls>
          <c:numFmt formatCode="#,##0" sourceLinked="0"/>
          <c:txPr>
            <a:bodyPr/>
            <a:lstStyle/>
            <a:p>
              <a:pPr>
                <a:defRPr b="0" i="0" strike="noStrike" sz="1000" u="none">
                  <a:solidFill>
                    <a:srgbClr val="1F243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c:v>
                </c:pt>
              </c:strCache>
            </c:strRef>
          </c:tx>
          <c:spPr>
            <a:solidFill>
              <a:srgbClr val="E4572E"/>
            </a:solidFill>
            <a:effectLst/>
          </c:spPr>
          <c:invertIfNegative val="0"/>
          <c:dLbls>
            <c:numFmt formatCode="#,##0" sourceLinked="0"/>
            <c:txPr>
              <a:bodyPr/>
              <a:lstStyle/>
              <a:p>
                <a:pPr>
                  <a:defRPr b="0" i="0" strike="noStrike" sz="1000" u="none">
                    <a:solidFill>
                      <a:srgbClr val="1F2430"/>
                    </a:solidFill>
                    <a:latin typeface="Calibri"/>
                  </a:defRPr>
                </a:pPr>
              </a:p>
            </c:txPr>
            <c:showLegendKey val="0"/>
            <c:showVal val="1"/>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1F8A8A"/>
              </a:solidFill>
              <a:effectLst/>
            </c:spPr>
          </c:dPt>
          <c:dPt>
            <c:idx val="2"/>
            <c:invertIfNegative val="0"/>
            <c:bubble3D val="0"/>
            <c:spPr>
              <a:solidFill>
                <a:srgbClr val="1F8A8A"/>
              </a:solidFill>
              <a:effectLst/>
            </c:spPr>
          </c:dPt>
          <c:dPt>
            <c:idx val="3"/>
            <c:invertIfNegative val="0"/>
            <c:bubble3D val="0"/>
            <c:spPr>
              <a:solidFill>
                <a:srgbClr val="1F8A8A"/>
              </a:solidFill>
              <a:effectLst/>
            </c:spPr>
          </c:dPt>
          <c:dPt>
            <c:idx val="4"/>
            <c:invertIfNegative val="0"/>
            <c:bubble3D val="0"/>
            <c:spPr>
              <a:solidFill>
                <a:srgbClr val="1F8A8A"/>
              </a:solidFill>
              <a:effectLst/>
            </c:spPr>
          </c:dPt>
          <c:dPt>
            <c:idx val="5"/>
            <c:invertIfNegative val="0"/>
            <c:bubble3D val="0"/>
            <c:spPr>
              <a:solidFill>
                <a:srgbClr val="1F8A8A"/>
              </a:solidFill>
              <a:effectLst/>
            </c:spPr>
          </c:dPt>
          <c:dPt>
            <c:idx val="6"/>
            <c:invertIfNegative val="0"/>
            <c:bubble3D val="0"/>
            <c:spPr>
              <a:solidFill>
                <a:srgbClr val="1F8A8A"/>
              </a:solidFill>
              <a:effectLst/>
            </c:spPr>
          </c:dPt>
          <c:dPt>
            <c:idx val="7"/>
            <c:invertIfNegative val="0"/>
            <c:bubble3D val="0"/>
            <c:spPr>
              <a:solidFill>
                <a:srgbClr val="1F8A8A"/>
              </a:solidFill>
              <a:effectLst/>
            </c:spPr>
          </c:dPt>
          <c:dPt>
            <c:idx val="8"/>
            <c:invertIfNegative val="0"/>
            <c:bubble3D val="0"/>
            <c:spPr>
              <a:solidFill>
                <a:srgbClr val="1F8A8A"/>
              </a:solidFill>
              <a:effectLst/>
            </c:spPr>
          </c:dPt>
          <c:dPt>
            <c:idx val="9"/>
            <c:invertIfNegative val="0"/>
            <c:bubble3D val="0"/>
            <c:spPr>
              <a:solidFill>
                <a:srgbClr val="1F8A8A"/>
              </a:solidFill>
              <a:effectLst/>
            </c:spPr>
          </c:dPt>
          <c:cat>
            <c:multiLvlStrRef>
              <c:f>Sheet1!$A$2:$A$11</c:f>
              <c:multiLvlStrCache>
                <c:ptCount val="10"/>
                <c:lvl>
                  <c:pt idx="0">
                    <c:v>North Indian</c:v>
                  </c:pt>
                  <c:pt idx="1">
                    <c:v>North Indian, Chinese</c:v>
                  </c:pt>
                  <c:pt idx="2">
                    <c:v>Fast Food</c:v>
                  </c:pt>
                  <c:pt idx="3">
                    <c:v>Chinese</c:v>
                  </c:pt>
                  <c:pt idx="4">
                    <c:v>North Indian, Mughlai</c:v>
                  </c:pt>
                  <c:pt idx="5">
                    <c:v>Cafe</c:v>
                  </c:pt>
                  <c:pt idx="6">
                    <c:v>Bakery</c:v>
                  </c:pt>
                  <c:pt idx="7">
                    <c:v>N. Indian, Mughlai, Chinese</c:v>
                  </c:pt>
                  <c:pt idx="8">
                    <c:v>Bakery, Desserts</c:v>
                  </c:pt>
                  <c:pt idx="9">
                    <c:v>Street Food</c:v>
                  </c:pt>
                </c:lvl>
              </c:multiLvlStrCache>
            </c:multiLvlStrRef>
          </c:cat>
          <c:val>
            <c:numRef>
              <c:f>Sheet1!$B$2:$B$11</c:f>
              <c:numCache>
                <c:formatCode>General</c:formatCode>
                <c:ptCount val="10"/>
                <c:pt idx="0">
                  <c:v>936</c:v>
                </c:pt>
                <c:pt idx="1">
                  <c:v>511</c:v>
                </c:pt>
                <c:pt idx="2">
                  <c:v>354</c:v>
                </c:pt>
                <c:pt idx="3">
                  <c:v>354</c:v>
                </c:pt>
                <c:pt idx="4">
                  <c:v>334</c:v>
                </c:pt>
                <c:pt idx="5">
                  <c:v>299</c:v>
                </c:pt>
                <c:pt idx="6">
                  <c:v>218</c:v>
                </c:pt>
                <c:pt idx="7">
                  <c:v>197</c:v>
                </c:pt>
                <c:pt idx="8">
                  <c:v>170</c:v>
                </c:pt>
                <c:pt idx="9">
                  <c:v>149</c:v>
                </c:pt>
              </c:numCache>
            </c:numRef>
          </c:val>
        </c:ser>
        <c:dLbls>
          <c:numFmt formatCode="#,##0" sourceLinked="0"/>
          <c:txPr>
            <a:bodyPr/>
            <a:lstStyle/>
            <a:p>
              <a:pPr>
                <a:defRPr b="0" i="0" strike="noStrike" sz="1000" u="none">
                  <a:solidFill>
                    <a:srgbClr val="1F2430"/>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24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c:v>
                </c:pt>
              </c:strCache>
            </c:strRef>
          </c:tx>
          <c:spPr>
            <a:solidFill>
              <a:srgbClr val="1F8A8A"/>
            </a:solidFill>
            <a:effectLst/>
          </c:spPr>
          <c:invertIfNegative val="0"/>
          <c:dLbls>
            <c:numFmt formatCode="#,##0" sourceLinked="0"/>
            <c:txPr>
              <a:bodyPr/>
              <a:lstStyle/>
              <a:p>
                <a:pPr>
                  <a:defRPr b="0" i="0" strike="noStrike" sz="1000" u="none">
                    <a:solidFill>
                      <a:srgbClr val="1F2430"/>
                    </a:solidFill>
                    <a:latin typeface="Calibri"/>
                  </a:defRPr>
                </a:pPr>
              </a:p>
            </c:txPr>
            <c:showLegendKey val="0"/>
            <c:showVal val="1"/>
            <c:showCatName val="0"/>
            <c:showSerName val="0"/>
            <c:showPercent val="0"/>
            <c:showBubbleSize val="0"/>
            <c:showLeaderLines val="0"/>
          </c:dLbls>
          <c:dPt>
            <c:idx val="0"/>
            <c:invertIfNegative val="0"/>
            <c:bubble3D val="0"/>
            <c:spPr>
              <a:solidFill>
                <a:srgbClr val="1F8A8A"/>
              </a:solidFill>
              <a:effectLst/>
            </c:spPr>
          </c:dPt>
          <c:dPt>
            <c:idx val="1"/>
            <c:invertIfNegative val="0"/>
            <c:bubble3D val="0"/>
            <c:spPr>
              <a:solidFill>
                <a:srgbClr val="1F8A8A"/>
              </a:solidFill>
              <a:effectLst/>
            </c:spPr>
          </c:dPt>
          <c:dPt>
            <c:idx val="2"/>
            <c:invertIfNegative val="0"/>
            <c:bubble3D val="0"/>
            <c:spPr>
              <a:solidFill>
                <a:srgbClr val="1F8A8A"/>
              </a:solidFill>
              <a:effectLst/>
            </c:spPr>
          </c:dPt>
          <c:dPt>
            <c:idx val="3"/>
            <c:invertIfNegative val="0"/>
            <c:bubble3D val="0"/>
            <c:spPr>
              <a:solidFill>
                <a:srgbClr val="1F8A8A"/>
              </a:solidFill>
              <a:effectLst/>
            </c:spPr>
          </c:dPt>
          <c:dPt>
            <c:idx val="4"/>
            <c:invertIfNegative val="0"/>
            <c:bubble3D val="0"/>
            <c:spPr>
              <a:solidFill>
                <a:srgbClr val="1F8A8A"/>
              </a:solidFill>
              <a:effectLst/>
            </c:spPr>
          </c:dPt>
          <c:dPt>
            <c:idx val="5"/>
            <c:invertIfNegative val="0"/>
            <c:bubble3D val="0"/>
            <c:spPr>
              <a:solidFill>
                <a:srgbClr val="1F8A8A"/>
              </a:solidFill>
              <a:effectLst/>
            </c:spPr>
          </c:dPt>
          <c:dPt>
            <c:idx val="6"/>
            <c:invertIfNegative val="0"/>
            <c:bubble3D val="0"/>
            <c:spPr>
              <a:solidFill>
                <a:srgbClr val="1F8A8A"/>
              </a:solidFill>
              <a:effectLst/>
            </c:spPr>
          </c:dPt>
          <c:dPt>
            <c:idx val="7"/>
            <c:invertIfNegative val="0"/>
            <c:bubble3D val="0"/>
            <c:spPr>
              <a:solidFill>
                <a:srgbClr val="1F8A8A"/>
              </a:solidFill>
              <a:effectLst/>
            </c:spPr>
          </c:dPt>
          <c:dPt>
            <c:idx val="8"/>
            <c:invertIfNegative val="0"/>
            <c:bubble3D val="0"/>
            <c:spPr>
              <a:solidFill>
                <a:srgbClr val="1F8A8A"/>
              </a:solidFill>
              <a:effectLst/>
            </c:spPr>
          </c:dPt>
          <c:dPt>
            <c:idx val="9"/>
            <c:invertIfNegative val="0"/>
            <c:bubble3D val="0"/>
            <c:spPr>
              <a:solidFill>
                <a:srgbClr val="E4572E"/>
              </a:solidFill>
              <a:effectLst/>
            </c:spPr>
          </c:dPt>
          <c:cat>
            <c:multiLvlStrRef>
              <c:f>Sheet1!$A$2:$A$11</c:f>
              <c:multiLvlStrCache>
                <c:ptCount val="10"/>
                <c:lvl>
                  <c:pt idx="0">
                    <c:v>Cafe Coffee Day</c:v>
                  </c:pt>
                  <c:pt idx="1">
                    <c:v>Domino's Pizza</c:v>
                  </c:pt>
                  <c:pt idx="2">
                    <c:v>Subway</c:v>
                  </c:pt>
                  <c:pt idx="3">
                    <c:v>Green Chick Chop</c:v>
                  </c:pt>
                  <c:pt idx="4">
                    <c:v>McDonald's</c:v>
                  </c:pt>
                  <c:pt idx="5">
                    <c:v>Keventers</c:v>
                  </c:pt>
                  <c:pt idx="6">
                    <c:v>Pizza Hut</c:v>
                  </c:pt>
                  <c:pt idx="7">
                    <c:v>Giani</c:v>
                  </c:pt>
                  <c:pt idx="8">
                    <c:v>Baskin Robbins</c:v>
                  </c:pt>
                  <c:pt idx="9">
                    <c:v>Barbeque Nation</c:v>
                  </c:pt>
                </c:lvl>
              </c:multiLvlStrCache>
            </c:multiLvlStrRef>
          </c:cat>
          <c:val>
            <c:numRef>
              <c:f>Sheet1!$B$2:$B$11</c:f>
              <c:numCache>
                <c:formatCode>General</c:formatCode>
                <c:ptCount val="10"/>
                <c:pt idx="0">
                  <c:v>83</c:v>
                </c:pt>
                <c:pt idx="1">
                  <c:v>79</c:v>
                </c:pt>
                <c:pt idx="2">
                  <c:v>63</c:v>
                </c:pt>
                <c:pt idx="3">
                  <c:v>51</c:v>
                </c:pt>
                <c:pt idx="4">
                  <c:v>48</c:v>
                </c:pt>
                <c:pt idx="5">
                  <c:v>34</c:v>
                </c:pt>
                <c:pt idx="6">
                  <c:v>30</c:v>
                </c:pt>
                <c:pt idx="7">
                  <c:v>29</c:v>
                </c:pt>
                <c:pt idx="8">
                  <c:v>28</c:v>
                </c:pt>
                <c:pt idx="9">
                  <c:v>26</c:v>
                </c:pt>
              </c:numCache>
            </c:numRef>
          </c:val>
        </c:ser>
        <c:dLbls>
          <c:numFmt formatCode="#,##0" sourceLinked="0"/>
          <c:txPr>
            <a:bodyPr/>
            <a:lstStyle/>
            <a:p>
              <a:pPr>
                <a:defRPr b="0" i="0" strike="noStrike" sz="1000" u="none">
                  <a:solidFill>
                    <a:srgbClr val="1F2430"/>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24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c:v>
                </c:pt>
              </c:strCache>
            </c:strRef>
          </c:tx>
          <c:spPr>
            <a:solidFill>
              <a:srgbClr val="2E9E6B"/>
            </a:solidFill>
            <a:effectLst/>
          </c:spPr>
          <c:invertIfNegative val="0"/>
          <c:dLbls>
            <c:numFmt formatCode="#,##0" sourceLinked="0"/>
            <c:txPr>
              <a:bodyPr/>
              <a:lstStyle/>
              <a:p>
                <a:pPr>
                  <a:defRPr b="0" i="0" strike="noStrike" sz="1000" u="none">
                    <a:solidFill>
                      <a:srgbClr val="1F2430"/>
                    </a:solidFill>
                    <a:latin typeface="Calibri"/>
                  </a:defRPr>
                </a:pPr>
              </a:p>
            </c:txPr>
            <c:showLegendKey val="0"/>
            <c:showVal val="1"/>
            <c:showCatName val="0"/>
            <c:showSerName val="0"/>
            <c:showPercent val="0"/>
            <c:showBubbleSize val="0"/>
            <c:showLeaderLines val="0"/>
          </c:dLbls>
          <c:dPt>
            <c:idx val="0"/>
            <c:invertIfNegative val="0"/>
            <c:bubble3D val="0"/>
            <c:spPr>
              <a:solidFill>
                <a:srgbClr val="2E9E6B"/>
              </a:solidFill>
              <a:effectLst/>
            </c:spPr>
          </c:dPt>
          <c:dPt>
            <c:idx val="1"/>
            <c:invertIfNegative val="0"/>
            <c:bubble3D val="0"/>
            <c:spPr>
              <a:solidFill>
                <a:srgbClr val="2E9E6B"/>
              </a:solidFill>
              <a:effectLst/>
            </c:spPr>
          </c:dPt>
          <c:dPt>
            <c:idx val="2"/>
            <c:invertIfNegative val="0"/>
            <c:bubble3D val="0"/>
            <c:spPr>
              <a:solidFill>
                <a:srgbClr val="E4572E"/>
              </a:solidFill>
              <a:effectLst/>
            </c:spPr>
          </c:dPt>
          <c:cat>
            <c:multiLvlStrRef>
              <c:f>Sheet1!$A$2:$A$4</c:f>
              <c:multiLvlStrCache>
                <c:ptCount val="3"/>
                <c:lvl>
                  <c:pt idx="0">
                    <c:v>good (positive)</c:v>
                  </c:pt>
                  <c:pt idx="1">
                    <c:v>excellent (positive)</c:v>
                  </c:pt>
                  <c:pt idx="2">
                    <c:v>poor (negative)</c:v>
                  </c:pt>
                </c:lvl>
              </c:multiLvlStrCache>
            </c:multiLvlStrRef>
          </c:cat>
          <c:val>
            <c:numRef>
              <c:f>Sheet1!$B$2:$B$4</c:f>
              <c:numCache>
                <c:formatCode>General</c:formatCode>
                <c:ptCount val="3"/>
                <c:pt idx="0">
                  <c:v>3179</c:v>
                </c:pt>
                <c:pt idx="1">
                  <c:v>301</c:v>
                </c:pt>
                <c:pt idx="2">
                  <c:v>186</c:v>
                </c:pt>
              </c:numCache>
            </c:numRef>
          </c:val>
        </c:ser>
        <c:dLbls>
          <c:numFmt formatCode="#,##0" sourceLinked="0"/>
          <c:txPr>
            <a:bodyPr/>
            <a:lstStyle/>
            <a:p>
              <a:pPr>
                <a:defRPr b="0" i="0" strike="noStrike" sz="1000" u="none">
                  <a:solidFill>
                    <a:srgbClr val="1F243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c:v>
                </c:pt>
              </c:strCache>
            </c:strRef>
          </c:tx>
          <c:spPr>
            <a:solidFill>
              <a:srgbClr val="E4572E"/>
            </a:solidFill>
            <a:effectLst/>
          </c:spPr>
          <c:invertIfNegative val="0"/>
          <c:dLbls>
            <c:numFmt formatCode="#,##0" sourceLinked="0"/>
            <c:txPr>
              <a:bodyPr/>
              <a:lstStyle/>
              <a:p>
                <a:pPr>
                  <a:defRPr b="0" i="0" strike="noStrike" sz="1000" u="none">
                    <a:solidFill>
                      <a:srgbClr val="1F2430"/>
                    </a:solidFill>
                    <a:latin typeface="Calibri"/>
                  </a:defRPr>
                </a:pPr>
              </a:p>
            </c:txPr>
            <c:showLegendKey val="0"/>
            <c:showVal val="1"/>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1F8A8A"/>
              </a:solidFill>
              <a:effectLst/>
            </c:spPr>
          </c:dPt>
          <c:dPt>
            <c:idx val="2"/>
            <c:invertIfNegative val="0"/>
            <c:bubble3D val="0"/>
            <c:spPr>
              <a:solidFill>
                <a:srgbClr val="1F8A8A"/>
              </a:solidFill>
              <a:effectLst/>
            </c:spPr>
          </c:dPt>
          <c:dPt>
            <c:idx val="3"/>
            <c:invertIfNegative val="0"/>
            <c:bubble3D val="0"/>
            <c:spPr>
              <a:solidFill>
                <a:srgbClr val="1F8A8A"/>
              </a:solidFill>
              <a:effectLst/>
            </c:spPr>
          </c:dPt>
          <c:dPt>
            <c:idx val="4"/>
            <c:invertIfNegative val="0"/>
            <c:bubble3D val="0"/>
            <c:spPr>
              <a:solidFill>
                <a:srgbClr val="1F8A8A"/>
              </a:solidFill>
              <a:effectLst/>
            </c:spPr>
          </c:dPt>
          <c:dPt>
            <c:idx val="5"/>
            <c:invertIfNegative val="0"/>
            <c:bubble3D val="0"/>
            <c:spPr>
              <a:solidFill>
                <a:srgbClr val="1F8A8A"/>
              </a:solidFill>
              <a:effectLst/>
            </c:spPr>
          </c:dPt>
          <c:dPt>
            <c:idx val="6"/>
            <c:invertIfNegative val="0"/>
            <c:bubble3D val="0"/>
            <c:spPr>
              <a:solidFill>
                <a:srgbClr val="1F8A8A"/>
              </a:solidFill>
              <a:effectLst/>
            </c:spPr>
          </c:dPt>
          <c:dPt>
            <c:idx val="7"/>
            <c:invertIfNegative val="0"/>
            <c:bubble3D val="0"/>
            <c:spPr>
              <a:solidFill>
                <a:srgbClr val="1F8A8A"/>
              </a:solidFill>
              <a:effectLst/>
            </c:spPr>
          </c:dPt>
          <c:dPt>
            <c:idx val="8"/>
            <c:invertIfNegative val="0"/>
            <c:bubble3D val="0"/>
            <c:spPr>
              <a:solidFill>
                <a:srgbClr val="1F8A8A"/>
              </a:solidFill>
              <a:effectLst/>
            </c:spPr>
          </c:dPt>
          <c:dPt>
            <c:idx val="9"/>
            <c:invertIfNegative val="0"/>
            <c:bubble3D val="0"/>
            <c:spPr>
              <a:solidFill>
                <a:srgbClr val="1F8A8A"/>
              </a:solidFill>
              <a:effectLst/>
            </c:spPr>
          </c:dPt>
          <c:cat>
            <c:multiLvlStrRef>
              <c:f>Sheet1!$A$2:$A$11</c:f>
              <c:multiLvlStrCache>
                <c:ptCount val="10"/>
                <c:lvl>
                  <c:pt idx="0">
                    <c:v>Toit</c:v>
                  </c:pt>
                  <c:pt idx="1">
                    <c:v>Truffles</c:v>
                  </c:pt>
                  <c:pt idx="2">
                    <c:v>Hauz Khas Social</c:v>
                  </c:pt>
                  <c:pt idx="3">
                    <c:v>Peter Cat</c:v>
                  </c:pt>
                  <c:pt idx="4">
                    <c:v>AB's Absolute BBQ #1</c:v>
                  </c:pt>
                  <c:pt idx="5">
                    <c:v>Barbeque Nation</c:v>
                  </c:pt>
                  <c:pt idx="6">
                    <c:v>Big Brewsky</c:v>
                  </c:pt>
                  <c:pt idx="7">
                    <c:v>AB's Absolute BBQ #2</c:v>
                  </c:pt>
                  <c:pt idx="8">
                    <c:v>The Black Pearl</c:v>
                  </c:pt>
                  <c:pt idx="9">
                    <c:v>BarBQ</c:v>
                  </c:pt>
                </c:lvl>
              </c:multiLvlStrCache>
            </c:multiLvlStrRef>
          </c:cat>
          <c:val>
            <c:numRef>
              <c:f>Sheet1!$B$2:$B$11</c:f>
              <c:numCache>
                <c:formatCode>General</c:formatCode>
                <c:ptCount val="10"/>
                <c:pt idx="0">
                  <c:v>10934</c:v>
                </c:pt>
                <c:pt idx="1">
                  <c:v>9667</c:v>
                </c:pt>
                <c:pt idx="2">
                  <c:v>7931</c:v>
                </c:pt>
                <c:pt idx="3">
                  <c:v>7574</c:v>
                </c:pt>
                <c:pt idx="4">
                  <c:v>6907</c:v>
                </c:pt>
                <c:pt idx="5">
                  <c:v>5966</c:v>
                </c:pt>
                <c:pt idx="6">
                  <c:v>5705</c:v>
                </c:pt>
                <c:pt idx="7">
                  <c:v>5434</c:v>
                </c:pt>
                <c:pt idx="8">
                  <c:v>5385</c:v>
                </c:pt>
                <c:pt idx="9">
                  <c:v>5288</c:v>
                </c:pt>
              </c:numCache>
            </c:numRef>
          </c:val>
        </c:ser>
        <c:dLbls>
          <c:numFmt formatCode="#,##0" sourceLinked="0"/>
          <c:txPr>
            <a:bodyPr/>
            <a:lstStyle/>
            <a:p>
              <a:pPr>
                <a:defRPr b="0" i="0" strike="noStrike" sz="1000" u="none">
                  <a:solidFill>
                    <a:srgbClr val="1F2430"/>
                  </a:solidFill>
                  <a:latin typeface="Calibri"/>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F24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Online delivery %</c:v>
                </c:pt>
              </c:strCache>
            </c:strRef>
          </c:tx>
          <c:spPr>
            <a:solidFill>
              <a:srgbClr val="1F8A8A"/>
            </a:solidFill>
            <a:effectLst/>
          </c:spPr>
          <c:invertIfNegative val="0"/>
          <c:dLbls>
            <c:numFmt formatCode="0.0&quot;%&quot;" sourceLinked="0"/>
            <c:txPr>
              <a:bodyPr/>
              <a:lstStyle/>
              <a:p>
                <a:pPr>
                  <a:defRPr b="0" i="0" strike="noStrike" sz="1100" u="none">
                    <a:solidFill>
                      <a:srgbClr val="1F243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Range 1 (n=4,444)</c:v>
                  </c:pt>
                  <c:pt idx="1">
                    <c:v>Range 2 (n=3,113)</c:v>
                  </c:pt>
                  <c:pt idx="2">
                    <c:v>Range 3 (n=1,408)</c:v>
                  </c:pt>
                  <c:pt idx="3">
                    <c:v>Range 4 (n=586)</c:v>
                  </c:pt>
                </c:lvl>
              </c:multiLvlStrCache>
            </c:multiLvlStrRef>
          </c:cat>
          <c:val>
            <c:numRef>
              <c:f>Sheet1!$B$2:$B$5</c:f>
              <c:numCache>
                <c:formatCode>General</c:formatCode>
                <c:ptCount val="4"/>
                <c:pt idx="0">
                  <c:v>15.77</c:v>
                </c:pt>
                <c:pt idx="1">
                  <c:v>41.31</c:v>
                </c:pt>
                <c:pt idx="2">
                  <c:v>29.19</c:v>
                </c:pt>
                <c:pt idx="3">
                  <c:v>9.04</c:v>
                </c:pt>
              </c:numCache>
            </c:numRef>
          </c:val>
        </c:ser>
        <c:ser>
          <c:idx val="1"/>
          <c:order val="1"/>
          <c:tx>
            <c:strRef>
              <c:f>Sheet1!$C$1</c:f>
              <c:strCache>
                <c:ptCount val="1"/>
                <c:pt idx="0">
                  <c:v>Table booking %</c:v>
                </c:pt>
              </c:strCache>
            </c:strRef>
          </c:tx>
          <c:spPr>
            <a:solidFill>
              <a:srgbClr val="E4572E"/>
            </a:solidFill>
            <a:effectLst/>
          </c:spPr>
          <c:invertIfNegative val="0"/>
          <c:dLbls>
            <c:numFmt formatCode="0.0&quot;%&quot;" sourceLinked="0"/>
            <c:txPr>
              <a:bodyPr/>
              <a:lstStyle/>
              <a:p>
                <a:pPr>
                  <a:defRPr b="0" i="0" strike="noStrike" sz="1100" u="none">
                    <a:solidFill>
                      <a:srgbClr val="1F243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Range 1 (n=4,444)</c:v>
                  </c:pt>
                  <c:pt idx="1">
                    <c:v>Range 2 (n=3,113)</c:v>
                  </c:pt>
                  <c:pt idx="2">
                    <c:v>Range 3 (n=1,408)</c:v>
                  </c:pt>
                  <c:pt idx="3">
                    <c:v>Range 4 (n=586)</c:v>
                  </c:pt>
                </c:lvl>
              </c:multiLvlStrCache>
            </c:multiLvlStrRef>
          </c:cat>
          <c:val>
            <c:numRef>
              <c:f>Sheet1!$C$2:$C$5</c:f>
              <c:numCache>
                <c:formatCode>General</c:formatCode>
                <c:ptCount val="4"/>
                <c:pt idx="0">
                  <c:v>0.02</c:v>
                </c:pt>
                <c:pt idx="1">
                  <c:v>7.68</c:v>
                </c:pt>
                <c:pt idx="2">
                  <c:v>45.74</c:v>
                </c:pt>
                <c:pt idx="3">
                  <c:v>46.76</c:v>
                </c:pt>
              </c:numCache>
            </c:numRef>
          </c:val>
        </c:ser>
        <c:dLbls>
          <c:numFmt formatCode="0.0&quot;%&quot;" sourceLinked="0"/>
          <c:txPr>
            <a:bodyPr/>
            <a:lstStyle/>
            <a:p>
              <a:pPr>
                <a:defRPr b="0" i="0" strike="noStrike" sz="1100" u="none">
                  <a:solidFill>
                    <a:srgbClr val="1F243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430"/>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43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I'm Vikash Rao. This is my Data Analysis Internship project with Cognifyz Technologies, where I analysed restaurant data using Python. I used Pandas, NumPy and Matplotlib to turn raw data into insights. Over the next few minutes I'll walk you through the process, the analysis and what I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was done as part of my Cognifyz internship. I analysed a restaurant dataset with 9,551 records, 21 columns, 141 cities and 15 countries. The work follows a simple flow: start with raw data, clean it, explore it, run deeper analysis, and finish with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goals of the project, from understanding and cleaning the data to comparing price with services. On the right is my technology stack. I used Python with Pandas for data handling, NumPy for calculations, Matplotlib for charts, and Jupyter Notebook to run everything. The cleaned CSV file and code are stored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workflow, step by step. I started by understanding and cleaning the data, then worked through three levels of analysis. Level 1 covers cuisines, cities, price and delivery. Level 2 covers ratings, cuisine combinations, geography and chains. Level 3 covers reviews, votes and price versus services, and everything ends with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analysis, I checked the dataset's size, columns, data types, missing values and duplicates. There were only 9 missing values, all in the Cuisines column, and no duplicate rows. I standardised column names, validated the text and numeric fields, and saved the result as restaurant_data_cleaned.csv.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1 covers four basic questions. North Indian is the most common cuisine, followed by Chinese and Fast Food. New Delhi has the most restaurants, and nearly half of all restaurants are in price range 1. About 26% offer online delivery, and those have a higher average rating, but this is only an association. Also, cities with very few restaurants can show extreme averages, so I treat them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restaurants, about 46 percent, fall in the 3 to 4 rating range. Notice that over 2,100 restaurants have a rating of zero, which means unrated, so I keep that in mind when reading averages. On the right are the most common cuisine combinations, led by North Indian on its own. When comparing average ratings by combination, I only used groups with at least five restaurants.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 used latitude and longitude to see where restaurants are concentrated. The dataset is global, but the biggest cluster is Delhi NCR, with New Delhi far ahead. On the right, I treated restaurant names that appear more than once as potential chains. Cafe Coffee Day appears most often, while Barbeque Nation gets the most total votes. Some records have zero coordinates, which I would filter out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reviews, the dataset has no full review text, only short rating labels like Good or Excellent. So I used a predefined keyword list, not a machine-learning sentiment model, and the results are simple counts. For votes, the average is about 157 but the median is only 31, so a few very popular restaurants pull the average up. Votes and ratings have a weak positive relationship, which is an association and not proof that one causes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compared price range with two services: online delivery and table booking. Online delivery is highest in price range 2 at about 41 percent and lowest in range 4. Table booking climbs steadily, from almost zero in range 1 to nearly 47 percent in range 4. These are patterns in this dataset, not proof that price causes services, and range 4 is a smaller group, so I read it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key findings from each area I analysed. On the right are the skills I practised. In Python I used Pandas, NumPy and Matplotlib, along with GroupBy, filtering, sorting and correlation. In analytics I practised cleaning, validation, exploratory analysis and explaining results in business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project showed me how to turn raw restaurant data into clear insights about cuisines, locations, pricing, ratings, reviews, votes, chains, delivery and table booking. I also learned to be careful with small groups and to describe patterns without claiming causation. Thank you for listening, and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slideLayout" Target="../slideLayouts/slideLayout1.xml"/><Relationship Id="rId2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image" Target="../media/image-4-20.png"/><Relationship Id="rId21" Type="http://schemas.openxmlformats.org/officeDocument/2006/relationships/image" Target="../media/image-4-21.png"/><Relationship Id="rId22" Type="http://schemas.openxmlformats.org/officeDocument/2006/relationships/image" Target="../media/image-4-22.png"/><Relationship Id="rId23" Type="http://schemas.openxmlformats.org/officeDocument/2006/relationships/image" Target="../media/image-4-23.png"/><Relationship Id="rId24" Type="http://schemas.openxmlformats.org/officeDocument/2006/relationships/image" Target="../media/image-4-24.png"/><Relationship Id="rId25" Type="http://schemas.openxmlformats.org/officeDocument/2006/relationships/image" Target="../media/image-4-25.png"/><Relationship Id="rId26" Type="http://schemas.openxmlformats.org/officeDocument/2006/relationships/image" Target="../media/image-4-26.png"/><Relationship Id="rId27" Type="http://schemas.openxmlformats.org/officeDocument/2006/relationships/image" Target="../media/image-4-27.png"/><Relationship Id="rId28" Type="http://schemas.openxmlformats.org/officeDocument/2006/relationships/image" Target="../media/image-4-28.png"/><Relationship Id="rId29" Type="http://schemas.openxmlformats.org/officeDocument/2006/relationships/image" Target="../media/image-4-29.png"/><Relationship Id="rId30" Type="http://schemas.openxmlformats.org/officeDocument/2006/relationships/image" Target="../media/image-4-30.png"/><Relationship Id="rId31" Type="http://schemas.openxmlformats.org/officeDocument/2006/relationships/slideLayout" Target="../slideLayouts/slideLayout1.xml"/><Relationship Id="rId3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1188720"/>
            <a:ext cx="6400800" cy="274320"/>
          </a:xfrm>
          <a:prstGeom prst="rect">
            <a:avLst/>
          </a:prstGeom>
          <a:noFill/>
          <a:ln/>
        </p:spPr>
        <p:txBody>
          <a:bodyPr wrap="square" lIns="0" tIns="0" rIns="0" bIns="0" rtlCol="0" anchor="t"/>
          <a:lstStyle/>
          <a:p>
            <a:pPr indent="0" marL="0">
              <a:buNone/>
            </a:pPr>
            <a:r>
              <a:rPr lang="en-US" sz="1200" b="1" spc="400" kern="0" dirty="0">
                <a:solidFill>
                  <a:srgbClr val="F2B134"/>
                </a:solidFill>
                <a:latin typeface="Calibri" pitchFamily="34" charset="0"/>
                <a:ea typeface="Calibri" pitchFamily="34" charset="-122"/>
                <a:cs typeface="Calibri" pitchFamily="34" charset="-120"/>
              </a:rPr>
              <a:t>DATA ANALYSIS INTERNSHIP PROJECT</a:t>
            </a:r>
            <a:endParaRPr lang="en-US" sz="1200" dirty="0"/>
          </a:p>
        </p:txBody>
      </p:sp>
      <p:sp>
        <p:nvSpPr>
          <p:cNvPr id="3" name="Text 1"/>
          <p:cNvSpPr txBox="1"/>
          <p:nvPr/>
        </p:nvSpPr>
        <p:spPr>
          <a:xfrm>
            <a:off x="731520" y="1600200"/>
            <a:ext cx="6400800" cy="1645920"/>
          </a:xfrm>
          <a:prstGeom prst="rect">
            <a:avLst/>
          </a:prstGeom>
          <a:noFill/>
          <a:ln/>
        </p:spPr>
        <p:txBody>
          <a:bodyPr wrap="square" lIns="0" tIns="0" rIns="0" bIns="0" rtlCol="0" anchor="t"/>
          <a:lstStyle/>
          <a:p>
            <a:pPr indent="0" marL="0">
              <a:buNone/>
            </a:pPr>
            <a:r>
              <a:rPr lang="en-US" sz="5000" b="1" dirty="0">
                <a:solidFill>
                  <a:srgbClr val="FFFFFF"/>
                </a:solidFill>
                <a:latin typeface="Cambria" pitchFamily="34" charset="0"/>
                <a:ea typeface="Cambria" pitchFamily="34" charset="-122"/>
                <a:cs typeface="Cambria" pitchFamily="34" charset="-120"/>
              </a:rPr>
              <a:t>Restaurant Data Analysis</a:t>
            </a:r>
            <a:endParaRPr lang="en-US" sz="5000" dirty="0"/>
          </a:p>
        </p:txBody>
      </p:sp>
      <p:sp>
        <p:nvSpPr>
          <p:cNvPr id="4" name="Text 2"/>
          <p:cNvSpPr txBox="1"/>
          <p:nvPr/>
        </p:nvSpPr>
        <p:spPr>
          <a:xfrm>
            <a:off x="731520" y="3383280"/>
            <a:ext cx="6035040" cy="731520"/>
          </a:xfrm>
          <a:prstGeom prst="rect">
            <a:avLst/>
          </a:prstGeom>
          <a:noFill/>
          <a:ln/>
        </p:spPr>
        <p:txBody>
          <a:bodyPr wrap="square" lIns="0" tIns="0" rIns="0" bIns="0" rtlCol="0" anchor="t"/>
          <a:lstStyle/>
          <a:p>
            <a:pPr indent="0" marL="0">
              <a:buNone/>
            </a:pPr>
            <a:r>
              <a:rPr lang="en-US" sz="2000" dirty="0">
                <a:solidFill>
                  <a:srgbClr val="D5DAE3"/>
                </a:solidFill>
                <a:latin typeface="Calibri" pitchFamily="34" charset="0"/>
                <a:ea typeface="Calibri" pitchFamily="34" charset="-122"/>
                <a:cs typeface="Calibri" pitchFamily="34" charset="-120"/>
              </a:rPr>
              <a:t>Cognifyz Technologies — Data Analysis Internship Project</a:t>
            </a:r>
            <a:endParaRPr lang="en-US" sz="2000" dirty="0"/>
          </a:p>
        </p:txBody>
      </p:sp>
      <p:sp>
        <p:nvSpPr>
          <p:cNvPr id="5" name="Text 3"/>
          <p:cNvSpPr txBox="1"/>
          <p:nvPr/>
        </p:nvSpPr>
        <p:spPr>
          <a:xfrm>
            <a:off x="731520" y="4434840"/>
            <a:ext cx="640080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Presented by: Vikash Rao</a:t>
            </a:r>
            <a:endParaRPr lang="en-US" sz="1800" dirty="0"/>
          </a:p>
        </p:txBody>
      </p:sp>
      <p:sp>
        <p:nvSpPr>
          <p:cNvPr id="6" name="Text 4"/>
          <p:cNvSpPr txBox="1"/>
          <p:nvPr/>
        </p:nvSpPr>
        <p:spPr>
          <a:xfrm>
            <a:off x="731520" y="4892040"/>
            <a:ext cx="6400800" cy="320040"/>
          </a:xfrm>
          <a:prstGeom prst="rect">
            <a:avLst/>
          </a:prstGeom>
          <a:noFill/>
          <a:ln/>
        </p:spPr>
        <p:txBody>
          <a:bodyPr wrap="square" lIns="0" tIns="0" rIns="0" bIns="0" rtlCol="0" anchor="t"/>
          <a:lstStyle/>
          <a:p>
            <a:pPr indent="0" marL="0">
              <a:buNone/>
            </a:pPr>
            <a:r>
              <a:rPr lang="en-US" sz="1500" dirty="0">
                <a:solidFill>
                  <a:srgbClr val="F2B134"/>
                </a:solidFill>
                <a:latin typeface="Calibri" pitchFamily="34" charset="0"/>
                <a:ea typeface="Calibri" pitchFamily="34" charset="-122"/>
                <a:cs typeface="Calibri" pitchFamily="34" charset="-120"/>
              </a:rPr>
              <a:t>Tools:  Python  |  Pandas  |  NumPy  |  Matplotlib</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300" kern="0" dirty="0">
                <a:solidFill>
                  <a:srgbClr val="E4572E"/>
                </a:solidFill>
                <a:latin typeface="Calibri" pitchFamily="34" charset="0"/>
                <a:ea typeface="Calibri" pitchFamily="34" charset="-122"/>
                <a:cs typeface="Calibri" pitchFamily="34" charset="-120"/>
              </a:rPr>
              <a:t>PROJECT</a:t>
            </a:r>
            <a:endParaRPr lang="en-US" sz="1200" dirty="0"/>
          </a:p>
        </p:txBody>
      </p:sp>
      <p:sp>
        <p:nvSpPr>
          <p:cNvPr id="3" name="Text 1"/>
          <p:cNvSpPr txBox="1"/>
          <p:nvPr/>
        </p:nvSpPr>
        <p:spPr>
          <a:xfrm>
            <a:off x="548640" y="621792"/>
            <a:ext cx="10972800" cy="594360"/>
          </a:xfrm>
          <a:prstGeom prst="rect">
            <a:avLst/>
          </a:prstGeom>
          <a:noFill/>
          <a:ln/>
        </p:spPr>
        <p:txBody>
          <a:bodyPr wrap="square" lIns="0" tIns="0" rIns="0" bIns="0" rtlCol="0" anchor="t"/>
          <a:lstStyle/>
          <a:p>
            <a:pPr indent="0" marL="0">
              <a:buNone/>
            </a:pPr>
            <a:r>
              <a:rPr lang="en-US" sz="3000" b="1" dirty="0">
                <a:solidFill>
                  <a:srgbClr val="1B1F2A"/>
                </a:solidFill>
                <a:latin typeface="Cambria" pitchFamily="34" charset="0"/>
                <a:ea typeface="Cambria" pitchFamily="34" charset="-122"/>
                <a:cs typeface="Cambria" pitchFamily="34" charset="-120"/>
              </a:rPr>
              <a:t>Project Overview</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Restaurant Data Analysis  |  Vikash Rao</a:t>
            </a:r>
            <a:endParaRPr lang="en-US" sz="1000" dirty="0"/>
          </a:p>
        </p:txBody>
      </p:sp>
      <p:sp>
        <p:nvSpPr>
          <p:cNvPr id="5" name="Text 3"/>
          <p:cNvSpPr txBox="1"/>
          <p:nvPr/>
        </p:nvSpPr>
        <p:spPr>
          <a:xfrm>
            <a:off x="11155680" y="6446520"/>
            <a:ext cx="4846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48640" y="1508760"/>
            <a:ext cx="420624" cy="420624"/>
          </a:xfrm>
          <a:prstGeom prst="ellipse">
            <a:avLst/>
          </a:prstGeom>
          <a:solidFill>
            <a:srgbClr val="1F8A8A"/>
          </a:solidFill>
          <a:ln w="12700">
            <a:solidFill>
              <a:srgbClr val="1F8A8A"/>
            </a:solidFill>
            <a:prstDash val="solid"/>
          </a:ln>
        </p:spPr>
      </p:sp>
      <p:pic>
        <p:nvPicPr>
          <p:cNvPr id="7" name="Image 0" descr="preencoded.png">    </p:cNvPr>
          <p:cNvPicPr>
            <a:picLocks noChangeAspect="1"/>
          </p:cNvPicPr>
          <p:nvPr/>
        </p:nvPicPr>
        <p:blipFill>
          <a:blip r:embed="rId1"/>
          <a:stretch>
            <a:fillRect/>
          </a:stretch>
        </p:blipFill>
        <p:spPr>
          <a:xfrm>
            <a:off x="653796" y="1613916"/>
            <a:ext cx="210312" cy="210312"/>
          </a:xfrm>
          <a:prstGeom prst="rect">
            <a:avLst/>
          </a:prstGeom>
        </p:spPr>
      </p:pic>
      <p:sp>
        <p:nvSpPr>
          <p:cNvPr id="8" name="Text 5"/>
          <p:cNvSpPr txBox="1"/>
          <p:nvPr/>
        </p:nvSpPr>
        <p:spPr>
          <a:xfrm>
            <a:off x="1143000" y="1508760"/>
            <a:ext cx="4937760" cy="548640"/>
          </a:xfrm>
          <a:prstGeom prst="rect">
            <a:avLst/>
          </a:prstGeom>
          <a:noFill/>
          <a:ln/>
        </p:spPr>
        <p:txBody>
          <a:bodyPr wrap="square" lIns="0" tIns="0" rIns="0" bIns="0" rtlCol="0" anchor="ctr"/>
          <a:lstStyle/>
          <a:p>
            <a:pPr indent="0" marL="0">
              <a:buNone/>
            </a:pPr>
            <a:r>
              <a:rPr lang="en-US" sz="1500" dirty="0">
                <a:solidFill>
                  <a:srgbClr val="1F2430"/>
                </a:solidFill>
                <a:latin typeface="Calibri" pitchFamily="34" charset="0"/>
                <a:ea typeface="Calibri" pitchFamily="34" charset="-122"/>
                <a:cs typeface="Calibri" pitchFamily="34" charset="-120"/>
              </a:rPr>
              <a:t>Completed during the Cognifyz Technologies Data Analysis Internship</a:t>
            </a:r>
            <a:endParaRPr lang="en-US" sz="1500" dirty="0"/>
          </a:p>
        </p:txBody>
      </p:sp>
      <p:sp>
        <p:nvSpPr>
          <p:cNvPr id="9" name="Shape 6"/>
          <p:cNvSpPr/>
          <p:nvPr/>
        </p:nvSpPr>
        <p:spPr>
          <a:xfrm>
            <a:off x="548640" y="2221992"/>
            <a:ext cx="420624" cy="420624"/>
          </a:xfrm>
          <a:prstGeom prst="ellipse">
            <a:avLst/>
          </a:prstGeom>
          <a:solidFill>
            <a:srgbClr val="1F8A8A"/>
          </a:solidFill>
          <a:ln w="12700">
            <a:solidFill>
              <a:srgbClr val="1F8A8A"/>
            </a:solidFill>
            <a:prstDash val="solid"/>
          </a:ln>
        </p:spPr>
      </p:sp>
      <p:pic>
        <p:nvPicPr>
          <p:cNvPr id="10" name="Image 1" descr="preencoded.png">    </p:cNvPr>
          <p:cNvPicPr>
            <a:picLocks noChangeAspect="1"/>
          </p:cNvPicPr>
          <p:nvPr/>
        </p:nvPicPr>
        <p:blipFill>
          <a:blip r:embed="rId2"/>
          <a:stretch>
            <a:fillRect/>
          </a:stretch>
        </p:blipFill>
        <p:spPr>
          <a:xfrm>
            <a:off x="653796" y="2327148"/>
            <a:ext cx="210312" cy="210312"/>
          </a:xfrm>
          <a:prstGeom prst="rect">
            <a:avLst/>
          </a:prstGeom>
        </p:spPr>
      </p:pic>
      <p:sp>
        <p:nvSpPr>
          <p:cNvPr id="11" name="Text 7"/>
          <p:cNvSpPr txBox="1"/>
          <p:nvPr/>
        </p:nvSpPr>
        <p:spPr>
          <a:xfrm>
            <a:off x="1143000" y="2221992"/>
            <a:ext cx="4937760" cy="548640"/>
          </a:xfrm>
          <a:prstGeom prst="rect">
            <a:avLst/>
          </a:prstGeom>
          <a:noFill/>
          <a:ln/>
        </p:spPr>
        <p:txBody>
          <a:bodyPr wrap="square" lIns="0" tIns="0" rIns="0" bIns="0" rtlCol="0" anchor="ctr"/>
          <a:lstStyle/>
          <a:p>
            <a:pPr indent="0" marL="0">
              <a:buNone/>
            </a:pPr>
            <a:r>
              <a:rPr lang="en-US" sz="1500" dirty="0">
                <a:solidFill>
                  <a:srgbClr val="1F2430"/>
                </a:solidFill>
                <a:latin typeface="Calibri" pitchFamily="34" charset="0"/>
                <a:ea typeface="Calibri" pitchFamily="34" charset="-122"/>
                <a:cs typeface="Calibri" pitchFamily="34" charset="-120"/>
              </a:rPr>
              <a:t>Restaurant data analysed with Python-based analytics</a:t>
            </a:r>
            <a:endParaRPr lang="en-US" sz="1500" dirty="0"/>
          </a:p>
        </p:txBody>
      </p:sp>
      <p:sp>
        <p:nvSpPr>
          <p:cNvPr id="12" name="Shape 8"/>
          <p:cNvSpPr/>
          <p:nvPr/>
        </p:nvSpPr>
        <p:spPr>
          <a:xfrm>
            <a:off x="548640" y="2935224"/>
            <a:ext cx="420624" cy="420624"/>
          </a:xfrm>
          <a:prstGeom prst="ellipse">
            <a:avLst/>
          </a:prstGeom>
          <a:solidFill>
            <a:srgbClr val="1F8A8A"/>
          </a:solidFill>
          <a:ln w="12700">
            <a:solidFill>
              <a:srgbClr val="1F8A8A"/>
            </a:solidFill>
            <a:prstDash val="solid"/>
          </a:ln>
        </p:spPr>
      </p:sp>
      <p:pic>
        <p:nvPicPr>
          <p:cNvPr id="13" name="Image 2" descr="preencoded.png">    </p:cNvPr>
          <p:cNvPicPr>
            <a:picLocks noChangeAspect="1"/>
          </p:cNvPicPr>
          <p:nvPr/>
        </p:nvPicPr>
        <p:blipFill>
          <a:blip r:embed="rId3"/>
          <a:stretch>
            <a:fillRect/>
          </a:stretch>
        </p:blipFill>
        <p:spPr>
          <a:xfrm>
            <a:off x="653796" y="3040380"/>
            <a:ext cx="210312" cy="210312"/>
          </a:xfrm>
          <a:prstGeom prst="rect">
            <a:avLst/>
          </a:prstGeom>
        </p:spPr>
      </p:pic>
      <p:sp>
        <p:nvSpPr>
          <p:cNvPr id="14" name="Text 9"/>
          <p:cNvSpPr txBox="1"/>
          <p:nvPr/>
        </p:nvSpPr>
        <p:spPr>
          <a:xfrm>
            <a:off x="1143000" y="2935224"/>
            <a:ext cx="4937760" cy="548640"/>
          </a:xfrm>
          <a:prstGeom prst="rect">
            <a:avLst/>
          </a:prstGeom>
          <a:noFill/>
          <a:ln/>
        </p:spPr>
        <p:txBody>
          <a:bodyPr wrap="square" lIns="0" tIns="0" rIns="0" bIns="0" rtlCol="0" anchor="ctr"/>
          <a:lstStyle/>
          <a:p>
            <a:pPr indent="0" marL="0">
              <a:buNone/>
            </a:pPr>
            <a:r>
              <a:rPr lang="en-US" sz="1500" dirty="0">
                <a:solidFill>
                  <a:srgbClr val="1F2430"/>
                </a:solidFill>
                <a:latin typeface="Calibri" pitchFamily="34" charset="0"/>
                <a:ea typeface="Calibri" pitchFamily="34" charset="-122"/>
                <a:cs typeface="Calibri" pitchFamily="34" charset="-120"/>
              </a:rPr>
              <a:t>Patterns in cuisines, cities, pricing, ratings, delivery, reviews, votes, chains and services</a:t>
            </a:r>
            <a:endParaRPr lang="en-US" sz="1500" dirty="0"/>
          </a:p>
        </p:txBody>
      </p:sp>
      <p:sp>
        <p:nvSpPr>
          <p:cNvPr id="15" name="Shape 10"/>
          <p:cNvSpPr/>
          <p:nvPr/>
        </p:nvSpPr>
        <p:spPr>
          <a:xfrm>
            <a:off x="548640" y="3648456"/>
            <a:ext cx="420624" cy="420624"/>
          </a:xfrm>
          <a:prstGeom prst="ellipse">
            <a:avLst/>
          </a:prstGeom>
          <a:solidFill>
            <a:srgbClr val="1F8A8A"/>
          </a:solidFill>
          <a:ln w="12700">
            <a:solidFill>
              <a:srgbClr val="1F8A8A"/>
            </a:solidFill>
            <a:prstDash val="solid"/>
          </a:ln>
        </p:spPr>
      </p:sp>
      <p:pic>
        <p:nvPicPr>
          <p:cNvPr id="16" name="Image 3" descr="preencoded.png">    </p:cNvPr>
          <p:cNvPicPr>
            <a:picLocks noChangeAspect="1"/>
          </p:cNvPicPr>
          <p:nvPr/>
        </p:nvPicPr>
        <p:blipFill>
          <a:blip r:embed="rId4"/>
          <a:stretch>
            <a:fillRect/>
          </a:stretch>
        </p:blipFill>
        <p:spPr>
          <a:xfrm>
            <a:off x="653796" y="3753612"/>
            <a:ext cx="210312" cy="210312"/>
          </a:xfrm>
          <a:prstGeom prst="rect">
            <a:avLst/>
          </a:prstGeom>
        </p:spPr>
      </p:pic>
      <p:sp>
        <p:nvSpPr>
          <p:cNvPr id="17" name="Text 11"/>
          <p:cNvSpPr txBox="1"/>
          <p:nvPr/>
        </p:nvSpPr>
        <p:spPr>
          <a:xfrm>
            <a:off x="1143000" y="3648456"/>
            <a:ext cx="4937760" cy="548640"/>
          </a:xfrm>
          <a:prstGeom prst="rect">
            <a:avLst/>
          </a:prstGeom>
          <a:noFill/>
          <a:ln/>
        </p:spPr>
        <p:txBody>
          <a:bodyPr wrap="square" lIns="0" tIns="0" rIns="0" bIns="0" rtlCol="0" anchor="ctr"/>
          <a:lstStyle/>
          <a:p>
            <a:pPr indent="0" marL="0">
              <a:buNone/>
            </a:pPr>
            <a:r>
              <a:rPr lang="en-US" sz="1500" dirty="0">
                <a:solidFill>
                  <a:srgbClr val="1F2430"/>
                </a:solidFill>
                <a:latin typeface="Calibri" pitchFamily="34" charset="0"/>
                <a:ea typeface="Calibri" pitchFamily="34" charset="-122"/>
                <a:cs typeface="Calibri" pitchFamily="34" charset="-120"/>
              </a:rPr>
              <a:t>A structured workflow: raw data to insights</a:t>
            </a:r>
            <a:endParaRPr lang="en-US" sz="1500" dirty="0"/>
          </a:p>
        </p:txBody>
      </p:sp>
      <p:sp>
        <p:nvSpPr>
          <p:cNvPr id="18" name="Shape 12"/>
          <p:cNvSpPr/>
          <p:nvPr/>
        </p:nvSpPr>
        <p:spPr>
          <a:xfrm>
            <a:off x="6583680" y="1463040"/>
            <a:ext cx="2423160" cy="1188720"/>
          </a:xfrm>
          <a:prstGeom prst="roundRect">
            <a:avLst>
              <a:gd name="adj" fmla="val 7692"/>
            </a:avLst>
          </a:prstGeom>
          <a:solidFill>
            <a:srgbClr val="F4F6F8"/>
          </a:solidFill>
          <a:ln w="12700">
            <a:solidFill>
              <a:srgbClr val="F4F6F8"/>
            </a:solidFill>
            <a:prstDash val="solid"/>
          </a:ln>
        </p:spPr>
      </p:sp>
      <p:sp>
        <p:nvSpPr>
          <p:cNvPr id="19" name="Text 13"/>
          <p:cNvSpPr txBox="1"/>
          <p:nvPr/>
        </p:nvSpPr>
        <p:spPr>
          <a:xfrm>
            <a:off x="6812280" y="1618488"/>
            <a:ext cx="2011680" cy="548640"/>
          </a:xfrm>
          <a:prstGeom prst="rect">
            <a:avLst/>
          </a:prstGeom>
          <a:noFill/>
          <a:ln/>
        </p:spPr>
        <p:txBody>
          <a:bodyPr wrap="square" lIns="0" tIns="0" rIns="0" bIns="0" rtlCol="0" anchor="t"/>
          <a:lstStyle/>
          <a:p>
            <a:pPr indent="0" marL="0">
              <a:buNone/>
            </a:pPr>
            <a:r>
              <a:rPr lang="en-US" sz="3200" b="1" dirty="0">
                <a:solidFill>
                  <a:srgbClr val="1F8A8A"/>
                </a:solidFill>
                <a:latin typeface="Cambria" pitchFamily="34" charset="0"/>
                <a:ea typeface="Cambria" pitchFamily="34" charset="-122"/>
                <a:cs typeface="Cambria" pitchFamily="34" charset="-120"/>
              </a:rPr>
              <a:t>9,551</a:t>
            </a:r>
            <a:endParaRPr lang="en-US" sz="3200" dirty="0"/>
          </a:p>
        </p:txBody>
      </p:sp>
      <p:sp>
        <p:nvSpPr>
          <p:cNvPr id="20" name="Text 14"/>
          <p:cNvSpPr txBox="1"/>
          <p:nvPr/>
        </p:nvSpPr>
        <p:spPr>
          <a:xfrm>
            <a:off x="6812280" y="2212848"/>
            <a:ext cx="2011680" cy="27432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restaurant records</a:t>
            </a:r>
            <a:endParaRPr lang="en-US" sz="1300" dirty="0"/>
          </a:p>
        </p:txBody>
      </p:sp>
      <p:sp>
        <p:nvSpPr>
          <p:cNvPr id="21" name="Shape 15"/>
          <p:cNvSpPr/>
          <p:nvPr/>
        </p:nvSpPr>
        <p:spPr>
          <a:xfrm>
            <a:off x="9217152" y="1463040"/>
            <a:ext cx="2423160" cy="1188720"/>
          </a:xfrm>
          <a:prstGeom prst="roundRect">
            <a:avLst>
              <a:gd name="adj" fmla="val 7692"/>
            </a:avLst>
          </a:prstGeom>
          <a:solidFill>
            <a:srgbClr val="F4F6F8"/>
          </a:solidFill>
          <a:ln w="12700">
            <a:solidFill>
              <a:srgbClr val="F4F6F8"/>
            </a:solidFill>
            <a:prstDash val="solid"/>
          </a:ln>
        </p:spPr>
      </p:sp>
      <p:sp>
        <p:nvSpPr>
          <p:cNvPr id="22" name="Text 16"/>
          <p:cNvSpPr txBox="1"/>
          <p:nvPr/>
        </p:nvSpPr>
        <p:spPr>
          <a:xfrm>
            <a:off x="9445752" y="1618488"/>
            <a:ext cx="2011680" cy="548640"/>
          </a:xfrm>
          <a:prstGeom prst="rect">
            <a:avLst/>
          </a:prstGeom>
          <a:noFill/>
          <a:ln/>
        </p:spPr>
        <p:txBody>
          <a:bodyPr wrap="square" lIns="0" tIns="0" rIns="0" bIns="0" rtlCol="0" anchor="t"/>
          <a:lstStyle/>
          <a:p>
            <a:pPr indent="0" marL="0">
              <a:buNone/>
            </a:pPr>
            <a:r>
              <a:rPr lang="en-US" sz="3200" b="1" dirty="0">
                <a:solidFill>
                  <a:srgbClr val="E4572E"/>
                </a:solidFill>
                <a:latin typeface="Cambria" pitchFamily="34" charset="0"/>
                <a:ea typeface="Cambria" pitchFamily="34" charset="-122"/>
                <a:cs typeface="Cambria" pitchFamily="34" charset="-120"/>
              </a:rPr>
              <a:t>21</a:t>
            </a:r>
            <a:endParaRPr lang="en-US" sz="3200" dirty="0"/>
          </a:p>
        </p:txBody>
      </p:sp>
      <p:sp>
        <p:nvSpPr>
          <p:cNvPr id="23" name="Text 17"/>
          <p:cNvSpPr txBox="1"/>
          <p:nvPr/>
        </p:nvSpPr>
        <p:spPr>
          <a:xfrm>
            <a:off x="9445752" y="2212848"/>
            <a:ext cx="2011680" cy="27432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columns</a:t>
            </a:r>
            <a:endParaRPr lang="en-US" sz="1300" dirty="0"/>
          </a:p>
        </p:txBody>
      </p:sp>
      <p:sp>
        <p:nvSpPr>
          <p:cNvPr id="24" name="Shape 18"/>
          <p:cNvSpPr/>
          <p:nvPr/>
        </p:nvSpPr>
        <p:spPr>
          <a:xfrm>
            <a:off x="6583680" y="2834640"/>
            <a:ext cx="2423160" cy="1188720"/>
          </a:xfrm>
          <a:prstGeom prst="roundRect">
            <a:avLst>
              <a:gd name="adj" fmla="val 7692"/>
            </a:avLst>
          </a:prstGeom>
          <a:solidFill>
            <a:srgbClr val="F4F6F8"/>
          </a:solidFill>
          <a:ln w="12700">
            <a:solidFill>
              <a:srgbClr val="F4F6F8"/>
            </a:solidFill>
            <a:prstDash val="solid"/>
          </a:ln>
        </p:spPr>
      </p:sp>
      <p:sp>
        <p:nvSpPr>
          <p:cNvPr id="25" name="Text 19"/>
          <p:cNvSpPr txBox="1"/>
          <p:nvPr/>
        </p:nvSpPr>
        <p:spPr>
          <a:xfrm>
            <a:off x="6812280" y="2990088"/>
            <a:ext cx="2011680" cy="548640"/>
          </a:xfrm>
          <a:prstGeom prst="rect">
            <a:avLst/>
          </a:prstGeom>
          <a:noFill/>
          <a:ln/>
        </p:spPr>
        <p:txBody>
          <a:bodyPr wrap="square" lIns="0" tIns="0" rIns="0" bIns="0" rtlCol="0" anchor="t"/>
          <a:lstStyle/>
          <a:p>
            <a:pPr indent="0" marL="0">
              <a:buNone/>
            </a:pPr>
            <a:r>
              <a:rPr lang="en-US" sz="3200" b="1" dirty="0">
                <a:solidFill>
                  <a:srgbClr val="1F8A8A"/>
                </a:solidFill>
                <a:latin typeface="Cambria" pitchFamily="34" charset="0"/>
                <a:ea typeface="Cambria" pitchFamily="34" charset="-122"/>
                <a:cs typeface="Cambria" pitchFamily="34" charset="-120"/>
              </a:rPr>
              <a:t>141</a:t>
            </a:r>
            <a:endParaRPr lang="en-US" sz="3200" dirty="0"/>
          </a:p>
        </p:txBody>
      </p:sp>
      <p:sp>
        <p:nvSpPr>
          <p:cNvPr id="26" name="Text 20"/>
          <p:cNvSpPr txBox="1"/>
          <p:nvPr/>
        </p:nvSpPr>
        <p:spPr>
          <a:xfrm>
            <a:off x="6812280" y="3584448"/>
            <a:ext cx="2011680" cy="27432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cities</a:t>
            </a:r>
            <a:endParaRPr lang="en-US" sz="1300" dirty="0"/>
          </a:p>
        </p:txBody>
      </p:sp>
      <p:sp>
        <p:nvSpPr>
          <p:cNvPr id="27" name="Shape 21"/>
          <p:cNvSpPr/>
          <p:nvPr/>
        </p:nvSpPr>
        <p:spPr>
          <a:xfrm>
            <a:off x="9217152" y="2834640"/>
            <a:ext cx="2423160" cy="1188720"/>
          </a:xfrm>
          <a:prstGeom prst="roundRect">
            <a:avLst>
              <a:gd name="adj" fmla="val 7692"/>
            </a:avLst>
          </a:prstGeom>
          <a:solidFill>
            <a:srgbClr val="F4F6F8"/>
          </a:solidFill>
          <a:ln w="12700">
            <a:solidFill>
              <a:srgbClr val="F4F6F8"/>
            </a:solidFill>
            <a:prstDash val="solid"/>
          </a:ln>
        </p:spPr>
      </p:sp>
      <p:sp>
        <p:nvSpPr>
          <p:cNvPr id="28" name="Text 22"/>
          <p:cNvSpPr txBox="1"/>
          <p:nvPr/>
        </p:nvSpPr>
        <p:spPr>
          <a:xfrm>
            <a:off x="9445752" y="2990088"/>
            <a:ext cx="2011680" cy="548640"/>
          </a:xfrm>
          <a:prstGeom prst="rect">
            <a:avLst/>
          </a:prstGeom>
          <a:noFill/>
          <a:ln/>
        </p:spPr>
        <p:txBody>
          <a:bodyPr wrap="square" lIns="0" tIns="0" rIns="0" bIns="0" rtlCol="0" anchor="t"/>
          <a:lstStyle/>
          <a:p>
            <a:pPr indent="0" marL="0">
              <a:buNone/>
            </a:pPr>
            <a:r>
              <a:rPr lang="en-US" sz="3200" b="1" dirty="0">
                <a:solidFill>
                  <a:srgbClr val="E4572E"/>
                </a:solidFill>
                <a:latin typeface="Cambria" pitchFamily="34" charset="0"/>
                <a:ea typeface="Cambria" pitchFamily="34" charset="-122"/>
                <a:cs typeface="Cambria" pitchFamily="34" charset="-120"/>
              </a:rPr>
              <a:t>15</a:t>
            </a:r>
            <a:endParaRPr lang="en-US" sz="3200" dirty="0"/>
          </a:p>
        </p:txBody>
      </p:sp>
      <p:sp>
        <p:nvSpPr>
          <p:cNvPr id="29" name="Text 23"/>
          <p:cNvSpPr txBox="1"/>
          <p:nvPr/>
        </p:nvSpPr>
        <p:spPr>
          <a:xfrm>
            <a:off x="9445752" y="3584448"/>
            <a:ext cx="2011680" cy="27432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countries</a:t>
            </a:r>
            <a:endParaRPr lang="en-US" sz="1300" dirty="0"/>
          </a:p>
        </p:txBody>
      </p:sp>
      <p:sp>
        <p:nvSpPr>
          <p:cNvPr id="30" name="Shape 24"/>
          <p:cNvSpPr/>
          <p:nvPr/>
        </p:nvSpPr>
        <p:spPr>
          <a:xfrm>
            <a:off x="548640" y="4526280"/>
            <a:ext cx="1874520" cy="1234440"/>
          </a:xfrm>
          <a:prstGeom prst="roundRect">
            <a:avLst>
              <a:gd name="adj" fmla="val 7407"/>
            </a:avLst>
          </a:prstGeom>
          <a:solidFill>
            <a:srgbClr val="E4F2F2"/>
          </a:solidFill>
          <a:ln w="12700">
            <a:solidFill>
              <a:srgbClr val="E4F2F2"/>
            </a:solidFill>
            <a:prstDash val="solid"/>
          </a:ln>
        </p:spPr>
      </p:sp>
      <p:sp>
        <p:nvSpPr>
          <p:cNvPr id="31" name="Shape 25"/>
          <p:cNvSpPr/>
          <p:nvPr/>
        </p:nvSpPr>
        <p:spPr>
          <a:xfrm>
            <a:off x="731520" y="4681728"/>
            <a:ext cx="384048" cy="384048"/>
          </a:xfrm>
          <a:prstGeom prst="ellipse">
            <a:avLst/>
          </a:prstGeom>
          <a:solidFill>
            <a:srgbClr val="1F8A8A"/>
          </a:solidFill>
          <a:ln w="12700">
            <a:solidFill>
              <a:srgbClr val="1F8A8A"/>
            </a:solidFill>
            <a:prstDash val="solid"/>
          </a:ln>
        </p:spPr>
      </p:sp>
      <p:pic>
        <p:nvPicPr>
          <p:cNvPr id="32" name="Image 4" descr="preencoded.png">    </p:cNvPr>
          <p:cNvPicPr>
            <a:picLocks noChangeAspect="1"/>
          </p:cNvPicPr>
          <p:nvPr/>
        </p:nvPicPr>
        <p:blipFill>
          <a:blip r:embed="rId5"/>
          <a:stretch>
            <a:fillRect/>
          </a:stretch>
        </p:blipFill>
        <p:spPr>
          <a:xfrm>
            <a:off x="827532" y="4777740"/>
            <a:ext cx="192024" cy="192024"/>
          </a:xfrm>
          <a:prstGeom prst="rect">
            <a:avLst/>
          </a:prstGeom>
        </p:spPr>
      </p:pic>
      <p:sp>
        <p:nvSpPr>
          <p:cNvPr id="33" name="Text 26"/>
          <p:cNvSpPr txBox="1"/>
          <p:nvPr/>
        </p:nvSpPr>
        <p:spPr>
          <a:xfrm>
            <a:off x="731520" y="5166360"/>
            <a:ext cx="1600200" cy="274320"/>
          </a:xfrm>
          <a:prstGeom prst="rect">
            <a:avLst/>
          </a:prstGeom>
          <a:noFill/>
          <a:ln/>
        </p:spPr>
        <p:txBody>
          <a:bodyPr wrap="square" lIns="0" tIns="0" rIns="0" bIns="0" rtlCol="0" anchor="t"/>
          <a:lstStyle/>
          <a:p>
            <a:pPr indent="0" marL="0">
              <a:buNone/>
            </a:pPr>
            <a:r>
              <a:rPr lang="en-US" sz="1400" b="1" dirty="0">
                <a:solidFill>
                  <a:srgbClr val="1B1F2A"/>
                </a:solidFill>
                <a:latin typeface="Calibri" pitchFamily="34" charset="0"/>
                <a:ea typeface="Calibri" pitchFamily="34" charset="-122"/>
                <a:cs typeface="Calibri" pitchFamily="34" charset="-120"/>
              </a:rPr>
              <a:t>Raw Dataset</a:t>
            </a:r>
            <a:endParaRPr lang="en-US" sz="1400" dirty="0"/>
          </a:p>
        </p:txBody>
      </p:sp>
      <p:sp>
        <p:nvSpPr>
          <p:cNvPr id="34" name="Text 27"/>
          <p:cNvSpPr txBox="1"/>
          <p:nvPr/>
        </p:nvSpPr>
        <p:spPr>
          <a:xfrm>
            <a:off x="731520" y="5440680"/>
            <a:ext cx="1600200" cy="256032"/>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9,551 × 21</a:t>
            </a:r>
            <a:endParaRPr lang="en-US" sz="1100" dirty="0"/>
          </a:p>
        </p:txBody>
      </p:sp>
      <p:pic>
        <p:nvPicPr>
          <p:cNvPr id="35" name="Image 5" descr="preencoded.png">    </p:cNvPr>
          <p:cNvPicPr>
            <a:picLocks noChangeAspect="1"/>
          </p:cNvPicPr>
          <p:nvPr/>
        </p:nvPicPr>
        <p:blipFill>
          <a:blip r:embed="rId6"/>
          <a:stretch>
            <a:fillRect/>
          </a:stretch>
        </p:blipFill>
        <p:spPr>
          <a:xfrm>
            <a:off x="2523744" y="5029200"/>
            <a:ext cx="182880" cy="182880"/>
          </a:xfrm>
          <a:prstGeom prst="rect">
            <a:avLst/>
          </a:prstGeom>
        </p:spPr>
      </p:pic>
      <p:sp>
        <p:nvSpPr>
          <p:cNvPr id="36" name="Shape 28"/>
          <p:cNvSpPr/>
          <p:nvPr/>
        </p:nvSpPr>
        <p:spPr>
          <a:xfrm>
            <a:off x="2852928" y="4526280"/>
            <a:ext cx="1874520" cy="1234440"/>
          </a:xfrm>
          <a:prstGeom prst="roundRect">
            <a:avLst>
              <a:gd name="adj" fmla="val 7407"/>
            </a:avLst>
          </a:prstGeom>
          <a:solidFill>
            <a:srgbClr val="E4F2F2"/>
          </a:solidFill>
          <a:ln w="12700">
            <a:solidFill>
              <a:srgbClr val="E4F2F2"/>
            </a:solidFill>
            <a:prstDash val="solid"/>
          </a:ln>
        </p:spPr>
      </p:sp>
      <p:sp>
        <p:nvSpPr>
          <p:cNvPr id="37" name="Shape 29"/>
          <p:cNvSpPr/>
          <p:nvPr/>
        </p:nvSpPr>
        <p:spPr>
          <a:xfrm>
            <a:off x="3035808" y="4681728"/>
            <a:ext cx="384048" cy="384048"/>
          </a:xfrm>
          <a:prstGeom prst="ellipse">
            <a:avLst/>
          </a:prstGeom>
          <a:solidFill>
            <a:srgbClr val="1F8A8A"/>
          </a:solidFill>
          <a:ln w="12700">
            <a:solidFill>
              <a:srgbClr val="1F8A8A"/>
            </a:solidFill>
            <a:prstDash val="solid"/>
          </a:ln>
        </p:spPr>
      </p:sp>
      <p:pic>
        <p:nvPicPr>
          <p:cNvPr id="38" name="Image 6" descr="preencoded.png">    </p:cNvPr>
          <p:cNvPicPr>
            <a:picLocks noChangeAspect="1"/>
          </p:cNvPicPr>
          <p:nvPr/>
        </p:nvPicPr>
        <p:blipFill>
          <a:blip r:embed="rId7"/>
          <a:stretch>
            <a:fillRect/>
          </a:stretch>
        </p:blipFill>
        <p:spPr>
          <a:xfrm>
            <a:off x="3131820" y="4777740"/>
            <a:ext cx="192024" cy="192024"/>
          </a:xfrm>
          <a:prstGeom prst="rect">
            <a:avLst/>
          </a:prstGeom>
        </p:spPr>
      </p:pic>
      <p:sp>
        <p:nvSpPr>
          <p:cNvPr id="39" name="Text 30"/>
          <p:cNvSpPr txBox="1"/>
          <p:nvPr/>
        </p:nvSpPr>
        <p:spPr>
          <a:xfrm>
            <a:off x="3035808" y="5166360"/>
            <a:ext cx="1600200" cy="274320"/>
          </a:xfrm>
          <a:prstGeom prst="rect">
            <a:avLst/>
          </a:prstGeom>
          <a:noFill/>
          <a:ln/>
        </p:spPr>
        <p:txBody>
          <a:bodyPr wrap="square" lIns="0" tIns="0" rIns="0" bIns="0" rtlCol="0" anchor="t"/>
          <a:lstStyle/>
          <a:p>
            <a:pPr indent="0" marL="0">
              <a:buNone/>
            </a:pPr>
            <a:r>
              <a:rPr lang="en-US" sz="1400" b="1" dirty="0">
                <a:solidFill>
                  <a:srgbClr val="1B1F2A"/>
                </a:solidFill>
                <a:latin typeface="Calibri" pitchFamily="34" charset="0"/>
                <a:ea typeface="Calibri" pitchFamily="34" charset="-122"/>
                <a:cs typeface="Calibri" pitchFamily="34" charset="-120"/>
              </a:rPr>
              <a:t>Cleaning</a:t>
            </a:r>
            <a:endParaRPr lang="en-US" sz="1400" dirty="0"/>
          </a:p>
        </p:txBody>
      </p:sp>
      <p:sp>
        <p:nvSpPr>
          <p:cNvPr id="40" name="Text 31"/>
          <p:cNvSpPr txBox="1"/>
          <p:nvPr/>
        </p:nvSpPr>
        <p:spPr>
          <a:xfrm>
            <a:off x="3035808" y="5440680"/>
            <a:ext cx="1600200" cy="256032"/>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checks &amp; validation</a:t>
            </a:r>
            <a:endParaRPr lang="en-US" sz="1100" dirty="0"/>
          </a:p>
        </p:txBody>
      </p:sp>
      <p:pic>
        <p:nvPicPr>
          <p:cNvPr id="41" name="Image 7" descr="preencoded.png">    </p:cNvPr>
          <p:cNvPicPr>
            <a:picLocks noChangeAspect="1"/>
          </p:cNvPicPr>
          <p:nvPr/>
        </p:nvPicPr>
        <p:blipFill>
          <a:blip r:embed="rId8"/>
          <a:stretch>
            <a:fillRect/>
          </a:stretch>
        </p:blipFill>
        <p:spPr>
          <a:xfrm>
            <a:off x="4828032" y="5029200"/>
            <a:ext cx="182880" cy="182880"/>
          </a:xfrm>
          <a:prstGeom prst="rect">
            <a:avLst/>
          </a:prstGeom>
        </p:spPr>
      </p:pic>
      <p:sp>
        <p:nvSpPr>
          <p:cNvPr id="42" name="Shape 32"/>
          <p:cNvSpPr/>
          <p:nvPr/>
        </p:nvSpPr>
        <p:spPr>
          <a:xfrm>
            <a:off x="5157216" y="4526280"/>
            <a:ext cx="1874520" cy="1234440"/>
          </a:xfrm>
          <a:prstGeom prst="roundRect">
            <a:avLst>
              <a:gd name="adj" fmla="val 7407"/>
            </a:avLst>
          </a:prstGeom>
          <a:solidFill>
            <a:srgbClr val="E4F2F2"/>
          </a:solidFill>
          <a:ln w="12700">
            <a:solidFill>
              <a:srgbClr val="E4F2F2"/>
            </a:solidFill>
            <a:prstDash val="solid"/>
          </a:ln>
        </p:spPr>
      </p:sp>
      <p:sp>
        <p:nvSpPr>
          <p:cNvPr id="43" name="Shape 33"/>
          <p:cNvSpPr/>
          <p:nvPr/>
        </p:nvSpPr>
        <p:spPr>
          <a:xfrm>
            <a:off x="5340096" y="4681728"/>
            <a:ext cx="384048" cy="384048"/>
          </a:xfrm>
          <a:prstGeom prst="ellipse">
            <a:avLst/>
          </a:prstGeom>
          <a:solidFill>
            <a:srgbClr val="1F8A8A"/>
          </a:solidFill>
          <a:ln w="12700">
            <a:solidFill>
              <a:srgbClr val="1F8A8A"/>
            </a:solidFill>
            <a:prstDash val="solid"/>
          </a:ln>
        </p:spPr>
      </p:sp>
      <p:pic>
        <p:nvPicPr>
          <p:cNvPr id="44" name="Image 8" descr="preencoded.png">    </p:cNvPr>
          <p:cNvPicPr>
            <a:picLocks noChangeAspect="1"/>
          </p:cNvPicPr>
          <p:nvPr/>
        </p:nvPicPr>
        <p:blipFill>
          <a:blip r:embed="rId9"/>
          <a:stretch>
            <a:fillRect/>
          </a:stretch>
        </p:blipFill>
        <p:spPr>
          <a:xfrm>
            <a:off x="5436108" y="4777740"/>
            <a:ext cx="192024" cy="192024"/>
          </a:xfrm>
          <a:prstGeom prst="rect">
            <a:avLst/>
          </a:prstGeom>
        </p:spPr>
      </p:pic>
      <p:sp>
        <p:nvSpPr>
          <p:cNvPr id="45" name="Text 34"/>
          <p:cNvSpPr txBox="1"/>
          <p:nvPr/>
        </p:nvSpPr>
        <p:spPr>
          <a:xfrm>
            <a:off x="5340096" y="5166360"/>
            <a:ext cx="1600200" cy="274320"/>
          </a:xfrm>
          <a:prstGeom prst="rect">
            <a:avLst/>
          </a:prstGeom>
          <a:noFill/>
          <a:ln/>
        </p:spPr>
        <p:txBody>
          <a:bodyPr wrap="square" lIns="0" tIns="0" rIns="0" bIns="0" rtlCol="0" anchor="t"/>
          <a:lstStyle/>
          <a:p>
            <a:pPr indent="0" marL="0">
              <a:buNone/>
            </a:pPr>
            <a:r>
              <a:rPr lang="en-US" sz="1400" b="1" dirty="0">
                <a:solidFill>
                  <a:srgbClr val="1B1F2A"/>
                </a:solidFill>
                <a:latin typeface="Calibri" pitchFamily="34" charset="0"/>
                <a:ea typeface="Calibri" pitchFamily="34" charset="-122"/>
                <a:cs typeface="Calibri" pitchFamily="34" charset="-120"/>
              </a:rPr>
              <a:t>EDA</a:t>
            </a:r>
            <a:endParaRPr lang="en-US" sz="1400" dirty="0"/>
          </a:p>
        </p:txBody>
      </p:sp>
      <p:sp>
        <p:nvSpPr>
          <p:cNvPr id="46" name="Text 35"/>
          <p:cNvSpPr txBox="1"/>
          <p:nvPr/>
        </p:nvSpPr>
        <p:spPr>
          <a:xfrm>
            <a:off x="5340096" y="5440680"/>
            <a:ext cx="1600200" cy="256032"/>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distributions &amp; patterns</a:t>
            </a:r>
            <a:endParaRPr lang="en-US" sz="1100" dirty="0"/>
          </a:p>
        </p:txBody>
      </p:sp>
      <p:pic>
        <p:nvPicPr>
          <p:cNvPr id="47" name="Image 9" descr="preencoded.png">    </p:cNvPr>
          <p:cNvPicPr>
            <a:picLocks noChangeAspect="1"/>
          </p:cNvPicPr>
          <p:nvPr/>
        </p:nvPicPr>
        <p:blipFill>
          <a:blip r:embed="rId10"/>
          <a:stretch>
            <a:fillRect/>
          </a:stretch>
        </p:blipFill>
        <p:spPr>
          <a:xfrm>
            <a:off x="7132320" y="5029200"/>
            <a:ext cx="182880" cy="182880"/>
          </a:xfrm>
          <a:prstGeom prst="rect">
            <a:avLst/>
          </a:prstGeom>
        </p:spPr>
      </p:pic>
      <p:sp>
        <p:nvSpPr>
          <p:cNvPr id="48" name="Shape 36"/>
          <p:cNvSpPr/>
          <p:nvPr/>
        </p:nvSpPr>
        <p:spPr>
          <a:xfrm>
            <a:off x="7461504" y="4526280"/>
            <a:ext cx="1874520" cy="1234440"/>
          </a:xfrm>
          <a:prstGeom prst="roundRect">
            <a:avLst>
              <a:gd name="adj" fmla="val 7407"/>
            </a:avLst>
          </a:prstGeom>
          <a:solidFill>
            <a:srgbClr val="E4F2F2"/>
          </a:solidFill>
          <a:ln w="12700">
            <a:solidFill>
              <a:srgbClr val="E4F2F2"/>
            </a:solidFill>
            <a:prstDash val="solid"/>
          </a:ln>
        </p:spPr>
      </p:sp>
      <p:sp>
        <p:nvSpPr>
          <p:cNvPr id="49" name="Shape 37"/>
          <p:cNvSpPr/>
          <p:nvPr/>
        </p:nvSpPr>
        <p:spPr>
          <a:xfrm>
            <a:off x="7644384" y="4681728"/>
            <a:ext cx="384048" cy="384048"/>
          </a:xfrm>
          <a:prstGeom prst="ellipse">
            <a:avLst/>
          </a:prstGeom>
          <a:solidFill>
            <a:srgbClr val="1F8A8A"/>
          </a:solidFill>
          <a:ln w="12700">
            <a:solidFill>
              <a:srgbClr val="1F8A8A"/>
            </a:solidFill>
            <a:prstDash val="solid"/>
          </a:ln>
        </p:spPr>
      </p:sp>
      <p:pic>
        <p:nvPicPr>
          <p:cNvPr id="50" name="Image 10" descr="preencoded.png">    </p:cNvPr>
          <p:cNvPicPr>
            <a:picLocks noChangeAspect="1"/>
          </p:cNvPicPr>
          <p:nvPr/>
        </p:nvPicPr>
        <p:blipFill>
          <a:blip r:embed="rId11"/>
          <a:stretch>
            <a:fillRect/>
          </a:stretch>
        </p:blipFill>
        <p:spPr>
          <a:xfrm>
            <a:off x="7740396" y="4777740"/>
            <a:ext cx="192024" cy="192024"/>
          </a:xfrm>
          <a:prstGeom prst="rect">
            <a:avLst/>
          </a:prstGeom>
        </p:spPr>
      </p:pic>
      <p:sp>
        <p:nvSpPr>
          <p:cNvPr id="51" name="Text 38"/>
          <p:cNvSpPr txBox="1"/>
          <p:nvPr/>
        </p:nvSpPr>
        <p:spPr>
          <a:xfrm>
            <a:off x="7644384" y="5166360"/>
            <a:ext cx="1600200" cy="274320"/>
          </a:xfrm>
          <a:prstGeom prst="rect">
            <a:avLst/>
          </a:prstGeom>
          <a:noFill/>
          <a:ln/>
        </p:spPr>
        <p:txBody>
          <a:bodyPr wrap="square" lIns="0" tIns="0" rIns="0" bIns="0" rtlCol="0" anchor="t"/>
          <a:lstStyle/>
          <a:p>
            <a:pPr indent="0" marL="0">
              <a:buNone/>
            </a:pPr>
            <a:r>
              <a:rPr lang="en-US" sz="1400" b="1" dirty="0">
                <a:solidFill>
                  <a:srgbClr val="1B1F2A"/>
                </a:solidFill>
                <a:latin typeface="Calibri" pitchFamily="34" charset="0"/>
                <a:ea typeface="Calibri" pitchFamily="34" charset="-122"/>
                <a:cs typeface="Calibri" pitchFamily="34" charset="-120"/>
              </a:rPr>
              <a:t>Advanced Analysis</a:t>
            </a:r>
            <a:endParaRPr lang="en-US" sz="1400" dirty="0"/>
          </a:p>
        </p:txBody>
      </p:sp>
      <p:sp>
        <p:nvSpPr>
          <p:cNvPr id="52" name="Text 39"/>
          <p:cNvSpPr txBox="1"/>
          <p:nvPr/>
        </p:nvSpPr>
        <p:spPr>
          <a:xfrm>
            <a:off x="7644384" y="5440680"/>
            <a:ext cx="1600200" cy="256032"/>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geo · chains · votes</a:t>
            </a:r>
            <a:endParaRPr lang="en-US" sz="1100" dirty="0"/>
          </a:p>
        </p:txBody>
      </p:sp>
      <p:pic>
        <p:nvPicPr>
          <p:cNvPr id="53" name="Image 11" descr="preencoded.png">    </p:cNvPr>
          <p:cNvPicPr>
            <a:picLocks noChangeAspect="1"/>
          </p:cNvPicPr>
          <p:nvPr/>
        </p:nvPicPr>
        <p:blipFill>
          <a:blip r:embed="rId12"/>
          <a:stretch>
            <a:fillRect/>
          </a:stretch>
        </p:blipFill>
        <p:spPr>
          <a:xfrm>
            <a:off x="9436608" y="5029200"/>
            <a:ext cx="182880" cy="182880"/>
          </a:xfrm>
          <a:prstGeom prst="rect">
            <a:avLst/>
          </a:prstGeom>
        </p:spPr>
      </p:pic>
      <p:sp>
        <p:nvSpPr>
          <p:cNvPr id="54" name="Shape 40"/>
          <p:cNvSpPr/>
          <p:nvPr/>
        </p:nvSpPr>
        <p:spPr>
          <a:xfrm>
            <a:off x="9765792" y="4526280"/>
            <a:ext cx="1874520" cy="1234440"/>
          </a:xfrm>
          <a:prstGeom prst="roundRect">
            <a:avLst>
              <a:gd name="adj" fmla="val 7407"/>
            </a:avLst>
          </a:prstGeom>
          <a:solidFill>
            <a:srgbClr val="1B1F2A"/>
          </a:solidFill>
          <a:ln w="12700">
            <a:solidFill>
              <a:srgbClr val="1B1F2A"/>
            </a:solidFill>
            <a:prstDash val="solid"/>
          </a:ln>
        </p:spPr>
      </p:sp>
      <p:sp>
        <p:nvSpPr>
          <p:cNvPr id="55" name="Shape 41"/>
          <p:cNvSpPr/>
          <p:nvPr/>
        </p:nvSpPr>
        <p:spPr>
          <a:xfrm>
            <a:off x="9948672" y="4681728"/>
            <a:ext cx="384048" cy="384048"/>
          </a:xfrm>
          <a:prstGeom prst="ellipse">
            <a:avLst/>
          </a:prstGeom>
          <a:solidFill>
            <a:srgbClr val="F2B134"/>
          </a:solidFill>
          <a:ln w="12700">
            <a:solidFill>
              <a:srgbClr val="F2B134"/>
            </a:solidFill>
            <a:prstDash val="solid"/>
          </a:ln>
        </p:spPr>
      </p:sp>
      <p:pic>
        <p:nvPicPr>
          <p:cNvPr id="56" name="Image 12" descr="preencoded.png">    </p:cNvPr>
          <p:cNvPicPr>
            <a:picLocks noChangeAspect="1"/>
          </p:cNvPicPr>
          <p:nvPr/>
        </p:nvPicPr>
        <p:blipFill>
          <a:blip r:embed="rId13"/>
          <a:stretch>
            <a:fillRect/>
          </a:stretch>
        </p:blipFill>
        <p:spPr>
          <a:xfrm>
            <a:off x="10044684" y="4777740"/>
            <a:ext cx="192024" cy="192024"/>
          </a:xfrm>
          <a:prstGeom prst="rect">
            <a:avLst/>
          </a:prstGeom>
        </p:spPr>
      </p:pic>
      <p:sp>
        <p:nvSpPr>
          <p:cNvPr id="57" name="Text 42"/>
          <p:cNvSpPr txBox="1"/>
          <p:nvPr/>
        </p:nvSpPr>
        <p:spPr>
          <a:xfrm>
            <a:off x="9948672" y="5166360"/>
            <a:ext cx="160020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Insights</a:t>
            </a:r>
            <a:endParaRPr lang="en-US" sz="1400" dirty="0"/>
          </a:p>
        </p:txBody>
      </p:sp>
      <p:sp>
        <p:nvSpPr>
          <p:cNvPr id="58" name="Text 43"/>
          <p:cNvSpPr txBox="1"/>
          <p:nvPr/>
        </p:nvSpPr>
        <p:spPr>
          <a:xfrm>
            <a:off x="9948672" y="5440680"/>
            <a:ext cx="1600200" cy="256032"/>
          </a:xfrm>
          <a:prstGeom prst="rect">
            <a:avLst/>
          </a:prstGeom>
          <a:noFill/>
          <a:ln/>
        </p:spPr>
        <p:txBody>
          <a:bodyPr wrap="square" lIns="0" tIns="0" rIns="0" bIns="0" rtlCol="0" anchor="t"/>
          <a:lstStyle/>
          <a:p>
            <a:pPr indent="0" marL="0">
              <a:buNone/>
            </a:pPr>
            <a:r>
              <a:rPr lang="en-US" sz="1100" dirty="0">
                <a:solidFill>
                  <a:srgbClr val="D5DAE3"/>
                </a:solidFill>
                <a:latin typeface="Calibri" pitchFamily="34" charset="0"/>
                <a:ea typeface="Calibri" pitchFamily="34" charset="-122"/>
                <a:cs typeface="Calibri" pitchFamily="34" charset="-120"/>
              </a:rPr>
              <a:t>findings &amp; skills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300" kern="0" dirty="0">
                <a:solidFill>
                  <a:srgbClr val="E4572E"/>
                </a:solidFill>
                <a:latin typeface="Calibri" pitchFamily="34" charset="0"/>
                <a:ea typeface="Calibri" pitchFamily="34" charset="-122"/>
                <a:cs typeface="Calibri" pitchFamily="34" charset="-120"/>
              </a:rPr>
              <a:t>SCOPE</a:t>
            </a:r>
            <a:endParaRPr lang="en-US" sz="1200" dirty="0"/>
          </a:p>
        </p:txBody>
      </p:sp>
      <p:sp>
        <p:nvSpPr>
          <p:cNvPr id="3" name="Text 1"/>
          <p:cNvSpPr txBox="1"/>
          <p:nvPr/>
        </p:nvSpPr>
        <p:spPr>
          <a:xfrm>
            <a:off x="548640" y="621792"/>
            <a:ext cx="10972800" cy="594360"/>
          </a:xfrm>
          <a:prstGeom prst="rect">
            <a:avLst/>
          </a:prstGeom>
          <a:noFill/>
          <a:ln/>
        </p:spPr>
        <p:txBody>
          <a:bodyPr wrap="square" lIns="0" tIns="0" rIns="0" bIns="0" rtlCol="0" anchor="t"/>
          <a:lstStyle/>
          <a:p>
            <a:pPr indent="0" marL="0">
              <a:buNone/>
            </a:pPr>
            <a:r>
              <a:rPr lang="en-US" sz="3000" b="1" dirty="0">
                <a:solidFill>
                  <a:srgbClr val="1B1F2A"/>
                </a:solidFill>
                <a:latin typeface="Cambria" pitchFamily="34" charset="0"/>
                <a:ea typeface="Cambria" pitchFamily="34" charset="-122"/>
                <a:cs typeface="Cambria" pitchFamily="34" charset="-120"/>
              </a:rPr>
              <a:t>Objectives &amp; Technology Stack</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Restaurant Data Analysis  |  Vikash Rao</a:t>
            </a:r>
            <a:endParaRPr lang="en-US" sz="1000" dirty="0"/>
          </a:p>
        </p:txBody>
      </p:sp>
      <p:sp>
        <p:nvSpPr>
          <p:cNvPr id="5" name="Text 3"/>
          <p:cNvSpPr txBox="1"/>
          <p:nvPr/>
        </p:nvSpPr>
        <p:spPr>
          <a:xfrm>
            <a:off x="11155680" y="6446520"/>
            <a:ext cx="4846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6" name="Text 4"/>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2000" b="1" dirty="0">
                <a:solidFill>
                  <a:srgbClr val="1F8A8A"/>
                </a:solidFill>
                <a:latin typeface="Cambria" pitchFamily="34" charset="0"/>
                <a:ea typeface="Cambria" pitchFamily="34" charset="-122"/>
                <a:cs typeface="Cambria" pitchFamily="34" charset="-120"/>
              </a:rPr>
              <a:t>Objectives</a:t>
            </a:r>
            <a:endParaRPr lang="en-US" sz="2000" dirty="0"/>
          </a:p>
        </p:txBody>
      </p:sp>
      <p:pic>
        <p:nvPicPr>
          <p:cNvPr id="7" name="Image 0" descr="preencoded.png">    </p:cNvPr>
          <p:cNvPicPr>
            <a:picLocks noChangeAspect="1"/>
          </p:cNvPicPr>
          <p:nvPr/>
        </p:nvPicPr>
        <p:blipFill>
          <a:blip r:embed="rId1"/>
          <a:stretch>
            <a:fillRect/>
          </a:stretch>
        </p:blipFill>
        <p:spPr>
          <a:xfrm>
            <a:off x="548640" y="1828800"/>
            <a:ext cx="201168" cy="201168"/>
          </a:xfrm>
          <a:prstGeom prst="rect">
            <a:avLst/>
          </a:prstGeom>
        </p:spPr>
      </p:pic>
      <p:sp>
        <p:nvSpPr>
          <p:cNvPr id="8" name="Text 5"/>
          <p:cNvSpPr txBox="1"/>
          <p:nvPr/>
        </p:nvSpPr>
        <p:spPr>
          <a:xfrm>
            <a:off x="914400" y="1810512"/>
            <a:ext cx="5669280" cy="274320"/>
          </a:xfrm>
          <a:prstGeom prst="rect">
            <a:avLst/>
          </a:prstGeom>
          <a:noFill/>
          <a:ln/>
        </p:spPr>
        <p:txBody>
          <a:bodyPr wrap="square" lIns="0" tIns="0" rIns="0" bIns="0" rtlCol="0" anchor="t"/>
          <a:lstStyle/>
          <a:p>
            <a:pPr indent="0" marL="0">
              <a:buNone/>
            </a:pPr>
            <a:r>
              <a:rPr lang="en-US" sz="1500" dirty="0">
                <a:solidFill>
                  <a:srgbClr val="1F2430"/>
                </a:solidFill>
                <a:latin typeface="Calibri" pitchFamily="34" charset="0"/>
                <a:ea typeface="Calibri" pitchFamily="34" charset="-122"/>
                <a:cs typeface="Calibri" pitchFamily="34" charset="-120"/>
              </a:rPr>
              <a:t>Understand and clean restaurant data</a:t>
            </a:r>
            <a:endParaRPr lang="en-US" sz="1500" dirty="0"/>
          </a:p>
        </p:txBody>
      </p:sp>
      <p:pic>
        <p:nvPicPr>
          <p:cNvPr id="9" name="Image 1" descr="preencoded.png">    </p:cNvPr>
          <p:cNvPicPr>
            <a:picLocks noChangeAspect="1"/>
          </p:cNvPicPr>
          <p:nvPr/>
        </p:nvPicPr>
        <p:blipFill>
          <a:blip r:embed="rId2"/>
          <a:stretch>
            <a:fillRect/>
          </a:stretch>
        </p:blipFill>
        <p:spPr>
          <a:xfrm>
            <a:off x="548640" y="2203704"/>
            <a:ext cx="201168" cy="201168"/>
          </a:xfrm>
          <a:prstGeom prst="rect">
            <a:avLst/>
          </a:prstGeom>
        </p:spPr>
      </p:pic>
      <p:sp>
        <p:nvSpPr>
          <p:cNvPr id="10" name="Text 6"/>
          <p:cNvSpPr txBox="1"/>
          <p:nvPr/>
        </p:nvSpPr>
        <p:spPr>
          <a:xfrm>
            <a:off x="914400" y="2185416"/>
            <a:ext cx="5669280" cy="274320"/>
          </a:xfrm>
          <a:prstGeom prst="rect">
            <a:avLst/>
          </a:prstGeom>
          <a:noFill/>
          <a:ln/>
        </p:spPr>
        <p:txBody>
          <a:bodyPr wrap="square" lIns="0" tIns="0" rIns="0" bIns="0" rtlCol="0" anchor="t"/>
          <a:lstStyle/>
          <a:p>
            <a:pPr indent="0" marL="0">
              <a:buNone/>
            </a:pPr>
            <a:r>
              <a:rPr lang="en-US" sz="1500" dirty="0">
                <a:solidFill>
                  <a:srgbClr val="1F2430"/>
                </a:solidFill>
                <a:latin typeface="Calibri" pitchFamily="34" charset="0"/>
                <a:ea typeface="Calibri" pitchFamily="34" charset="-122"/>
                <a:cs typeface="Calibri" pitchFamily="34" charset="-120"/>
              </a:rPr>
              <a:t>Identify popular cuisines</a:t>
            </a:r>
            <a:endParaRPr lang="en-US" sz="1500" dirty="0"/>
          </a:p>
        </p:txBody>
      </p:sp>
      <p:pic>
        <p:nvPicPr>
          <p:cNvPr id="11" name="Image 2" descr="preencoded.png">    </p:cNvPr>
          <p:cNvPicPr>
            <a:picLocks noChangeAspect="1"/>
          </p:cNvPicPr>
          <p:nvPr/>
        </p:nvPicPr>
        <p:blipFill>
          <a:blip r:embed="rId3"/>
          <a:stretch>
            <a:fillRect/>
          </a:stretch>
        </p:blipFill>
        <p:spPr>
          <a:xfrm>
            <a:off x="548640" y="2578608"/>
            <a:ext cx="201168" cy="201168"/>
          </a:xfrm>
          <a:prstGeom prst="rect">
            <a:avLst/>
          </a:prstGeom>
        </p:spPr>
      </p:pic>
      <p:sp>
        <p:nvSpPr>
          <p:cNvPr id="12" name="Text 7"/>
          <p:cNvSpPr txBox="1"/>
          <p:nvPr/>
        </p:nvSpPr>
        <p:spPr>
          <a:xfrm>
            <a:off x="914400" y="2560320"/>
            <a:ext cx="5669280" cy="274320"/>
          </a:xfrm>
          <a:prstGeom prst="rect">
            <a:avLst/>
          </a:prstGeom>
          <a:noFill/>
          <a:ln/>
        </p:spPr>
        <p:txBody>
          <a:bodyPr wrap="square" lIns="0" tIns="0" rIns="0" bIns="0" rtlCol="0" anchor="t"/>
          <a:lstStyle/>
          <a:p>
            <a:pPr indent="0" marL="0">
              <a:buNone/>
            </a:pPr>
            <a:r>
              <a:rPr lang="en-US" sz="1500" dirty="0">
                <a:solidFill>
                  <a:srgbClr val="1F2430"/>
                </a:solidFill>
                <a:latin typeface="Calibri" pitchFamily="34" charset="0"/>
                <a:ea typeface="Calibri" pitchFamily="34" charset="-122"/>
                <a:cs typeface="Calibri" pitchFamily="34" charset="-120"/>
              </a:rPr>
              <a:t>Analyze restaurants by city</a:t>
            </a:r>
            <a:endParaRPr lang="en-US" sz="1500" dirty="0"/>
          </a:p>
        </p:txBody>
      </p:sp>
      <p:pic>
        <p:nvPicPr>
          <p:cNvPr id="13" name="Image 3" descr="preencoded.png">    </p:cNvPr>
          <p:cNvPicPr>
            <a:picLocks noChangeAspect="1"/>
          </p:cNvPicPr>
          <p:nvPr/>
        </p:nvPicPr>
        <p:blipFill>
          <a:blip r:embed="rId4"/>
          <a:stretch>
            <a:fillRect/>
          </a:stretch>
        </p:blipFill>
        <p:spPr>
          <a:xfrm>
            <a:off x="548640" y="2953512"/>
            <a:ext cx="201168" cy="201168"/>
          </a:xfrm>
          <a:prstGeom prst="rect">
            <a:avLst/>
          </a:prstGeom>
        </p:spPr>
      </p:pic>
      <p:sp>
        <p:nvSpPr>
          <p:cNvPr id="14" name="Text 8"/>
          <p:cNvSpPr txBox="1"/>
          <p:nvPr/>
        </p:nvSpPr>
        <p:spPr>
          <a:xfrm>
            <a:off x="914400" y="2935224"/>
            <a:ext cx="5669280" cy="274320"/>
          </a:xfrm>
          <a:prstGeom prst="rect">
            <a:avLst/>
          </a:prstGeom>
          <a:noFill/>
          <a:ln/>
        </p:spPr>
        <p:txBody>
          <a:bodyPr wrap="square" lIns="0" tIns="0" rIns="0" bIns="0" rtlCol="0" anchor="t"/>
          <a:lstStyle/>
          <a:p>
            <a:pPr indent="0" marL="0">
              <a:buNone/>
            </a:pPr>
            <a:r>
              <a:rPr lang="en-US" sz="1500" dirty="0">
                <a:solidFill>
                  <a:srgbClr val="1F2430"/>
                </a:solidFill>
                <a:latin typeface="Calibri" pitchFamily="34" charset="0"/>
                <a:ea typeface="Calibri" pitchFamily="34" charset="-122"/>
                <a:cs typeface="Calibri" pitchFamily="34" charset="-120"/>
              </a:rPr>
              <a:t>Study price ranges</a:t>
            </a:r>
            <a:endParaRPr lang="en-US" sz="1500" dirty="0"/>
          </a:p>
        </p:txBody>
      </p:sp>
      <p:pic>
        <p:nvPicPr>
          <p:cNvPr id="15" name="Image 4" descr="preencoded.png">    </p:cNvPr>
          <p:cNvPicPr>
            <a:picLocks noChangeAspect="1"/>
          </p:cNvPicPr>
          <p:nvPr/>
        </p:nvPicPr>
        <p:blipFill>
          <a:blip r:embed="rId5"/>
          <a:stretch>
            <a:fillRect/>
          </a:stretch>
        </p:blipFill>
        <p:spPr>
          <a:xfrm>
            <a:off x="548640" y="3328416"/>
            <a:ext cx="201168" cy="201168"/>
          </a:xfrm>
          <a:prstGeom prst="rect">
            <a:avLst/>
          </a:prstGeom>
        </p:spPr>
      </p:pic>
      <p:sp>
        <p:nvSpPr>
          <p:cNvPr id="16" name="Text 9"/>
          <p:cNvSpPr txBox="1"/>
          <p:nvPr/>
        </p:nvSpPr>
        <p:spPr>
          <a:xfrm>
            <a:off x="914400" y="3310128"/>
            <a:ext cx="5669280" cy="274320"/>
          </a:xfrm>
          <a:prstGeom prst="rect">
            <a:avLst/>
          </a:prstGeom>
          <a:noFill/>
          <a:ln/>
        </p:spPr>
        <p:txBody>
          <a:bodyPr wrap="square" lIns="0" tIns="0" rIns="0" bIns="0" rtlCol="0" anchor="t"/>
          <a:lstStyle/>
          <a:p>
            <a:pPr indent="0" marL="0">
              <a:buNone/>
            </a:pPr>
            <a:r>
              <a:rPr lang="en-US" sz="1500" dirty="0">
                <a:solidFill>
                  <a:srgbClr val="1F2430"/>
                </a:solidFill>
                <a:latin typeface="Calibri" pitchFamily="34" charset="0"/>
                <a:ea typeface="Calibri" pitchFamily="34" charset="-122"/>
                <a:cs typeface="Calibri" pitchFamily="34" charset="-120"/>
              </a:rPr>
              <a:t>Analyze online delivery</a:t>
            </a:r>
            <a:endParaRPr lang="en-US" sz="1500" dirty="0"/>
          </a:p>
        </p:txBody>
      </p:sp>
      <p:pic>
        <p:nvPicPr>
          <p:cNvPr id="17" name="Image 5" descr="preencoded.png">    </p:cNvPr>
          <p:cNvPicPr>
            <a:picLocks noChangeAspect="1"/>
          </p:cNvPicPr>
          <p:nvPr/>
        </p:nvPicPr>
        <p:blipFill>
          <a:blip r:embed="rId6"/>
          <a:stretch>
            <a:fillRect/>
          </a:stretch>
        </p:blipFill>
        <p:spPr>
          <a:xfrm>
            <a:off x="548640" y="3703320"/>
            <a:ext cx="201168" cy="201168"/>
          </a:xfrm>
          <a:prstGeom prst="rect">
            <a:avLst/>
          </a:prstGeom>
        </p:spPr>
      </p:pic>
      <p:sp>
        <p:nvSpPr>
          <p:cNvPr id="18" name="Text 10"/>
          <p:cNvSpPr txBox="1"/>
          <p:nvPr/>
        </p:nvSpPr>
        <p:spPr>
          <a:xfrm>
            <a:off x="914400" y="3685032"/>
            <a:ext cx="5669280" cy="274320"/>
          </a:xfrm>
          <a:prstGeom prst="rect">
            <a:avLst/>
          </a:prstGeom>
          <a:noFill/>
          <a:ln/>
        </p:spPr>
        <p:txBody>
          <a:bodyPr wrap="square" lIns="0" tIns="0" rIns="0" bIns="0" rtlCol="0" anchor="t"/>
          <a:lstStyle/>
          <a:p>
            <a:pPr indent="0" marL="0">
              <a:buNone/>
            </a:pPr>
            <a:r>
              <a:rPr lang="en-US" sz="1500" dirty="0">
                <a:solidFill>
                  <a:srgbClr val="1F2430"/>
                </a:solidFill>
                <a:latin typeface="Calibri" pitchFamily="34" charset="0"/>
                <a:ea typeface="Calibri" pitchFamily="34" charset="-122"/>
                <a:cs typeface="Calibri" pitchFamily="34" charset="-120"/>
              </a:rPr>
              <a:t>Understand rating patterns</a:t>
            </a:r>
            <a:endParaRPr lang="en-US" sz="1500" dirty="0"/>
          </a:p>
        </p:txBody>
      </p:sp>
      <p:pic>
        <p:nvPicPr>
          <p:cNvPr id="19" name="Image 6" descr="preencoded.png">    </p:cNvPr>
          <p:cNvPicPr>
            <a:picLocks noChangeAspect="1"/>
          </p:cNvPicPr>
          <p:nvPr/>
        </p:nvPicPr>
        <p:blipFill>
          <a:blip r:embed="rId7"/>
          <a:stretch>
            <a:fillRect/>
          </a:stretch>
        </p:blipFill>
        <p:spPr>
          <a:xfrm>
            <a:off x="548640" y="4078224"/>
            <a:ext cx="201168" cy="201168"/>
          </a:xfrm>
          <a:prstGeom prst="rect">
            <a:avLst/>
          </a:prstGeom>
        </p:spPr>
      </p:pic>
      <p:sp>
        <p:nvSpPr>
          <p:cNvPr id="20" name="Text 11"/>
          <p:cNvSpPr txBox="1"/>
          <p:nvPr/>
        </p:nvSpPr>
        <p:spPr>
          <a:xfrm>
            <a:off x="914400" y="4059936"/>
            <a:ext cx="5669280" cy="274320"/>
          </a:xfrm>
          <a:prstGeom prst="rect">
            <a:avLst/>
          </a:prstGeom>
          <a:noFill/>
          <a:ln/>
        </p:spPr>
        <p:txBody>
          <a:bodyPr wrap="square" lIns="0" tIns="0" rIns="0" bIns="0" rtlCol="0" anchor="t"/>
          <a:lstStyle/>
          <a:p>
            <a:pPr indent="0" marL="0">
              <a:buNone/>
            </a:pPr>
            <a:r>
              <a:rPr lang="en-US" sz="1500" dirty="0">
                <a:solidFill>
                  <a:srgbClr val="1F2430"/>
                </a:solidFill>
                <a:latin typeface="Calibri" pitchFamily="34" charset="0"/>
                <a:ea typeface="Calibri" pitchFamily="34" charset="-122"/>
                <a:cs typeface="Calibri" pitchFamily="34" charset="-120"/>
              </a:rPr>
              <a:t>Study cuisine combinations</a:t>
            </a:r>
            <a:endParaRPr lang="en-US" sz="1500" dirty="0"/>
          </a:p>
        </p:txBody>
      </p:sp>
      <p:pic>
        <p:nvPicPr>
          <p:cNvPr id="21" name="Image 7" descr="preencoded.png">    </p:cNvPr>
          <p:cNvPicPr>
            <a:picLocks noChangeAspect="1"/>
          </p:cNvPicPr>
          <p:nvPr/>
        </p:nvPicPr>
        <p:blipFill>
          <a:blip r:embed="rId8"/>
          <a:stretch>
            <a:fillRect/>
          </a:stretch>
        </p:blipFill>
        <p:spPr>
          <a:xfrm>
            <a:off x="548640" y="4453128"/>
            <a:ext cx="201168" cy="201168"/>
          </a:xfrm>
          <a:prstGeom prst="rect">
            <a:avLst/>
          </a:prstGeom>
        </p:spPr>
      </p:pic>
      <p:sp>
        <p:nvSpPr>
          <p:cNvPr id="22" name="Text 12"/>
          <p:cNvSpPr txBox="1"/>
          <p:nvPr/>
        </p:nvSpPr>
        <p:spPr>
          <a:xfrm>
            <a:off x="914400" y="4434840"/>
            <a:ext cx="5669280" cy="274320"/>
          </a:xfrm>
          <a:prstGeom prst="rect">
            <a:avLst/>
          </a:prstGeom>
          <a:noFill/>
          <a:ln/>
        </p:spPr>
        <p:txBody>
          <a:bodyPr wrap="square" lIns="0" tIns="0" rIns="0" bIns="0" rtlCol="0" anchor="t"/>
          <a:lstStyle/>
          <a:p>
            <a:pPr indent="0" marL="0">
              <a:buNone/>
            </a:pPr>
            <a:r>
              <a:rPr lang="en-US" sz="1500" dirty="0">
                <a:solidFill>
                  <a:srgbClr val="1F2430"/>
                </a:solidFill>
                <a:latin typeface="Calibri" pitchFamily="34" charset="0"/>
                <a:ea typeface="Calibri" pitchFamily="34" charset="-122"/>
                <a:cs typeface="Calibri" pitchFamily="34" charset="-120"/>
              </a:rPr>
              <a:t>Perform geographic analysis</a:t>
            </a:r>
            <a:endParaRPr lang="en-US" sz="1500" dirty="0"/>
          </a:p>
        </p:txBody>
      </p:sp>
      <p:pic>
        <p:nvPicPr>
          <p:cNvPr id="23" name="Image 8" descr="preencoded.png">    </p:cNvPr>
          <p:cNvPicPr>
            <a:picLocks noChangeAspect="1"/>
          </p:cNvPicPr>
          <p:nvPr/>
        </p:nvPicPr>
        <p:blipFill>
          <a:blip r:embed="rId9"/>
          <a:stretch>
            <a:fillRect/>
          </a:stretch>
        </p:blipFill>
        <p:spPr>
          <a:xfrm>
            <a:off x="548640" y="4828032"/>
            <a:ext cx="201168" cy="201168"/>
          </a:xfrm>
          <a:prstGeom prst="rect">
            <a:avLst/>
          </a:prstGeom>
        </p:spPr>
      </p:pic>
      <p:sp>
        <p:nvSpPr>
          <p:cNvPr id="24" name="Text 13"/>
          <p:cNvSpPr txBox="1"/>
          <p:nvPr/>
        </p:nvSpPr>
        <p:spPr>
          <a:xfrm>
            <a:off x="914400" y="4809744"/>
            <a:ext cx="5669280" cy="274320"/>
          </a:xfrm>
          <a:prstGeom prst="rect">
            <a:avLst/>
          </a:prstGeom>
          <a:noFill/>
          <a:ln/>
        </p:spPr>
        <p:txBody>
          <a:bodyPr wrap="square" lIns="0" tIns="0" rIns="0" bIns="0" rtlCol="0" anchor="t"/>
          <a:lstStyle/>
          <a:p>
            <a:pPr indent="0" marL="0">
              <a:buNone/>
            </a:pPr>
            <a:r>
              <a:rPr lang="en-US" sz="1500" dirty="0">
                <a:solidFill>
                  <a:srgbClr val="1F2430"/>
                </a:solidFill>
                <a:latin typeface="Calibri" pitchFamily="34" charset="0"/>
                <a:ea typeface="Calibri" pitchFamily="34" charset="-122"/>
                <a:cs typeface="Calibri" pitchFamily="34" charset="-120"/>
              </a:rPr>
              <a:t>Analyze restaurant chains</a:t>
            </a:r>
            <a:endParaRPr lang="en-US" sz="1500" dirty="0"/>
          </a:p>
        </p:txBody>
      </p:sp>
      <p:pic>
        <p:nvPicPr>
          <p:cNvPr id="25" name="Image 9" descr="preencoded.png">    </p:cNvPr>
          <p:cNvPicPr>
            <a:picLocks noChangeAspect="1"/>
          </p:cNvPicPr>
          <p:nvPr/>
        </p:nvPicPr>
        <p:blipFill>
          <a:blip r:embed="rId10"/>
          <a:stretch>
            <a:fillRect/>
          </a:stretch>
        </p:blipFill>
        <p:spPr>
          <a:xfrm>
            <a:off x="548640" y="5202936"/>
            <a:ext cx="201168" cy="201168"/>
          </a:xfrm>
          <a:prstGeom prst="rect">
            <a:avLst/>
          </a:prstGeom>
        </p:spPr>
      </p:pic>
      <p:sp>
        <p:nvSpPr>
          <p:cNvPr id="26" name="Text 14"/>
          <p:cNvSpPr txBox="1"/>
          <p:nvPr/>
        </p:nvSpPr>
        <p:spPr>
          <a:xfrm>
            <a:off x="914400" y="5184648"/>
            <a:ext cx="5669280" cy="274320"/>
          </a:xfrm>
          <a:prstGeom prst="rect">
            <a:avLst/>
          </a:prstGeom>
          <a:noFill/>
          <a:ln/>
        </p:spPr>
        <p:txBody>
          <a:bodyPr wrap="square" lIns="0" tIns="0" rIns="0" bIns="0" rtlCol="0" anchor="t"/>
          <a:lstStyle/>
          <a:p>
            <a:pPr indent="0" marL="0">
              <a:buNone/>
            </a:pPr>
            <a:r>
              <a:rPr lang="en-US" sz="1500" dirty="0">
                <a:solidFill>
                  <a:srgbClr val="1F2430"/>
                </a:solidFill>
                <a:latin typeface="Calibri" pitchFamily="34" charset="0"/>
                <a:ea typeface="Calibri" pitchFamily="34" charset="-122"/>
                <a:cs typeface="Calibri" pitchFamily="34" charset="-120"/>
              </a:rPr>
              <a:t>Analyze reviews and votes</a:t>
            </a:r>
            <a:endParaRPr lang="en-US" sz="1500" dirty="0"/>
          </a:p>
        </p:txBody>
      </p:sp>
      <p:pic>
        <p:nvPicPr>
          <p:cNvPr id="27" name="Image 10" descr="preencoded.png">    </p:cNvPr>
          <p:cNvPicPr>
            <a:picLocks noChangeAspect="1"/>
          </p:cNvPicPr>
          <p:nvPr/>
        </p:nvPicPr>
        <p:blipFill>
          <a:blip r:embed="rId11"/>
          <a:stretch>
            <a:fillRect/>
          </a:stretch>
        </p:blipFill>
        <p:spPr>
          <a:xfrm>
            <a:off x="548640" y="5577840"/>
            <a:ext cx="201168" cy="201168"/>
          </a:xfrm>
          <a:prstGeom prst="rect">
            <a:avLst/>
          </a:prstGeom>
        </p:spPr>
      </p:pic>
      <p:sp>
        <p:nvSpPr>
          <p:cNvPr id="28" name="Text 15"/>
          <p:cNvSpPr txBox="1"/>
          <p:nvPr/>
        </p:nvSpPr>
        <p:spPr>
          <a:xfrm>
            <a:off x="914400" y="5559552"/>
            <a:ext cx="5669280" cy="274320"/>
          </a:xfrm>
          <a:prstGeom prst="rect">
            <a:avLst/>
          </a:prstGeom>
          <a:noFill/>
          <a:ln/>
        </p:spPr>
        <p:txBody>
          <a:bodyPr wrap="square" lIns="0" tIns="0" rIns="0" bIns="0" rtlCol="0" anchor="t"/>
          <a:lstStyle/>
          <a:p>
            <a:pPr indent="0" marL="0">
              <a:buNone/>
            </a:pPr>
            <a:r>
              <a:rPr lang="en-US" sz="1500" dirty="0">
                <a:solidFill>
                  <a:srgbClr val="1F2430"/>
                </a:solidFill>
                <a:latin typeface="Calibri" pitchFamily="34" charset="0"/>
                <a:ea typeface="Calibri" pitchFamily="34" charset="-122"/>
                <a:cs typeface="Calibri" pitchFamily="34" charset="-120"/>
              </a:rPr>
              <a:t>Compare price with services</a:t>
            </a:r>
            <a:endParaRPr lang="en-US" sz="1500" dirty="0"/>
          </a:p>
        </p:txBody>
      </p:sp>
      <p:sp>
        <p:nvSpPr>
          <p:cNvPr id="29" name="Text 16"/>
          <p:cNvSpPr txBox="1"/>
          <p:nvPr/>
        </p:nvSpPr>
        <p:spPr>
          <a:xfrm>
            <a:off x="7498080" y="1371600"/>
            <a:ext cx="4114800" cy="320040"/>
          </a:xfrm>
          <a:prstGeom prst="rect">
            <a:avLst/>
          </a:prstGeom>
          <a:noFill/>
          <a:ln/>
        </p:spPr>
        <p:txBody>
          <a:bodyPr wrap="square" lIns="0" tIns="0" rIns="0" bIns="0" rtlCol="0" anchor="t"/>
          <a:lstStyle/>
          <a:p>
            <a:pPr indent="0" marL="0">
              <a:buNone/>
            </a:pPr>
            <a:r>
              <a:rPr lang="en-US" sz="2000" b="1" dirty="0">
                <a:solidFill>
                  <a:srgbClr val="E4572E"/>
                </a:solidFill>
                <a:latin typeface="Cambria" pitchFamily="34" charset="0"/>
                <a:ea typeface="Cambria" pitchFamily="34" charset="-122"/>
                <a:cs typeface="Cambria" pitchFamily="34" charset="-120"/>
              </a:rPr>
              <a:t>Technology Stack</a:t>
            </a:r>
            <a:endParaRPr lang="en-US" sz="2000" dirty="0"/>
          </a:p>
        </p:txBody>
      </p:sp>
      <p:sp>
        <p:nvSpPr>
          <p:cNvPr id="30" name="Shape 17"/>
          <p:cNvSpPr/>
          <p:nvPr/>
        </p:nvSpPr>
        <p:spPr>
          <a:xfrm>
            <a:off x="7498080" y="1828800"/>
            <a:ext cx="4142232" cy="548640"/>
          </a:xfrm>
          <a:prstGeom prst="roundRect">
            <a:avLst>
              <a:gd name="adj" fmla="val 16667"/>
            </a:avLst>
          </a:prstGeom>
          <a:solidFill>
            <a:srgbClr val="F4F6F8"/>
          </a:solidFill>
          <a:ln w="12700">
            <a:solidFill>
              <a:srgbClr val="F4F6F8"/>
            </a:solidFill>
            <a:prstDash val="solid"/>
          </a:ln>
        </p:spPr>
      </p:sp>
      <p:sp>
        <p:nvSpPr>
          <p:cNvPr id="31" name="Shape 18"/>
          <p:cNvSpPr/>
          <p:nvPr/>
        </p:nvSpPr>
        <p:spPr>
          <a:xfrm>
            <a:off x="7635240" y="1901952"/>
            <a:ext cx="402336" cy="402336"/>
          </a:xfrm>
          <a:prstGeom prst="ellipse">
            <a:avLst/>
          </a:prstGeom>
          <a:solidFill>
            <a:srgbClr val="1B1F2A"/>
          </a:solidFill>
          <a:ln w="12700">
            <a:solidFill>
              <a:srgbClr val="1B1F2A"/>
            </a:solidFill>
            <a:prstDash val="solid"/>
          </a:ln>
        </p:spPr>
      </p:sp>
      <p:pic>
        <p:nvPicPr>
          <p:cNvPr id="32" name="Image 11" descr="preencoded.png">    </p:cNvPr>
          <p:cNvPicPr>
            <a:picLocks noChangeAspect="1"/>
          </p:cNvPicPr>
          <p:nvPr/>
        </p:nvPicPr>
        <p:blipFill>
          <a:blip r:embed="rId12"/>
          <a:stretch>
            <a:fillRect/>
          </a:stretch>
        </p:blipFill>
        <p:spPr>
          <a:xfrm>
            <a:off x="7735824" y="2002536"/>
            <a:ext cx="201168" cy="201168"/>
          </a:xfrm>
          <a:prstGeom prst="rect">
            <a:avLst/>
          </a:prstGeom>
        </p:spPr>
      </p:pic>
      <p:sp>
        <p:nvSpPr>
          <p:cNvPr id="33" name="Text 19"/>
          <p:cNvSpPr txBox="1"/>
          <p:nvPr/>
        </p:nvSpPr>
        <p:spPr>
          <a:xfrm>
            <a:off x="8275320" y="1828800"/>
            <a:ext cx="3200400" cy="548640"/>
          </a:xfrm>
          <a:prstGeom prst="rect">
            <a:avLst/>
          </a:prstGeom>
          <a:noFill/>
          <a:ln/>
        </p:spPr>
        <p:txBody>
          <a:bodyPr wrap="square" lIns="0" tIns="0" rIns="0" bIns="0" rtlCol="0" anchor="ctr"/>
          <a:lstStyle/>
          <a:p>
            <a:pPr indent="0" marL="0">
              <a:buNone/>
            </a:pPr>
            <a:r>
              <a:rPr lang="en-US" sz="1600" b="1" dirty="0">
                <a:solidFill>
                  <a:srgbClr val="1F2430"/>
                </a:solidFill>
                <a:latin typeface="Calibri" pitchFamily="34" charset="0"/>
                <a:ea typeface="Calibri" pitchFamily="34" charset="-122"/>
                <a:cs typeface="Calibri" pitchFamily="34" charset="-120"/>
              </a:rPr>
              <a:t>Python</a:t>
            </a:r>
            <a:endParaRPr lang="en-US" sz="1600" dirty="0"/>
          </a:p>
        </p:txBody>
      </p:sp>
      <p:pic>
        <p:nvPicPr>
          <p:cNvPr id="34" name="Image 12" descr="preencoded.png">    </p:cNvPr>
          <p:cNvPicPr>
            <a:picLocks noChangeAspect="1"/>
          </p:cNvPicPr>
          <p:nvPr/>
        </p:nvPicPr>
        <p:blipFill>
          <a:blip r:embed="rId13"/>
          <a:stretch>
            <a:fillRect/>
          </a:stretch>
        </p:blipFill>
        <p:spPr>
          <a:xfrm>
            <a:off x="9491472" y="2404872"/>
            <a:ext cx="146304" cy="146304"/>
          </a:xfrm>
          <a:prstGeom prst="rect">
            <a:avLst/>
          </a:prstGeom>
        </p:spPr>
      </p:pic>
      <p:sp>
        <p:nvSpPr>
          <p:cNvPr id="35" name="Shape 20"/>
          <p:cNvSpPr/>
          <p:nvPr/>
        </p:nvSpPr>
        <p:spPr>
          <a:xfrm>
            <a:off x="7498080" y="2578608"/>
            <a:ext cx="4142232" cy="548640"/>
          </a:xfrm>
          <a:prstGeom prst="roundRect">
            <a:avLst>
              <a:gd name="adj" fmla="val 16667"/>
            </a:avLst>
          </a:prstGeom>
          <a:solidFill>
            <a:srgbClr val="F4F6F8"/>
          </a:solidFill>
          <a:ln w="12700">
            <a:solidFill>
              <a:srgbClr val="F4F6F8"/>
            </a:solidFill>
            <a:prstDash val="solid"/>
          </a:ln>
        </p:spPr>
      </p:sp>
      <p:sp>
        <p:nvSpPr>
          <p:cNvPr id="36" name="Shape 21"/>
          <p:cNvSpPr/>
          <p:nvPr/>
        </p:nvSpPr>
        <p:spPr>
          <a:xfrm>
            <a:off x="7635240" y="2651760"/>
            <a:ext cx="402336" cy="402336"/>
          </a:xfrm>
          <a:prstGeom prst="ellipse">
            <a:avLst/>
          </a:prstGeom>
          <a:solidFill>
            <a:srgbClr val="1B1F2A"/>
          </a:solidFill>
          <a:ln w="12700">
            <a:solidFill>
              <a:srgbClr val="1B1F2A"/>
            </a:solidFill>
            <a:prstDash val="solid"/>
          </a:ln>
        </p:spPr>
      </p:sp>
      <p:pic>
        <p:nvPicPr>
          <p:cNvPr id="37" name="Image 13" descr="preencoded.png">    </p:cNvPr>
          <p:cNvPicPr>
            <a:picLocks noChangeAspect="1"/>
          </p:cNvPicPr>
          <p:nvPr/>
        </p:nvPicPr>
        <p:blipFill>
          <a:blip r:embed="rId14"/>
          <a:stretch>
            <a:fillRect/>
          </a:stretch>
        </p:blipFill>
        <p:spPr>
          <a:xfrm>
            <a:off x="7735824" y="2752344"/>
            <a:ext cx="201168" cy="201168"/>
          </a:xfrm>
          <a:prstGeom prst="rect">
            <a:avLst/>
          </a:prstGeom>
        </p:spPr>
      </p:pic>
      <p:sp>
        <p:nvSpPr>
          <p:cNvPr id="38" name="Text 22"/>
          <p:cNvSpPr txBox="1"/>
          <p:nvPr/>
        </p:nvSpPr>
        <p:spPr>
          <a:xfrm>
            <a:off x="8275320" y="2578608"/>
            <a:ext cx="3200400" cy="548640"/>
          </a:xfrm>
          <a:prstGeom prst="rect">
            <a:avLst/>
          </a:prstGeom>
          <a:noFill/>
          <a:ln/>
        </p:spPr>
        <p:txBody>
          <a:bodyPr wrap="square" lIns="0" tIns="0" rIns="0" bIns="0" rtlCol="0" anchor="ctr"/>
          <a:lstStyle/>
          <a:p>
            <a:pPr indent="0" marL="0">
              <a:buNone/>
            </a:pPr>
            <a:r>
              <a:rPr lang="en-US" sz="1600" b="1" dirty="0">
                <a:solidFill>
                  <a:srgbClr val="1F2430"/>
                </a:solidFill>
                <a:latin typeface="Calibri" pitchFamily="34" charset="0"/>
                <a:ea typeface="Calibri" pitchFamily="34" charset="-122"/>
                <a:cs typeface="Calibri" pitchFamily="34" charset="-120"/>
              </a:rPr>
              <a:t>Pandas</a:t>
            </a:r>
            <a:endParaRPr lang="en-US" sz="1600" dirty="0"/>
          </a:p>
        </p:txBody>
      </p:sp>
      <p:pic>
        <p:nvPicPr>
          <p:cNvPr id="39" name="Image 14" descr="preencoded.png">    </p:cNvPr>
          <p:cNvPicPr>
            <a:picLocks noChangeAspect="1"/>
          </p:cNvPicPr>
          <p:nvPr/>
        </p:nvPicPr>
        <p:blipFill>
          <a:blip r:embed="rId15"/>
          <a:stretch>
            <a:fillRect/>
          </a:stretch>
        </p:blipFill>
        <p:spPr>
          <a:xfrm>
            <a:off x="9491472" y="3154680"/>
            <a:ext cx="146304" cy="146304"/>
          </a:xfrm>
          <a:prstGeom prst="rect">
            <a:avLst/>
          </a:prstGeom>
        </p:spPr>
      </p:pic>
      <p:sp>
        <p:nvSpPr>
          <p:cNvPr id="40" name="Shape 23"/>
          <p:cNvSpPr/>
          <p:nvPr/>
        </p:nvSpPr>
        <p:spPr>
          <a:xfrm>
            <a:off x="7498080" y="3328416"/>
            <a:ext cx="4142232" cy="548640"/>
          </a:xfrm>
          <a:prstGeom prst="roundRect">
            <a:avLst>
              <a:gd name="adj" fmla="val 16667"/>
            </a:avLst>
          </a:prstGeom>
          <a:solidFill>
            <a:srgbClr val="F4F6F8"/>
          </a:solidFill>
          <a:ln w="12700">
            <a:solidFill>
              <a:srgbClr val="F4F6F8"/>
            </a:solidFill>
            <a:prstDash val="solid"/>
          </a:ln>
        </p:spPr>
      </p:sp>
      <p:sp>
        <p:nvSpPr>
          <p:cNvPr id="41" name="Shape 24"/>
          <p:cNvSpPr/>
          <p:nvPr/>
        </p:nvSpPr>
        <p:spPr>
          <a:xfrm>
            <a:off x="7635240" y="3401568"/>
            <a:ext cx="402336" cy="402336"/>
          </a:xfrm>
          <a:prstGeom prst="ellipse">
            <a:avLst/>
          </a:prstGeom>
          <a:solidFill>
            <a:srgbClr val="1B1F2A"/>
          </a:solidFill>
          <a:ln w="12700">
            <a:solidFill>
              <a:srgbClr val="1B1F2A"/>
            </a:solidFill>
            <a:prstDash val="solid"/>
          </a:ln>
        </p:spPr>
      </p:sp>
      <p:pic>
        <p:nvPicPr>
          <p:cNvPr id="42" name="Image 15" descr="preencoded.png">    </p:cNvPr>
          <p:cNvPicPr>
            <a:picLocks noChangeAspect="1"/>
          </p:cNvPicPr>
          <p:nvPr/>
        </p:nvPicPr>
        <p:blipFill>
          <a:blip r:embed="rId16"/>
          <a:stretch>
            <a:fillRect/>
          </a:stretch>
        </p:blipFill>
        <p:spPr>
          <a:xfrm>
            <a:off x="7735824" y="3502152"/>
            <a:ext cx="201168" cy="201168"/>
          </a:xfrm>
          <a:prstGeom prst="rect">
            <a:avLst/>
          </a:prstGeom>
        </p:spPr>
      </p:pic>
      <p:sp>
        <p:nvSpPr>
          <p:cNvPr id="43" name="Text 25"/>
          <p:cNvSpPr txBox="1"/>
          <p:nvPr/>
        </p:nvSpPr>
        <p:spPr>
          <a:xfrm>
            <a:off x="8275320" y="3328416"/>
            <a:ext cx="3200400" cy="548640"/>
          </a:xfrm>
          <a:prstGeom prst="rect">
            <a:avLst/>
          </a:prstGeom>
          <a:noFill/>
          <a:ln/>
        </p:spPr>
        <p:txBody>
          <a:bodyPr wrap="square" lIns="0" tIns="0" rIns="0" bIns="0" rtlCol="0" anchor="ctr"/>
          <a:lstStyle/>
          <a:p>
            <a:pPr indent="0" marL="0">
              <a:buNone/>
            </a:pPr>
            <a:r>
              <a:rPr lang="en-US" sz="1600" b="1" dirty="0">
                <a:solidFill>
                  <a:srgbClr val="1F2430"/>
                </a:solidFill>
                <a:latin typeface="Calibri" pitchFamily="34" charset="0"/>
                <a:ea typeface="Calibri" pitchFamily="34" charset="-122"/>
                <a:cs typeface="Calibri" pitchFamily="34" charset="-120"/>
              </a:rPr>
              <a:t>NumPy</a:t>
            </a:r>
            <a:endParaRPr lang="en-US" sz="1600" dirty="0"/>
          </a:p>
        </p:txBody>
      </p:sp>
      <p:pic>
        <p:nvPicPr>
          <p:cNvPr id="44" name="Image 16" descr="preencoded.png">    </p:cNvPr>
          <p:cNvPicPr>
            <a:picLocks noChangeAspect="1"/>
          </p:cNvPicPr>
          <p:nvPr/>
        </p:nvPicPr>
        <p:blipFill>
          <a:blip r:embed="rId17"/>
          <a:stretch>
            <a:fillRect/>
          </a:stretch>
        </p:blipFill>
        <p:spPr>
          <a:xfrm>
            <a:off x="9491472" y="3904488"/>
            <a:ext cx="146304" cy="146304"/>
          </a:xfrm>
          <a:prstGeom prst="rect">
            <a:avLst/>
          </a:prstGeom>
        </p:spPr>
      </p:pic>
      <p:sp>
        <p:nvSpPr>
          <p:cNvPr id="45" name="Shape 26"/>
          <p:cNvSpPr/>
          <p:nvPr/>
        </p:nvSpPr>
        <p:spPr>
          <a:xfrm>
            <a:off x="7498080" y="4078224"/>
            <a:ext cx="4142232" cy="548640"/>
          </a:xfrm>
          <a:prstGeom prst="roundRect">
            <a:avLst>
              <a:gd name="adj" fmla="val 16667"/>
            </a:avLst>
          </a:prstGeom>
          <a:solidFill>
            <a:srgbClr val="F4F6F8"/>
          </a:solidFill>
          <a:ln w="12700">
            <a:solidFill>
              <a:srgbClr val="F4F6F8"/>
            </a:solidFill>
            <a:prstDash val="solid"/>
          </a:ln>
        </p:spPr>
      </p:sp>
      <p:sp>
        <p:nvSpPr>
          <p:cNvPr id="46" name="Shape 27"/>
          <p:cNvSpPr/>
          <p:nvPr/>
        </p:nvSpPr>
        <p:spPr>
          <a:xfrm>
            <a:off x="7635240" y="4151376"/>
            <a:ext cx="402336" cy="402336"/>
          </a:xfrm>
          <a:prstGeom prst="ellipse">
            <a:avLst/>
          </a:prstGeom>
          <a:solidFill>
            <a:srgbClr val="1B1F2A"/>
          </a:solidFill>
          <a:ln w="12700">
            <a:solidFill>
              <a:srgbClr val="1B1F2A"/>
            </a:solidFill>
            <a:prstDash val="solid"/>
          </a:ln>
        </p:spPr>
      </p:sp>
      <p:pic>
        <p:nvPicPr>
          <p:cNvPr id="47" name="Image 17" descr="preencoded.png">    </p:cNvPr>
          <p:cNvPicPr>
            <a:picLocks noChangeAspect="1"/>
          </p:cNvPicPr>
          <p:nvPr/>
        </p:nvPicPr>
        <p:blipFill>
          <a:blip r:embed="rId18"/>
          <a:stretch>
            <a:fillRect/>
          </a:stretch>
        </p:blipFill>
        <p:spPr>
          <a:xfrm>
            <a:off x="7735824" y="4251960"/>
            <a:ext cx="201168" cy="201168"/>
          </a:xfrm>
          <a:prstGeom prst="rect">
            <a:avLst/>
          </a:prstGeom>
        </p:spPr>
      </p:pic>
      <p:sp>
        <p:nvSpPr>
          <p:cNvPr id="48" name="Text 28"/>
          <p:cNvSpPr txBox="1"/>
          <p:nvPr/>
        </p:nvSpPr>
        <p:spPr>
          <a:xfrm>
            <a:off x="8275320" y="4078224"/>
            <a:ext cx="3200400" cy="548640"/>
          </a:xfrm>
          <a:prstGeom prst="rect">
            <a:avLst/>
          </a:prstGeom>
          <a:noFill/>
          <a:ln/>
        </p:spPr>
        <p:txBody>
          <a:bodyPr wrap="square" lIns="0" tIns="0" rIns="0" bIns="0" rtlCol="0" anchor="ctr"/>
          <a:lstStyle/>
          <a:p>
            <a:pPr indent="0" marL="0">
              <a:buNone/>
            </a:pPr>
            <a:r>
              <a:rPr lang="en-US" sz="1600" b="1" dirty="0">
                <a:solidFill>
                  <a:srgbClr val="1F2430"/>
                </a:solidFill>
                <a:latin typeface="Calibri" pitchFamily="34" charset="0"/>
                <a:ea typeface="Calibri" pitchFamily="34" charset="-122"/>
                <a:cs typeface="Calibri" pitchFamily="34" charset="-120"/>
              </a:rPr>
              <a:t>Matplotlib</a:t>
            </a:r>
            <a:endParaRPr lang="en-US" sz="1600" dirty="0"/>
          </a:p>
        </p:txBody>
      </p:sp>
      <p:pic>
        <p:nvPicPr>
          <p:cNvPr id="49" name="Image 18" descr="preencoded.png">    </p:cNvPr>
          <p:cNvPicPr>
            <a:picLocks noChangeAspect="1"/>
          </p:cNvPicPr>
          <p:nvPr/>
        </p:nvPicPr>
        <p:blipFill>
          <a:blip r:embed="rId19"/>
          <a:stretch>
            <a:fillRect/>
          </a:stretch>
        </p:blipFill>
        <p:spPr>
          <a:xfrm>
            <a:off x="9491472" y="4654296"/>
            <a:ext cx="146304" cy="146304"/>
          </a:xfrm>
          <a:prstGeom prst="rect">
            <a:avLst/>
          </a:prstGeom>
        </p:spPr>
      </p:pic>
      <p:sp>
        <p:nvSpPr>
          <p:cNvPr id="50" name="Shape 29"/>
          <p:cNvSpPr/>
          <p:nvPr/>
        </p:nvSpPr>
        <p:spPr>
          <a:xfrm>
            <a:off x="7498080" y="4828032"/>
            <a:ext cx="4142232" cy="548640"/>
          </a:xfrm>
          <a:prstGeom prst="roundRect">
            <a:avLst>
              <a:gd name="adj" fmla="val 16667"/>
            </a:avLst>
          </a:prstGeom>
          <a:solidFill>
            <a:srgbClr val="F4F6F8"/>
          </a:solidFill>
          <a:ln w="12700">
            <a:solidFill>
              <a:srgbClr val="F4F6F8"/>
            </a:solidFill>
            <a:prstDash val="solid"/>
          </a:ln>
        </p:spPr>
      </p:sp>
      <p:sp>
        <p:nvSpPr>
          <p:cNvPr id="51" name="Shape 30"/>
          <p:cNvSpPr/>
          <p:nvPr/>
        </p:nvSpPr>
        <p:spPr>
          <a:xfrm>
            <a:off x="7635240" y="4901184"/>
            <a:ext cx="402336" cy="402336"/>
          </a:xfrm>
          <a:prstGeom prst="ellipse">
            <a:avLst/>
          </a:prstGeom>
          <a:solidFill>
            <a:srgbClr val="1B1F2A"/>
          </a:solidFill>
          <a:ln w="12700">
            <a:solidFill>
              <a:srgbClr val="1B1F2A"/>
            </a:solidFill>
            <a:prstDash val="solid"/>
          </a:ln>
        </p:spPr>
      </p:sp>
      <p:pic>
        <p:nvPicPr>
          <p:cNvPr id="52" name="Image 19" descr="preencoded.png">    </p:cNvPr>
          <p:cNvPicPr>
            <a:picLocks noChangeAspect="1"/>
          </p:cNvPicPr>
          <p:nvPr/>
        </p:nvPicPr>
        <p:blipFill>
          <a:blip r:embed="rId20"/>
          <a:stretch>
            <a:fillRect/>
          </a:stretch>
        </p:blipFill>
        <p:spPr>
          <a:xfrm>
            <a:off x="7735824" y="5001768"/>
            <a:ext cx="201168" cy="201168"/>
          </a:xfrm>
          <a:prstGeom prst="rect">
            <a:avLst/>
          </a:prstGeom>
        </p:spPr>
      </p:pic>
      <p:sp>
        <p:nvSpPr>
          <p:cNvPr id="53" name="Text 31"/>
          <p:cNvSpPr txBox="1"/>
          <p:nvPr/>
        </p:nvSpPr>
        <p:spPr>
          <a:xfrm>
            <a:off x="8275320" y="4828032"/>
            <a:ext cx="3200400" cy="548640"/>
          </a:xfrm>
          <a:prstGeom prst="rect">
            <a:avLst/>
          </a:prstGeom>
          <a:noFill/>
          <a:ln/>
        </p:spPr>
        <p:txBody>
          <a:bodyPr wrap="square" lIns="0" tIns="0" rIns="0" bIns="0" rtlCol="0" anchor="ctr"/>
          <a:lstStyle/>
          <a:p>
            <a:pPr indent="0" marL="0">
              <a:buNone/>
            </a:pPr>
            <a:r>
              <a:rPr lang="en-US" sz="1600" b="1" dirty="0">
                <a:solidFill>
                  <a:srgbClr val="1F2430"/>
                </a:solidFill>
                <a:latin typeface="Calibri" pitchFamily="34" charset="0"/>
                <a:ea typeface="Calibri" pitchFamily="34" charset="-122"/>
                <a:cs typeface="Calibri" pitchFamily="34" charset="-120"/>
              </a:rPr>
              <a:t>Jupyter Notebook</a:t>
            </a:r>
            <a:endParaRPr lang="en-US" sz="1600" dirty="0"/>
          </a:p>
        </p:txBody>
      </p:sp>
      <p:pic>
        <p:nvPicPr>
          <p:cNvPr id="54" name="Image 20" descr="preencoded.png">    </p:cNvPr>
          <p:cNvPicPr>
            <a:picLocks noChangeAspect="1"/>
          </p:cNvPicPr>
          <p:nvPr/>
        </p:nvPicPr>
        <p:blipFill>
          <a:blip r:embed="rId21"/>
          <a:stretch>
            <a:fillRect/>
          </a:stretch>
        </p:blipFill>
        <p:spPr>
          <a:xfrm>
            <a:off x="9491472" y="5404104"/>
            <a:ext cx="146304" cy="146304"/>
          </a:xfrm>
          <a:prstGeom prst="rect">
            <a:avLst/>
          </a:prstGeom>
        </p:spPr>
      </p:pic>
      <p:sp>
        <p:nvSpPr>
          <p:cNvPr id="55" name="Shape 32"/>
          <p:cNvSpPr/>
          <p:nvPr/>
        </p:nvSpPr>
        <p:spPr>
          <a:xfrm>
            <a:off x="7498080" y="5577840"/>
            <a:ext cx="4142232" cy="548640"/>
          </a:xfrm>
          <a:prstGeom prst="roundRect">
            <a:avLst>
              <a:gd name="adj" fmla="val 16667"/>
            </a:avLst>
          </a:prstGeom>
          <a:solidFill>
            <a:srgbClr val="F4F6F8"/>
          </a:solidFill>
          <a:ln w="12700">
            <a:solidFill>
              <a:srgbClr val="F4F6F8"/>
            </a:solidFill>
            <a:prstDash val="solid"/>
          </a:ln>
        </p:spPr>
      </p:sp>
      <p:sp>
        <p:nvSpPr>
          <p:cNvPr id="56" name="Shape 33"/>
          <p:cNvSpPr/>
          <p:nvPr/>
        </p:nvSpPr>
        <p:spPr>
          <a:xfrm>
            <a:off x="7635240" y="5650992"/>
            <a:ext cx="402336" cy="402336"/>
          </a:xfrm>
          <a:prstGeom prst="ellipse">
            <a:avLst/>
          </a:prstGeom>
          <a:solidFill>
            <a:srgbClr val="1B1F2A"/>
          </a:solidFill>
          <a:ln w="12700">
            <a:solidFill>
              <a:srgbClr val="1B1F2A"/>
            </a:solidFill>
            <a:prstDash val="solid"/>
          </a:ln>
        </p:spPr>
      </p:sp>
      <p:pic>
        <p:nvPicPr>
          <p:cNvPr id="57" name="Image 21" descr="preencoded.png">    </p:cNvPr>
          <p:cNvPicPr>
            <a:picLocks noChangeAspect="1"/>
          </p:cNvPicPr>
          <p:nvPr/>
        </p:nvPicPr>
        <p:blipFill>
          <a:blip r:embed="rId22"/>
          <a:stretch>
            <a:fillRect/>
          </a:stretch>
        </p:blipFill>
        <p:spPr>
          <a:xfrm>
            <a:off x="7735824" y="5751576"/>
            <a:ext cx="201168" cy="201168"/>
          </a:xfrm>
          <a:prstGeom prst="rect">
            <a:avLst/>
          </a:prstGeom>
        </p:spPr>
      </p:pic>
      <p:sp>
        <p:nvSpPr>
          <p:cNvPr id="58" name="Text 34"/>
          <p:cNvSpPr txBox="1"/>
          <p:nvPr/>
        </p:nvSpPr>
        <p:spPr>
          <a:xfrm>
            <a:off x="8275320" y="5577840"/>
            <a:ext cx="3200400" cy="548640"/>
          </a:xfrm>
          <a:prstGeom prst="rect">
            <a:avLst/>
          </a:prstGeom>
          <a:noFill/>
          <a:ln/>
        </p:spPr>
        <p:txBody>
          <a:bodyPr wrap="square" lIns="0" tIns="0" rIns="0" bIns="0" rtlCol="0" anchor="ctr"/>
          <a:lstStyle/>
          <a:p>
            <a:pPr indent="0" marL="0">
              <a:buNone/>
            </a:pPr>
            <a:r>
              <a:rPr lang="en-US" sz="1600" b="1" dirty="0">
                <a:solidFill>
                  <a:srgbClr val="1F2430"/>
                </a:solidFill>
                <a:latin typeface="Calibri" pitchFamily="34" charset="0"/>
                <a:ea typeface="Calibri" pitchFamily="34" charset="-122"/>
                <a:cs typeface="Calibri" pitchFamily="34" charset="-120"/>
              </a:rPr>
              <a:t>CSV / GitHub</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300" kern="0" dirty="0">
                <a:solidFill>
                  <a:srgbClr val="E4572E"/>
                </a:solidFill>
                <a:latin typeface="Calibri" pitchFamily="34" charset="0"/>
                <a:ea typeface="Calibri" pitchFamily="34" charset="-122"/>
                <a:cs typeface="Calibri" pitchFamily="34" charset="-120"/>
              </a:rPr>
              <a:t>PROCESS</a:t>
            </a:r>
            <a:endParaRPr lang="en-US" sz="1200" dirty="0"/>
          </a:p>
        </p:txBody>
      </p:sp>
      <p:sp>
        <p:nvSpPr>
          <p:cNvPr id="3" name="Text 1"/>
          <p:cNvSpPr txBox="1"/>
          <p:nvPr/>
        </p:nvSpPr>
        <p:spPr>
          <a:xfrm>
            <a:off x="548640" y="621792"/>
            <a:ext cx="10972800" cy="594360"/>
          </a:xfrm>
          <a:prstGeom prst="rect">
            <a:avLst/>
          </a:prstGeom>
          <a:noFill/>
          <a:ln/>
        </p:spPr>
        <p:txBody>
          <a:bodyPr wrap="square" lIns="0" tIns="0" rIns="0" bIns="0" rtlCol="0" anchor="t"/>
          <a:lstStyle/>
          <a:p>
            <a:pPr indent="0" marL="0">
              <a:buNone/>
            </a:pPr>
            <a:r>
              <a:rPr lang="en-US" sz="3000" b="1" dirty="0">
                <a:solidFill>
                  <a:srgbClr val="1B1F2A"/>
                </a:solidFill>
                <a:latin typeface="Cambria" pitchFamily="34" charset="0"/>
                <a:ea typeface="Cambria" pitchFamily="34" charset="-122"/>
                <a:cs typeface="Cambria" pitchFamily="34" charset="-120"/>
              </a:rPr>
              <a:t>Data Analysis Workflow</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Restaurant Data Analysis  |  Vikash Rao</a:t>
            </a:r>
            <a:endParaRPr lang="en-US" sz="1000" dirty="0"/>
          </a:p>
        </p:txBody>
      </p:sp>
      <p:sp>
        <p:nvSpPr>
          <p:cNvPr id="5" name="Text 3"/>
          <p:cNvSpPr txBox="1"/>
          <p:nvPr/>
        </p:nvSpPr>
        <p:spPr>
          <a:xfrm>
            <a:off x="11155680" y="6446520"/>
            <a:ext cx="4846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548640" y="1463040"/>
            <a:ext cx="1170432" cy="1691640"/>
          </a:xfrm>
          <a:prstGeom prst="roundRect">
            <a:avLst>
              <a:gd name="adj" fmla="val 7813"/>
            </a:avLst>
          </a:prstGeom>
          <a:solidFill>
            <a:srgbClr val="E9ECF1"/>
          </a:solidFill>
          <a:ln w="12700">
            <a:solidFill>
              <a:srgbClr val="E9ECF1"/>
            </a:solidFill>
            <a:prstDash val="solid"/>
          </a:ln>
        </p:spPr>
      </p:sp>
      <p:sp>
        <p:nvSpPr>
          <p:cNvPr id="7" name="Shape 5"/>
          <p:cNvSpPr/>
          <p:nvPr/>
        </p:nvSpPr>
        <p:spPr>
          <a:xfrm>
            <a:off x="640080" y="1554480"/>
            <a:ext cx="310896" cy="310896"/>
          </a:xfrm>
          <a:prstGeom prst="ellipse">
            <a:avLst/>
          </a:prstGeom>
          <a:solidFill>
            <a:srgbClr val="1B1F2A"/>
          </a:solidFill>
          <a:ln w="12700">
            <a:solidFill>
              <a:srgbClr val="1B1F2A"/>
            </a:solidFill>
            <a:prstDash val="solid"/>
          </a:ln>
        </p:spPr>
      </p:sp>
      <p:sp>
        <p:nvSpPr>
          <p:cNvPr id="8" name="Text 6"/>
          <p:cNvSpPr txBox="1"/>
          <p:nvPr/>
        </p:nvSpPr>
        <p:spPr>
          <a:xfrm>
            <a:off x="640080" y="15544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9" name="Image 0" descr="preencoded.png">    </p:cNvPr>
          <p:cNvPicPr>
            <a:picLocks noChangeAspect="1"/>
          </p:cNvPicPr>
          <p:nvPr/>
        </p:nvPicPr>
        <p:blipFill>
          <a:blip r:embed="rId1"/>
          <a:stretch>
            <a:fillRect/>
          </a:stretch>
        </p:blipFill>
        <p:spPr>
          <a:xfrm>
            <a:off x="905256" y="1965960"/>
            <a:ext cx="457200" cy="457200"/>
          </a:xfrm>
          <a:prstGeom prst="rect">
            <a:avLst/>
          </a:prstGeom>
        </p:spPr>
      </p:pic>
      <p:sp>
        <p:nvSpPr>
          <p:cNvPr id="10" name="Text 7"/>
          <p:cNvSpPr txBox="1"/>
          <p:nvPr/>
        </p:nvSpPr>
        <p:spPr>
          <a:xfrm>
            <a:off x="621792" y="2514600"/>
            <a:ext cx="1024128" cy="548640"/>
          </a:xfrm>
          <a:prstGeom prst="rect">
            <a:avLst/>
          </a:prstGeom>
          <a:noFill/>
          <a:ln/>
        </p:spPr>
        <p:txBody>
          <a:bodyPr wrap="square" lIns="0" tIns="0" rIns="0" bIns="0" rtlCol="0" anchor="t"/>
          <a:lstStyle/>
          <a:p>
            <a:pPr algn="ctr" indent="0" marL="0">
              <a:buNone/>
            </a:pPr>
            <a:r>
              <a:rPr lang="en-US" sz="1150" b="1" dirty="0">
                <a:solidFill>
                  <a:srgbClr val="1F2430"/>
                </a:solidFill>
                <a:latin typeface="Calibri" pitchFamily="34" charset="0"/>
                <a:ea typeface="Calibri" pitchFamily="34" charset="-122"/>
                <a:cs typeface="Calibri" pitchFamily="34" charset="-120"/>
              </a:rPr>
              <a:t>Dataset</a:t>
            </a:r>
            <a:endParaRPr lang="en-US" sz="1150" dirty="0"/>
          </a:p>
        </p:txBody>
      </p:sp>
      <p:pic>
        <p:nvPicPr>
          <p:cNvPr id="11" name="Image 1" descr="preencoded.png">    </p:cNvPr>
          <p:cNvPicPr>
            <a:picLocks noChangeAspect="1"/>
          </p:cNvPicPr>
          <p:nvPr/>
        </p:nvPicPr>
        <p:blipFill>
          <a:blip r:embed="rId2"/>
          <a:stretch>
            <a:fillRect/>
          </a:stretch>
        </p:blipFill>
        <p:spPr>
          <a:xfrm>
            <a:off x="1810512" y="2240280"/>
            <a:ext cx="128016" cy="128016"/>
          </a:xfrm>
          <a:prstGeom prst="rect">
            <a:avLst/>
          </a:prstGeom>
        </p:spPr>
      </p:pic>
      <p:sp>
        <p:nvSpPr>
          <p:cNvPr id="12" name="Shape 8"/>
          <p:cNvSpPr/>
          <p:nvPr/>
        </p:nvSpPr>
        <p:spPr>
          <a:xfrm>
            <a:off x="1965960" y="1463040"/>
            <a:ext cx="1170432" cy="1691640"/>
          </a:xfrm>
          <a:prstGeom prst="roundRect">
            <a:avLst>
              <a:gd name="adj" fmla="val 7813"/>
            </a:avLst>
          </a:prstGeom>
          <a:solidFill>
            <a:srgbClr val="E9ECF1"/>
          </a:solidFill>
          <a:ln w="12700">
            <a:solidFill>
              <a:srgbClr val="E9ECF1"/>
            </a:solidFill>
            <a:prstDash val="solid"/>
          </a:ln>
        </p:spPr>
      </p:sp>
      <p:sp>
        <p:nvSpPr>
          <p:cNvPr id="13" name="Shape 9"/>
          <p:cNvSpPr/>
          <p:nvPr/>
        </p:nvSpPr>
        <p:spPr>
          <a:xfrm>
            <a:off x="2057400" y="1554480"/>
            <a:ext cx="310896" cy="310896"/>
          </a:xfrm>
          <a:prstGeom prst="ellipse">
            <a:avLst/>
          </a:prstGeom>
          <a:solidFill>
            <a:srgbClr val="1B1F2A"/>
          </a:solidFill>
          <a:ln w="12700">
            <a:solidFill>
              <a:srgbClr val="1B1F2A"/>
            </a:solidFill>
            <a:prstDash val="solid"/>
          </a:ln>
        </p:spPr>
      </p:sp>
      <p:sp>
        <p:nvSpPr>
          <p:cNvPr id="14" name="Text 10"/>
          <p:cNvSpPr txBox="1"/>
          <p:nvPr/>
        </p:nvSpPr>
        <p:spPr>
          <a:xfrm>
            <a:off x="2057400" y="15544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15" name="Image 2" descr="preencoded.png">    </p:cNvPr>
          <p:cNvPicPr>
            <a:picLocks noChangeAspect="1"/>
          </p:cNvPicPr>
          <p:nvPr/>
        </p:nvPicPr>
        <p:blipFill>
          <a:blip r:embed="rId3"/>
          <a:stretch>
            <a:fillRect/>
          </a:stretch>
        </p:blipFill>
        <p:spPr>
          <a:xfrm>
            <a:off x="2322576" y="1965960"/>
            <a:ext cx="457200" cy="457200"/>
          </a:xfrm>
          <a:prstGeom prst="rect">
            <a:avLst/>
          </a:prstGeom>
        </p:spPr>
      </p:pic>
      <p:sp>
        <p:nvSpPr>
          <p:cNvPr id="16" name="Text 11"/>
          <p:cNvSpPr txBox="1"/>
          <p:nvPr/>
        </p:nvSpPr>
        <p:spPr>
          <a:xfrm>
            <a:off x="2039112" y="2514600"/>
            <a:ext cx="1024128" cy="548640"/>
          </a:xfrm>
          <a:prstGeom prst="rect">
            <a:avLst/>
          </a:prstGeom>
          <a:noFill/>
          <a:ln/>
        </p:spPr>
        <p:txBody>
          <a:bodyPr wrap="square" lIns="0" tIns="0" rIns="0" bIns="0" rtlCol="0" anchor="t"/>
          <a:lstStyle/>
          <a:p>
            <a:pPr algn="ctr" indent="0" marL="0">
              <a:buNone/>
            </a:pPr>
            <a:r>
              <a:rPr lang="en-US" sz="1150" b="1" dirty="0">
                <a:solidFill>
                  <a:srgbClr val="1F2430"/>
                </a:solidFill>
                <a:latin typeface="Calibri" pitchFamily="34" charset="0"/>
                <a:ea typeface="Calibri" pitchFamily="34" charset="-122"/>
                <a:cs typeface="Calibri" pitchFamily="34" charset="-120"/>
              </a:rPr>
              <a:t>Data Understanding</a:t>
            </a:r>
            <a:endParaRPr lang="en-US" sz="1150" dirty="0"/>
          </a:p>
        </p:txBody>
      </p:sp>
      <p:pic>
        <p:nvPicPr>
          <p:cNvPr id="17" name="Image 3" descr="preencoded.png">    </p:cNvPr>
          <p:cNvPicPr>
            <a:picLocks noChangeAspect="1"/>
          </p:cNvPicPr>
          <p:nvPr/>
        </p:nvPicPr>
        <p:blipFill>
          <a:blip r:embed="rId4"/>
          <a:stretch>
            <a:fillRect/>
          </a:stretch>
        </p:blipFill>
        <p:spPr>
          <a:xfrm>
            <a:off x="3227832" y="2240280"/>
            <a:ext cx="128016" cy="128016"/>
          </a:xfrm>
          <a:prstGeom prst="rect">
            <a:avLst/>
          </a:prstGeom>
        </p:spPr>
      </p:pic>
      <p:sp>
        <p:nvSpPr>
          <p:cNvPr id="18" name="Shape 12"/>
          <p:cNvSpPr/>
          <p:nvPr/>
        </p:nvSpPr>
        <p:spPr>
          <a:xfrm>
            <a:off x="3383280" y="1463040"/>
            <a:ext cx="1170432" cy="1691640"/>
          </a:xfrm>
          <a:prstGeom prst="roundRect">
            <a:avLst>
              <a:gd name="adj" fmla="val 7813"/>
            </a:avLst>
          </a:prstGeom>
          <a:solidFill>
            <a:srgbClr val="E9ECF1"/>
          </a:solidFill>
          <a:ln w="12700">
            <a:solidFill>
              <a:srgbClr val="E9ECF1"/>
            </a:solidFill>
            <a:prstDash val="solid"/>
          </a:ln>
        </p:spPr>
      </p:sp>
      <p:sp>
        <p:nvSpPr>
          <p:cNvPr id="19" name="Shape 13"/>
          <p:cNvSpPr/>
          <p:nvPr/>
        </p:nvSpPr>
        <p:spPr>
          <a:xfrm>
            <a:off x="3474720" y="1554480"/>
            <a:ext cx="310896" cy="310896"/>
          </a:xfrm>
          <a:prstGeom prst="ellipse">
            <a:avLst/>
          </a:prstGeom>
          <a:solidFill>
            <a:srgbClr val="1B1F2A"/>
          </a:solidFill>
          <a:ln w="12700">
            <a:solidFill>
              <a:srgbClr val="1B1F2A"/>
            </a:solidFill>
            <a:prstDash val="solid"/>
          </a:ln>
        </p:spPr>
      </p:sp>
      <p:sp>
        <p:nvSpPr>
          <p:cNvPr id="20" name="Text 14"/>
          <p:cNvSpPr txBox="1"/>
          <p:nvPr/>
        </p:nvSpPr>
        <p:spPr>
          <a:xfrm>
            <a:off x="3474720" y="15544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21" name="Image 4" descr="preencoded.png">    </p:cNvPr>
          <p:cNvPicPr>
            <a:picLocks noChangeAspect="1"/>
          </p:cNvPicPr>
          <p:nvPr/>
        </p:nvPicPr>
        <p:blipFill>
          <a:blip r:embed="rId5"/>
          <a:stretch>
            <a:fillRect/>
          </a:stretch>
        </p:blipFill>
        <p:spPr>
          <a:xfrm>
            <a:off x="3739896" y="1965960"/>
            <a:ext cx="457200" cy="457200"/>
          </a:xfrm>
          <a:prstGeom prst="rect">
            <a:avLst/>
          </a:prstGeom>
        </p:spPr>
      </p:pic>
      <p:sp>
        <p:nvSpPr>
          <p:cNvPr id="22" name="Text 15"/>
          <p:cNvSpPr txBox="1"/>
          <p:nvPr/>
        </p:nvSpPr>
        <p:spPr>
          <a:xfrm>
            <a:off x="3456432" y="2514600"/>
            <a:ext cx="1024128" cy="548640"/>
          </a:xfrm>
          <a:prstGeom prst="rect">
            <a:avLst/>
          </a:prstGeom>
          <a:noFill/>
          <a:ln/>
        </p:spPr>
        <p:txBody>
          <a:bodyPr wrap="square" lIns="0" tIns="0" rIns="0" bIns="0" rtlCol="0" anchor="t"/>
          <a:lstStyle/>
          <a:p>
            <a:pPr algn="ctr" indent="0" marL="0">
              <a:buNone/>
            </a:pPr>
            <a:r>
              <a:rPr lang="en-US" sz="1150" b="1" dirty="0">
                <a:solidFill>
                  <a:srgbClr val="1F2430"/>
                </a:solidFill>
                <a:latin typeface="Calibri" pitchFamily="34" charset="0"/>
                <a:ea typeface="Calibri" pitchFamily="34" charset="-122"/>
                <a:cs typeface="Calibri" pitchFamily="34" charset="-120"/>
              </a:rPr>
              <a:t>Cleaning &amp; Validation</a:t>
            </a:r>
            <a:endParaRPr lang="en-US" sz="1150" dirty="0"/>
          </a:p>
        </p:txBody>
      </p:sp>
      <p:pic>
        <p:nvPicPr>
          <p:cNvPr id="23" name="Image 5" descr="preencoded.png">    </p:cNvPr>
          <p:cNvPicPr>
            <a:picLocks noChangeAspect="1"/>
          </p:cNvPicPr>
          <p:nvPr/>
        </p:nvPicPr>
        <p:blipFill>
          <a:blip r:embed="rId6"/>
          <a:stretch>
            <a:fillRect/>
          </a:stretch>
        </p:blipFill>
        <p:spPr>
          <a:xfrm>
            <a:off x="4645152" y="2240280"/>
            <a:ext cx="128016" cy="128016"/>
          </a:xfrm>
          <a:prstGeom prst="rect">
            <a:avLst/>
          </a:prstGeom>
        </p:spPr>
      </p:pic>
      <p:sp>
        <p:nvSpPr>
          <p:cNvPr id="24" name="Shape 16"/>
          <p:cNvSpPr/>
          <p:nvPr/>
        </p:nvSpPr>
        <p:spPr>
          <a:xfrm>
            <a:off x="4800600" y="1463040"/>
            <a:ext cx="1170432" cy="1691640"/>
          </a:xfrm>
          <a:prstGeom prst="roundRect">
            <a:avLst>
              <a:gd name="adj" fmla="val 7813"/>
            </a:avLst>
          </a:prstGeom>
          <a:solidFill>
            <a:srgbClr val="E9ECF1"/>
          </a:solidFill>
          <a:ln w="12700">
            <a:solidFill>
              <a:srgbClr val="E9ECF1"/>
            </a:solidFill>
            <a:prstDash val="solid"/>
          </a:ln>
        </p:spPr>
      </p:sp>
      <p:sp>
        <p:nvSpPr>
          <p:cNvPr id="25" name="Shape 17"/>
          <p:cNvSpPr/>
          <p:nvPr/>
        </p:nvSpPr>
        <p:spPr>
          <a:xfrm>
            <a:off x="4892040" y="1554480"/>
            <a:ext cx="310896" cy="310896"/>
          </a:xfrm>
          <a:prstGeom prst="ellipse">
            <a:avLst/>
          </a:prstGeom>
          <a:solidFill>
            <a:srgbClr val="1B1F2A"/>
          </a:solidFill>
          <a:ln w="12700">
            <a:solidFill>
              <a:srgbClr val="1B1F2A"/>
            </a:solidFill>
            <a:prstDash val="solid"/>
          </a:ln>
        </p:spPr>
      </p:sp>
      <p:sp>
        <p:nvSpPr>
          <p:cNvPr id="26" name="Text 18"/>
          <p:cNvSpPr txBox="1"/>
          <p:nvPr/>
        </p:nvSpPr>
        <p:spPr>
          <a:xfrm>
            <a:off x="4892040" y="15544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27" name="Image 6" descr="preencoded.png">    </p:cNvPr>
          <p:cNvPicPr>
            <a:picLocks noChangeAspect="1"/>
          </p:cNvPicPr>
          <p:nvPr/>
        </p:nvPicPr>
        <p:blipFill>
          <a:blip r:embed="rId7"/>
          <a:stretch>
            <a:fillRect/>
          </a:stretch>
        </p:blipFill>
        <p:spPr>
          <a:xfrm>
            <a:off x="5157216" y="1965960"/>
            <a:ext cx="457200" cy="457200"/>
          </a:xfrm>
          <a:prstGeom prst="rect">
            <a:avLst/>
          </a:prstGeom>
        </p:spPr>
      </p:pic>
      <p:sp>
        <p:nvSpPr>
          <p:cNvPr id="28" name="Text 19"/>
          <p:cNvSpPr txBox="1"/>
          <p:nvPr/>
        </p:nvSpPr>
        <p:spPr>
          <a:xfrm>
            <a:off x="4873752" y="2514600"/>
            <a:ext cx="1024128" cy="548640"/>
          </a:xfrm>
          <a:prstGeom prst="rect">
            <a:avLst/>
          </a:prstGeom>
          <a:noFill/>
          <a:ln/>
        </p:spPr>
        <p:txBody>
          <a:bodyPr wrap="square" lIns="0" tIns="0" rIns="0" bIns="0" rtlCol="0" anchor="t"/>
          <a:lstStyle/>
          <a:p>
            <a:pPr algn="ctr" indent="0" marL="0">
              <a:buNone/>
            </a:pPr>
            <a:r>
              <a:rPr lang="en-US" sz="1150" b="1" dirty="0">
                <a:solidFill>
                  <a:srgbClr val="1F2430"/>
                </a:solidFill>
                <a:latin typeface="Calibri" pitchFamily="34" charset="0"/>
                <a:ea typeface="Calibri" pitchFamily="34" charset="-122"/>
                <a:cs typeface="Calibri" pitchFamily="34" charset="-120"/>
              </a:rPr>
              <a:t>Exploratory Analysis</a:t>
            </a:r>
            <a:endParaRPr lang="en-US" sz="1150" dirty="0"/>
          </a:p>
        </p:txBody>
      </p:sp>
      <p:pic>
        <p:nvPicPr>
          <p:cNvPr id="29" name="Image 7" descr="preencoded.png">    </p:cNvPr>
          <p:cNvPicPr>
            <a:picLocks noChangeAspect="1"/>
          </p:cNvPicPr>
          <p:nvPr/>
        </p:nvPicPr>
        <p:blipFill>
          <a:blip r:embed="rId8"/>
          <a:stretch>
            <a:fillRect/>
          </a:stretch>
        </p:blipFill>
        <p:spPr>
          <a:xfrm>
            <a:off x="6062472" y="2240280"/>
            <a:ext cx="128016" cy="128016"/>
          </a:xfrm>
          <a:prstGeom prst="rect">
            <a:avLst/>
          </a:prstGeom>
        </p:spPr>
      </p:pic>
      <p:sp>
        <p:nvSpPr>
          <p:cNvPr id="30" name="Shape 20"/>
          <p:cNvSpPr/>
          <p:nvPr/>
        </p:nvSpPr>
        <p:spPr>
          <a:xfrm>
            <a:off x="6217920" y="1463040"/>
            <a:ext cx="1170432" cy="1691640"/>
          </a:xfrm>
          <a:prstGeom prst="roundRect">
            <a:avLst>
              <a:gd name="adj" fmla="val 7813"/>
            </a:avLst>
          </a:prstGeom>
          <a:solidFill>
            <a:srgbClr val="E4F2F2"/>
          </a:solidFill>
          <a:ln w="12700">
            <a:solidFill>
              <a:srgbClr val="E4F2F2"/>
            </a:solidFill>
            <a:prstDash val="solid"/>
          </a:ln>
        </p:spPr>
      </p:sp>
      <p:sp>
        <p:nvSpPr>
          <p:cNvPr id="31" name="Shape 21"/>
          <p:cNvSpPr/>
          <p:nvPr/>
        </p:nvSpPr>
        <p:spPr>
          <a:xfrm>
            <a:off x="6309360" y="1554480"/>
            <a:ext cx="310896" cy="310896"/>
          </a:xfrm>
          <a:prstGeom prst="ellipse">
            <a:avLst/>
          </a:prstGeom>
          <a:solidFill>
            <a:srgbClr val="1F8A8A"/>
          </a:solidFill>
          <a:ln w="12700">
            <a:solidFill>
              <a:srgbClr val="1F8A8A"/>
            </a:solidFill>
            <a:prstDash val="solid"/>
          </a:ln>
        </p:spPr>
      </p:sp>
      <p:sp>
        <p:nvSpPr>
          <p:cNvPr id="32" name="Text 22"/>
          <p:cNvSpPr txBox="1"/>
          <p:nvPr/>
        </p:nvSpPr>
        <p:spPr>
          <a:xfrm>
            <a:off x="6309360" y="15544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33" name="Image 8" descr="preencoded.png">    </p:cNvPr>
          <p:cNvPicPr>
            <a:picLocks noChangeAspect="1"/>
          </p:cNvPicPr>
          <p:nvPr/>
        </p:nvPicPr>
        <p:blipFill>
          <a:blip r:embed="rId9"/>
          <a:stretch>
            <a:fillRect/>
          </a:stretch>
        </p:blipFill>
        <p:spPr>
          <a:xfrm>
            <a:off x="6574536" y="1965960"/>
            <a:ext cx="457200" cy="457200"/>
          </a:xfrm>
          <a:prstGeom prst="rect">
            <a:avLst/>
          </a:prstGeom>
        </p:spPr>
      </p:pic>
      <p:sp>
        <p:nvSpPr>
          <p:cNvPr id="34" name="Text 23"/>
          <p:cNvSpPr txBox="1"/>
          <p:nvPr/>
        </p:nvSpPr>
        <p:spPr>
          <a:xfrm>
            <a:off x="6291072" y="2514600"/>
            <a:ext cx="1024128" cy="548640"/>
          </a:xfrm>
          <a:prstGeom prst="rect">
            <a:avLst/>
          </a:prstGeom>
          <a:noFill/>
          <a:ln/>
        </p:spPr>
        <p:txBody>
          <a:bodyPr wrap="square" lIns="0" tIns="0" rIns="0" bIns="0" rtlCol="0" anchor="t"/>
          <a:lstStyle/>
          <a:p>
            <a:pPr algn="ctr" indent="0" marL="0">
              <a:buNone/>
            </a:pPr>
            <a:r>
              <a:rPr lang="en-US" sz="1150" b="1" dirty="0">
                <a:solidFill>
                  <a:srgbClr val="1F2430"/>
                </a:solidFill>
                <a:latin typeface="Calibri" pitchFamily="34" charset="0"/>
                <a:ea typeface="Calibri" pitchFamily="34" charset="-122"/>
                <a:cs typeface="Calibri" pitchFamily="34" charset="-120"/>
              </a:rPr>
              <a:t>Cuisine Analysis</a:t>
            </a:r>
            <a:endParaRPr lang="en-US" sz="1150" dirty="0"/>
          </a:p>
        </p:txBody>
      </p:sp>
      <p:pic>
        <p:nvPicPr>
          <p:cNvPr id="35" name="Image 9" descr="preencoded.png">    </p:cNvPr>
          <p:cNvPicPr>
            <a:picLocks noChangeAspect="1"/>
          </p:cNvPicPr>
          <p:nvPr/>
        </p:nvPicPr>
        <p:blipFill>
          <a:blip r:embed="rId10"/>
          <a:stretch>
            <a:fillRect/>
          </a:stretch>
        </p:blipFill>
        <p:spPr>
          <a:xfrm>
            <a:off x="7479792" y="2240280"/>
            <a:ext cx="128016" cy="128016"/>
          </a:xfrm>
          <a:prstGeom prst="rect">
            <a:avLst/>
          </a:prstGeom>
        </p:spPr>
      </p:pic>
      <p:sp>
        <p:nvSpPr>
          <p:cNvPr id="36" name="Shape 24"/>
          <p:cNvSpPr/>
          <p:nvPr/>
        </p:nvSpPr>
        <p:spPr>
          <a:xfrm>
            <a:off x="7635240" y="1463040"/>
            <a:ext cx="1170432" cy="1691640"/>
          </a:xfrm>
          <a:prstGeom prst="roundRect">
            <a:avLst>
              <a:gd name="adj" fmla="val 7813"/>
            </a:avLst>
          </a:prstGeom>
          <a:solidFill>
            <a:srgbClr val="E4F2F2"/>
          </a:solidFill>
          <a:ln w="12700">
            <a:solidFill>
              <a:srgbClr val="E4F2F2"/>
            </a:solidFill>
            <a:prstDash val="solid"/>
          </a:ln>
        </p:spPr>
      </p:sp>
      <p:sp>
        <p:nvSpPr>
          <p:cNvPr id="37" name="Shape 25"/>
          <p:cNvSpPr/>
          <p:nvPr/>
        </p:nvSpPr>
        <p:spPr>
          <a:xfrm>
            <a:off x="7726680" y="1554480"/>
            <a:ext cx="310896" cy="310896"/>
          </a:xfrm>
          <a:prstGeom prst="ellipse">
            <a:avLst/>
          </a:prstGeom>
          <a:solidFill>
            <a:srgbClr val="1F8A8A"/>
          </a:solidFill>
          <a:ln w="12700">
            <a:solidFill>
              <a:srgbClr val="1F8A8A"/>
            </a:solidFill>
            <a:prstDash val="solid"/>
          </a:ln>
        </p:spPr>
      </p:sp>
      <p:sp>
        <p:nvSpPr>
          <p:cNvPr id="38" name="Text 26"/>
          <p:cNvSpPr txBox="1"/>
          <p:nvPr/>
        </p:nvSpPr>
        <p:spPr>
          <a:xfrm>
            <a:off x="7726680" y="15544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39" name="Image 10" descr="preencoded.png">    </p:cNvPr>
          <p:cNvPicPr>
            <a:picLocks noChangeAspect="1"/>
          </p:cNvPicPr>
          <p:nvPr/>
        </p:nvPicPr>
        <p:blipFill>
          <a:blip r:embed="rId11"/>
          <a:stretch>
            <a:fillRect/>
          </a:stretch>
        </p:blipFill>
        <p:spPr>
          <a:xfrm>
            <a:off x="7991856" y="1965960"/>
            <a:ext cx="457200" cy="457200"/>
          </a:xfrm>
          <a:prstGeom prst="rect">
            <a:avLst/>
          </a:prstGeom>
        </p:spPr>
      </p:pic>
      <p:sp>
        <p:nvSpPr>
          <p:cNvPr id="40" name="Text 27"/>
          <p:cNvSpPr txBox="1"/>
          <p:nvPr/>
        </p:nvSpPr>
        <p:spPr>
          <a:xfrm>
            <a:off x="7708392" y="2514600"/>
            <a:ext cx="1024128" cy="548640"/>
          </a:xfrm>
          <a:prstGeom prst="rect">
            <a:avLst/>
          </a:prstGeom>
          <a:noFill/>
          <a:ln/>
        </p:spPr>
        <p:txBody>
          <a:bodyPr wrap="square" lIns="0" tIns="0" rIns="0" bIns="0" rtlCol="0" anchor="t"/>
          <a:lstStyle/>
          <a:p>
            <a:pPr algn="ctr" indent="0" marL="0">
              <a:buNone/>
            </a:pPr>
            <a:r>
              <a:rPr lang="en-US" sz="1150" b="1" dirty="0">
                <a:solidFill>
                  <a:srgbClr val="1F2430"/>
                </a:solidFill>
                <a:latin typeface="Calibri" pitchFamily="34" charset="0"/>
                <a:ea typeface="Calibri" pitchFamily="34" charset="-122"/>
                <a:cs typeface="Calibri" pitchFamily="34" charset="-120"/>
              </a:rPr>
              <a:t>City Analysis</a:t>
            </a:r>
            <a:endParaRPr lang="en-US" sz="1150" dirty="0"/>
          </a:p>
        </p:txBody>
      </p:sp>
      <p:pic>
        <p:nvPicPr>
          <p:cNvPr id="41" name="Image 11" descr="preencoded.png">    </p:cNvPr>
          <p:cNvPicPr>
            <a:picLocks noChangeAspect="1"/>
          </p:cNvPicPr>
          <p:nvPr/>
        </p:nvPicPr>
        <p:blipFill>
          <a:blip r:embed="rId12"/>
          <a:stretch>
            <a:fillRect/>
          </a:stretch>
        </p:blipFill>
        <p:spPr>
          <a:xfrm>
            <a:off x="8897112" y="2240280"/>
            <a:ext cx="128016" cy="128016"/>
          </a:xfrm>
          <a:prstGeom prst="rect">
            <a:avLst/>
          </a:prstGeom>
        </p:spPr>
      </p:pic>
      <p:sp>
        <p:nvSpPr>
          <p:cNvPr id="42" name="Shape 28"/>
          <p:cNvSpPr/>
          <p:nvPr/>
        </p:nvSpPr>
        <p:spPr>
          <a:xfrm>
            <a:off x="9052560" y="1463040"/>
            <a:ext cx="1170432" cy="1691640"/>
          </a:xfrm>
          <a:prstGeom prst="roundRect">
            <a:avLst>
              <a:gd name="adj" fmla="val 7813"/>
            </a:avLst>
          </a:prstGeom>
          <a:solidFill>
            <a:srgbClr val="E4F2F2"/>
          </a:solidFill>
          <a:ln w="12700">
            <a:solidFill>
              <a:srgbClr val="E4F2F2"/>
            </a:solidFill>
            <a:prstDash val="solid"/>
          </a:ln>
        </p:spPr>
      </p:sp>
      <p:sp>
        <p:nvSpPr>
          <p:cNvPr id="43" name="Shape 29"/>
          <p:cNvSpPr/>
          <p:nvPr/>
        </p:nvSpPr>
        <p:spPr>
          <a:xfrm>
            <a:off x="9144000" y="1554480"/>
            <a:ext cx="310896" cy="310896"/>
          </a:xfrm>
          <a:prstGeom prst="ellipse">
            <a:avLst/>
          </a:prstGeom>
          <a:solidFill>
            <a:srgbClr val="1F8A8A"/>
          </a:solidFill>
          <a:ln w="12700">
            <a:solidFill>
              <a:srgbClr val="1F8A8A"/>
            </a:solidFill>
            <a:prstDash val="solid"/>
          </a:ln>
        </p:spPr>
      </p:sp>
      <p:sp>
        <p:nvSpPr>
          <p:cNvPr id="44" name="Text 30"/>
          <p:cNvSpPr txBox="1"/>
          <p:nvPr/>
        </p:nvSpPr>
        <p:spPr>
          <a:xfrm>
            <a:off x="9144000" y="15544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45" name="Image 12" descr="preencoded.png">    </p:cNvPr>
          <p:cNvPicPr>
            <a:picLocks noChangeAspect="1"/>
          </p:cNvPicPr>
          <p:nvPr/>
        </p:nvPicPr>
        <p:blipFill>
          <a:blip r:embed="rId13"/>
          <a:stretch>
            <a:fillRect/>
          </a:stretch>
        </p:blipFill>
        <p:spPr>
          <a:xfrm>
            <a:off x="9409176" y="1965960"/>
            <a:ext cx="457200" cy="457200"/>
          </a:xfrm>
          <a:prstGeom prst="rect">
            <a:avLst/>
          </a:prstGeom>
        </p:spPr>
      </p:pic>
      <p:sp>
        <p:nvSpPr>
          <p:cNvPr id="46" name="Text 31"/>
          <p:cNvSpPr txBox="1"/>
          <p:nvPr/>
        </p:nvSpPr>
        <p:spPr>
          <a:xfrm>
            <a:off x="9125712" y="2514600"/>
            <a:ext cx="1024128" cy="548640"/>
          </a:xfrm>
          <a:prstGeom prst="rect">
            <a:avLst/>
          </a:prstGeom>
          <a:noFill/>
          <a:ln/>
        </p:spPr>
        <p:txBody>
          <a:bodyPr wrap="square" lIns="0" tIns="0" rIns="0" bIns="0" rtlCol="0" anchor="t"/>
          <a:lstStyle/>
          <a:p>
            <a:pPr algn="ctr" indent="0" marL="0">
              <a:buNone/>
            </a:pPr>
            <a:r>
              <a:rPr lang="en-US" sz="1150" b="1" dirty="0">
                <a:solidFill>
                  <a:srgbClr val="1F2430"/>
                </a:solidFill>
                <a:latin typeface="Calibri" pitchFamily="34" charset="0"/>
                <a:ea typeface="Calibri" pitchFamily="34" charset="-122"/>
                <a:cs typeface="Calibri" pitchFamily="34" charset="-120"/>
              </a:rPr>
              <a:t>Price Analysis</a:t>
            </a:r>
            <a:endParaRPr lang="en-US" sz="1150" dirty="0"/>
          </a:p>
        </p:txBody>
      </p:sp>
      <p:pic>
        <p:nvPicPr>
          <p:cNvPr id="47" name="Image 13" descr="preencoded.png">    </p:cNvPr>
          <p:cNvPicPr>
            <a:picLocks noChangeAspect="1"/>
          </p:cNvPicPr>
          <p:nvPr/>
        </p:nvPicPr>
        <p:blipFill>
          <a:blip r:embed="rId14"/>
          <a:stretch>
            <a:fillRect/>
          </a:stretch>
        </p:blipFill>
        <p:spPr>
          <a:xfrm>
            <a:off x="10314432" y="2240280"/>
            <a:ext cx="128016" cy="128016"/>
          </a:xfrm>
          <a:prstGeom prst="rect">
            <a:avLst/>
          </a:prstGeom>
        </p:spPr>
      </p:pic>
      <p:sp>
        <p:nvSpPr>
          <p:cNvPr id="48" name="Shape 32"/>
          <p:cNvSpPr/>
          <p:nvPr/>
        </p:nvSpPr>
        <p:spPr>
          <a:xfrm>
            <a:off x="10469880" y="1463040"/>
            <a:ext cx="1170432" cy="1691640"/>
          </a:xfrm>
          <a:prstGeom prst="roundRect">
            <a:avLst>
              <a:gd name="adj" fmla="val 7813"/>
            </a:avLst>
          </a:prstGeom>
          <a:solidFill>
            <a:srgbClr val="E4F2F2"/>
          </a:solidFill>
          <a:ln w="12700">
            <a:solidFill>
              <a:srgbClr val="E4F2F2"/>
            </a:solidFill>
            <a:prstDash val="solid"/>
          </a:ln>
        </p:spPr>
      </p:sp>
      <p:sp>
        <p:nvSpPr>
          <p:cNvPr id="49" name="Shape 33"/>
          <p:cNvSpPr/>
          <p:nvPr/>
        </p:nvSpPr>
        <p:spPr>
          <a:xfrm>
            <a:off x="10561320" y="1554480"/>
            <a:ext cx="310896" cy="310896"/>
          </a:xfrm>
          <a:prstGeom prst="ellipse">
            <a:avLst/>
          </a:prstGeom>
          <a:solidFill>
            <a:srgbClr val="1F8A8A"/>
          </a:solidFill>
          <a:ln w="12700">
            <a:solidFill>
              <a:srgbClr val="1F8A8A"/>
            </a:solidFill>
            <a:prstDash val="solid"/>
          </a:ln>
        </p:spPr>
      </p:sp>
      <p:sp>
        <p:nvSpPr>
          <p:cNvPr id="50" name="Text 34"/>
          <p:cNvSpPr txBox="1"/>
          <p:nvPr/>
        </p:nvSpPr>
        <p:spPr>
          <a:xfrm>
            <a:off x="10561320" y="15544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pic>
        <p:nvPicPr>
          <p:cNvPr id="51" name="Image 14" descr="preencoded.png">    </p:cNvPr>
          <p:cNvPicPr>
            <a:picLocks noChangeAspect="1"/>
          </p:cNvPicPr>
          <p:nvPr/>
        </p:nvPicPr>
        <p:blipFill>
          <a:blip r:embed="rId15"/>
          <a:stretch>
            <a:fillRect/>
          </a:stretch>
        </p:blipFill>
        <p:spPr>
          <a:xfrm>
            <a:off x="10826496" y="1965960"/>
            <a:ext cx="457200" cy="457200"/>
          </a:xfrm>
          <a:prstGeom prst="rect">
            <a:avLst/>
          </a:prstGeom>
        </p:spPr>
      </p:pic>
      <p:sp>
        <p:nvSpPr>
          <p:cNvPr id="52" name="Text 35"/>
          <p:cNvSpPr txBox="1"/>
          <p:nvPr/>
        </p:nvSpPr>
        <p:spPr>
          <a:xfrm>
            <a:off x="10543032" y="2514600"/>
            <a:ext cx="1024128" cy="548640"/>
          </a:xfrm>
          <a:prstGeom prst="rect">
            <a:avLst/>
          </a:prstGeom>
          <a:noFill/>
          <a:ln/>
        </p:spPr>
        <p:txBody>
          <a:bodyPr wrap="square" lIns="0" tIns="0" rIns="0" bIns="0" rtlCol="0" anchor="t"/>
          <a:lstStyle/>
          <a:p>
            <a:pPr algn="ctr" indent="0" marL="0">
              <a:buNone/>
            </a:pPr>
            <a:r>
              <a:rPr lang="en-US" sz="1150" b="1" dirty="0">
                <a:solidFill>
                  <a:srgbClr val="1F2430"/>
                </a:solidFill>
                <a:latin typeface="Calibri" pitchFamily="34" charset="0"/>
                <a:ea typeface="Calibri" pitchFamily="34" charset="-122"/>
                <a:cs typeface="Calibri" pitchFamily="34" charset="-120"/>
              </a:rPr>
              <a:t>Delivery Analysis</a:t>
            </a:r>
            <a:endParaRPr lang="en-US" sz="1150" dirty="0"/>
          </a:p>
        </p:txBody>
      </p:sp>
      <p:sp>
        <p:nvSpPr>
          <p:cNvPr id="53" name="Shape 36"/>
          <p:cNvSpPr/>
          <p:nvPr/>
        </p:nvSpPr>
        <p:spPr>
          <a:xfrm>
            <a:off x="548640" y="3520440"/>
            <a:ext cx="1170432" cy="1691640"/>
          </a:xfrm>
          <a:prstGeom prst="roundRect">
            <a:avLst>
              <a:gd name="adj" fmla="val 7813"/>
            </a:avLst>
          </a:prstGeom>
          <a:solidFill>
            <a:srgbClr val="FDF3DC"/>
          </a:solidFill>
          <a:ln w="12700">
            <a:solidFill>
              <a:srgbClr val="FDF3DC"/>
            </a:solidFill>
            <a:prstDash val="solid"/>
          </a:ln>
        </p:spPr>
      </p:sp>
      <p:sp>
        <p:nvSpPr>
          <p:cNvPr id="54" name="Shape 37"/>
          <p:cNvSpPr/>
          <p:nvPr/>
        </p:nvSpPr>
        <p:spPr>
          <a:xfrm>
            <a:off x="640080" y="3611880"/>
            <a:ext cx="310896" cy="310896"/>
          </a:xfrm>
          <a:prstGeom prst="ellipse">
            <a:avLst/>
          </a:prstGeom>
          <a:solidFill>
            <a:srgbClr val="C98A0B"/>
          </a:solidFill>
          <a:ln w="12700">
            <a:solidFill>
              <a:srgbClr val="C98A0B"/>
            </a:solidFill>
            <a:prstDash val="solid"/>
          </a:ln>
        </p:spPr>
      </p:sp>
      <p:sp>
        <p:nvSpPr>
          <p:cNvPr id="55" name="Text 38"/>
          <p:cNvSpPr txBox="1"/>
          <p:nvPr/>
        </p:nvSpPr>
        <p:spPr>
          <a:xfrm>
            <a:off x="640080" y="36118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pic>
        <p:nvPicPr>
          <p:cNvPr id="56" name="Image 15" descr="preencoded.png">    </p:cNvPr>
          <p:cNvPicPr>
            <a:picLocks noChangeAspect="1"/>
          </p:cNvPicPr>
          <p:nvPr/>
        </p:nvPicPr>
        <p:blipFill>
          <a:blip r:embed="rId16"/>
          <a:stretch>
            <a:fillRect/>
          </a:stretch>
        </p:blipFill>
        <p:spPr>
          <a:xfrm>
            <a:off x="905256" y="4023360"/>
            <a:ext cx="457200" cy="457200"/>
          </a:xfrm>
          <a:prstGeom prst="rect">
            <a:avLst/>
          </a:prstGeom>
        </p:spPr>
      </p:pic>
      <p:sp>
        <p:nvSpPr>
          <p:cNvPr id="57" name="Text 39"/>
          <p:cNvSpPr txBox="1"/>
          <p:nvPr/>
        </p:nvSpPr>
        <p:spPr>
          <a:xfrm>
            <a:off x="621792" y="4572000"/>
            <a:ext cx="1024128" cy="548640"/>
          </a:xfrm>
          <a:prstGeom prst="rect">
            <a:avLst/>
          </a:prstGeom>
          <a:noFill/>
          <a:ln/>
        </p:spPr>
        <p:txBody>
          <a:bodyPr wrap="square" lIns="0" tIns="0" rIns="0" bIns="0" rtlCol="0" anchor="t"/>
          <a:lstStyle/>
          <a:p>
            <a:pPr algn="ctr" indent="0" marL="0">
              <a:buNone/>
            </a:pPr>
            <a:r>
              <a:rPr lang="en-US" sz="1150" b="1" dirty="0">
                <a:solidFill>
                  <a:srgbClr val="1F2430"/>
                </a:solidFill>
                <a:latin typeface="Calibri" pitchFamily="34" charset="0"/>
                <a:ea typeface="Calibri" pitchFamily="34" charset="-122"/>
                <a:cs typeface="Calibri" pitchFamily="34" charset="-120"/>
              </a:rPr>
              <a:t>Rating Analysis</a:t>
            </a:r>
            <a:endParaRPr lang="en-US" sz="1150" dirty="0"/>
          </a:p>
        </p:txBody>
      </p:sp>
      <p:pic>
        <p:nvPicPr>
          <p:cNvPr id="58" name="Image 16" descr="preencoded.png">    </p:cNvPr>
          <p:cNvPicPr>
            <a:picLocks noChangeAspect="1"/>
          </p:cNvPicPr>
          <p:nvPr/>
        </p:nvPicPr>
        <p:blipFill>
          <a:blip r:embed="rId17"/>
          <a:stretch>
            <a:fillRect/>
          </a:stretch>
        </p:blipFill>
        <p:spPr>
          <a:xfrm>
            <a:off x="1810512" y="4297680"/>
            <a:ext cx="128016" cy="128016"/>
          </a:xfrm>
          <a:prstGeom prst="rect">
            <a:avLst/>
          </a:prstGeom>
        </p:spPr>
      </p:pic>
      <p:sp>
        <p:nvSpPr>
          <p:cNvPr id="59" name="Shape 40"/>
          <p:cNvSpPr/>
          <p:nvPr/>
        </p:nvSpPr>
        <p:spPr>
          <a:xfrm>
            <a:off x="1965960" y="3520440"/>
            <a:ext cx="1170432" cy="1691640"/>
          </a:xfrm>
          <a:prstGeom prst="roundRect">
            <a:avLst>
              <a:gd name="adj" fmla="val 7813"/>
            </a:avLst>
          </a:prstGeom>
          <a:solidFill>
            <a:srgbClr val="FDF3DC"/>
          </a:solidFill>
          <a:ln w="12700">
            <a:solidFill>
              <a:srgbClr val="FDF3DC"/>
            </a:solidFill>
            <a:prstDash val="solid"/>
          </a:ln>
        </p:spPr>
      </p:sp>
      <p:sp>
        <p:nvSpPr>
          <p:cNvPr id="60" name="Shape 41"/>
          <p:cNvSpPr/>
          <p:nvPr/>
        </p:nvSpPr>
        <p:spPr>
          <a:xfrm>
            <a:off x="2057400" y="3611880"/>
            <a:ext cx="310896" cy="310896"/>
          </a:xfrm>
          <a:prstGeom prst="ellipse">
            <a:avLst/>
          </a:prstGeom>
          <a:solidFill>
            <a:srgbClr val="C98A0B"/>
          </a:solidFill>
          <a:ln w="12700">
            <a:solidFill>
              <a:srgbClr val="C98A0B"/>
            </a:solidFill>
            <a:prstDash val="solid"/>
          </a:ln>
        </p:spPr>
      </p:sp>
      <p:sp>
        <p:nvSpPr>
          <p:cNvPr id="61" name="Text 42"/>
          <p:cNvSpPr txBox="1"/>
          <p:nvPr/>
        </p:nvSpPr>
        <p:spPr>
          <a:xfrm>
            <a:off x="2057400" y="36118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pic>
        <p:nvPicPr>
          <p:cNvPr id="62" name="Image 17" descr="preencoded.png">    </p:cNvPr>
          <p:cNvPicPr>
            <a:picLocks noChangeAspect="1"/>
          </p:cNvPicPr>
          <p:nvPr/>
        </p:nvPicPr>
        <p:blipFill>
          <a:blip r:embed="rId18"/>
          <a:stretch>
            <a:fillRect/>
          </a:stretch>
        </p:blipFill>
        <p:spPr>
          <a:xfrm>
            <a:off x="2322576" y="4023360"/>
            <a:ext cx="457200" cy="457200"/>
          </a:xfrm>
          <a:prstGeom prst="rect">
            <a:avLst/>
          </a:prstGeom>
        </p:spPr>
      </p:pic>
      <p:sp>
        <p:nvSpPr>
          <p:cNvPr id="63" name="Text 43"/>
          <p:cNvSpPr txBox="1"/>
          <p:nvPr/>
        </p:nvSpPr>
        <p:spPr>
          <a:xfrm>
            <a:off x="2039112" y="4572000"/>
            <a:ext cx="1024128" cy="548640"/>
          </a:xfrm>
          <a:prstGeom prst="rect">
            <a:avLst/>
          </a:prstGeom>
          <a:noFill/>
          <a:ln/>
        </p:spPr>
        <p:txBody>
          <a:bodyPr wrap="square" lIns="0" tIns="0" rIns="0" bIns="0" rtlCol="0" anchor="t"/>
          <a:lstStyle/>
          <a:p>
            <a:pPr algn="ctr" indent="0" marL="0">
              <a:buNone/>
            </a:pPr>
            <a:r>
              <a:rPr lang="en-US" sz="1150" b="1" dirty="0">
                <a:solidFill>
                  <a:srgbClr val="1F2430"/>
                </a:solidFill>
                <a:latin typeface="Calibri" pitchFamily="34" charset="0"/>
                <a:ea typeface="Calibri" pitchFamily="34" charset="-122"/>
                <a:cs typeface="Calibri" pitchFamily="34" charset="-120"/>
              </a:rPr>
              <a:t>Cuisine Combination</a:t>
            </a:r>
            <a:endParaRPr lang="en-US" sz="1150" dirty="0"/>
          </a:p>
        </p:txBody>
      </p:sp>
      <p:pic>
        <p:nvPicPr>
          <p:cNvPr id="64" name="Image 18" descr="preencoded.png">    </p:cNvPr>
          <p:cNvPicPr>
            <a:picLocks noChangeAspect="1"/>
          </p:cNvPicPr>
          <p:nvPr/>
        </p:nvPicPr>
        <p:blipFill>
          <a:blip r:embed="rId19"/>
          <a:stretch>
            <a:fillRect/>
          </a:stretch>
        </p:blipFill>
        <p:spPr>
          <a:xfrm>
            <a:off x="3227832" y="4297680"/>
            <a:ext cx="128016" cy="128016"/>
          </a:xfrm>
          <a:prstGeom prst="rect">
            <a:avLst/>
          </a:prstGeom>
        </p:spPr>
      </p:pic>
      <p:sp>
        <p:nvSpPr>
          <p:cNvPr id="65" name="Shape 44"/>
          <p:cNvSpPr/>
          <p:nvPr/>
        </p:nvSpPr>
        <p:spPr>
          <a:xfrm>
            <a:off x="3383280" y="3520440"/>
            <a:ext cx="1170432" cy="1691640"/>
          </a:xfrm>
          <a:prstGeom prst="roundRect">
            <a:avLst>
              <a:gd name="adj" fmla="val 7813"/>
            </a:avLst>
          </a:prstGeom>
          <a:solidFill>
            <a:srgbClr val="FDF3DC"/>
          </a:solidFill>
          <a:ln w="12700">
            <a:solidFill>
              <a:srgbClr val="FDF3DC"/>
            </a:solidFill>
            <a:prstDash val="solid"/>
          </a:ln>
        </p:spPr>
      </p:sp>
      <p:sp>
        <p:nvSpPr>
          <p:cNvPr id="66" name="Shape 45"/>
          <p:cNvSpPr/>
          <p:nvPr/>
        </p:nvSpPr>
        <p:spPr>
          <a:xfrm>
            <a:off x="3474720" y="3611880"/>
            <a:ext cx="310896" cy="310896"/>
          </a:xfrm>
          <a:prstGeom prst="ellipse">
            <a:avLst/>
          </a:prstGeom>
          <a:solidFill>
            <a:srgbClr val="C98A0B"/>
          </a:solidFill>
          <a:ln w="12700">
            <a:solidFill>
              <a:srgbClr val="C98A0B"/>
            </a:solidFill>
            <a:prstDash val="solid"/>
          </a:ln>
        </p:spPr>
      </p:sp>
      <p:sp>
        <p:nvSpPr>
          <p:cNvPr id="67" name="Text 46"/>
          <p:cNvSpPr txBox="1"/>
          <p:nvPr/>
        </p:nvSpPr>
        <p:spPr>
          <a:xfrm>
            <a:off x="3474720" y="36118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pic>
        <p:nvPicPr>
          <p:cNvPr id="68" name="Image 19" descr="preencoded.png">    </p:cNvPr>
          <p:cNvPicPr>
            <a:picLocks noChangeAspect="1"/>
          </p:cNvPicPr>
          <p:nvPr/>
        </p:nvPicPr>
        <p:blipFill>
          <a:blip r:embed="rId20"/>
          <a:stretch>
            <a:fillRect/>
          </a:stretch>
        </p:blipFill>
        <p:spPr>
          <a:xfrm>
            <a:off x="3739896" y="4023360"/>
            <a:ext cx="457200" cy="457200"/>
          </a:xfrm>
          <a:prstGeom prst="rect">
            <a:avLst/>
          </a:prstGeom>
        </p:spPr>
      </p:pic>
      <p:sp>
        <p:nvSpPr>
          <p:cNvPr id="69" name="Text 47"/>
          <p:cNvSpPr txBox="1"/>
          <p:nvPr/>
        </p:nvSpPr>
        <p:spPr>
          <a:xfrm>
            <a:off x="3456432" y="4572000"/>
            <a:ext cx="1024128" cy="548640"/>
          </a:xfrm>
          <a:prstGeom prst="rect">
            <a:avLst/>
          </a:prstGeom>
          <a:noFill/>
          <a:ln/>
        </p:spPr>
        <p:txBody>
          <a:bodyPr wrap="square" lIns="0" tIns="0" rIns="0" bIns="0" rtlCol="0" anchor="t"/>
          <a:lstStyle/>
          <a:p>
            <a:pPr algn="ctr" indent="0" marL="0">
              <a:buNone/>
            </a:pPr>
            <a:r>
              <a:rPr lang="en-US" sz="1150" b="1" dirty="0">
                <a:solidFill>
                  <a:srgbClr val="1F2430"/>
                </a:solidFill>
                <a:latin typeface="Calibri" pitchFamily="34" charset="0"/>
                <a:ea typeface="Calibri" pitchFamily="34" charset="-122"/>
                <a:cs typeface="Calibri" pitchFamily="34" charset="-120"/>
              </a:rPr>
              <a:t>Geographic Analysis</a:t>
            </a:r>
            <a:endParaRPr lang="en-US" sz="1150" dirty="0"/>
          </a:p>
        </p:txBody>
      </p:sp>
      <p:pic>
        <p:nvPicPr>
          <p:cNvPr id="70" name="Image 20" descr="preencoded.png">    </p:cNvPr>
          <p:cNvPicPr>
            <a:picLocks noChangeAspect="1"/>
          </p:cNvPicPr>
          <p:nvPr/>
        </p:nvPicPr>
        <p:blipFill>
          <a:blip r:embed="rId21"/>
          <a:stretch>
            <a:fillRect/>
          </a:stretch>
        </p:blipFill>
        <p:spPr>
          <a:xfrm>
            <a:off x="4645152" y="4297680"/>
            <a:ext cx="128016" cy="128016"/>
          </a:xfrm>
          <a:prstGeom prst="rect">
            <a:avLst/>
          </a:prstGeom>
        </p:spPr>
      </p:pic>
      <p:sp>
        <p:nvSpPr>
          <p:cNvPr id="71" name="Shape 48"/>
          <p:cNvSpPr/>
          <p:nvPr/>
        </p:nvSpPr>
        <p:spPr>
          <a:xfrm>
            <a:off x="4800600" y="3520440"/>
            <a:ext cx="1170432" cy="1691640"/>
          </a:xfrm>
          <a:prstGeom prst="roundRect">
            <a:avLst>
              <a:gd name="adj" fmla="val 7813"/>
            </a:avLst>
          </a:prstGeom>
          <a:solidFill>
            <a:srgbClr val="FDF3DC"/>
          </a:solidFill>
          <a:ln w="12700">
            <a:solidFill>
              <a:srgbClr val="FDF3DC"/>
            </a:solidFill>
            <a:prstDash val="solid"/>
          </a:ln>
        </p:spPr>
      </p:sp>
      <p:sp>
        <p:nvSpPr>
          <p:cNvPr id="72" name="Shape 49"/>
          <p:cNvSpPr/>
          <p:nvPr/>
        </p:nvSpPr>
        <p:spPr>
          <a:xfrm>
            <a:off x="4892040" y="3611880"/>
            <a:ext cx="310896" cy="310896"/>
          </a:xfrm>
          <a:prstGeom prst="ellipse">
            <a:avLst/>
          </a:prstGeom>
          <a:solidFill>
            <a:srgbClr val="C98A0B"/>
          </a:solidFill>
          <a:ln w="12700">
            <a:solidFill>
              <a:srgbClr val="C98A0B"/>
            </a:solidFill>
            <a:prstDash val="solid"/>
          </a:ln>
        </p:spPr>
      </p:sp>
      <p:sp>
        <p:nvSpPr>
          <p:cNvPr id="73" name="Text 50"/>
          <p:cNvSpPr txBox="1"/>
          <p:nvPr/>
        </p:nvSpPr>
        <p:spPr>
          <a:xfrm>
            <a:off x="4892040" y="36118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pic>
        <p:nvPicPr>
          <p:cNvPr id="74" name="Image 21" descr="preencoded.png">    </p:cNvPr>
          <p:cNvPicPr>
            <a:picLocks noChangeAspect="1"/>
          </p:cNvPicPr>
          <p:nvPr/>
        </p:nvPicPr>
        <p:blipFill>
          <a:blip r:embed="rId22"/>
          <a:stretch>
            <a:fillRect/>
          </a:stretch>
        </p:blipFill>
        <p:spPr>
          <a:xfrm>
            <a:off x="5157216" y="4023360"/>
            <a:ext cx="457200" cy="457200"/>
          </a:xfrm>
          <a:prstGeom prst="rect">
            <a:avLst/>
          </a:prstGeom>
        </p:spPr>
      </p:pic>
      <p:sp>
        <p:nvSpPr>
          <p:cNvPr id="75" name="Text 51"/>
          <p:cNvSpPr txBox="1"/>
          <p:nvPr/>
        </p:nvSpPr>
        <p:spPr>
          <a:xfrm>
            <a:off x="4873752" y="4572000"/>
            <a:ext cx="1024128" cy="548640"/>
          </a:xfrm>
          <a:prstGeom prst="rect">
            <a:avLst/>
          </a:prstGeom>
          <a:noFill/>
          <a:ln/>
        </p:spPr>
        <p:txBody>
          <a:bodyPr wrap="square" lIns="0" tIns="0" rIns="0" bIns="0" rtlCol="0" anchor="t"/>
          <a:lstStyle/>
          <a:p>
            <a:pPr algn="ctr" indent="0" marL="0">
              <a:buNone/>
            </a:pPr>
            <a:r>
              <a:rPr lang="en-US" sz="1150" b="1" dirty="0">
                <a:solidFill>
                  <a:srgbClr val="1F2430"/>
                </a:solidFill>
                <a:latin typeface="Calibri" pitchFamily="34" charset="0"/>
                <a:ea typeface="Calibri" pitchFamily="34" charset="-122"/>
                <a:cs typeface="Calibri" pitchFamily="34" charset="-120"/>
              </a:rPr>
              <a:t>Restaurant Chains</a:t>
            </a:r>
            <a:endParaRPr lang="en-US" sz="1150" dirty="0"/>
          </a:p>
        </p:txBody>
      </p:sp>
      <p:pic>
        <p:nvPicPr>
          <p:cNvPr id="76" name="Image 22" descr="preencoded.png">    </p:cNvPr>
          <p:cNvPicPr>
            <a:picLocks noChangeAspect="1"/>
          </p:cNvPicPr>
          <p:nvPr/>
        </p:nvPicPr>
        <p:blipFill>
          <a:blip r:embed="rId23"/>
          <a:stretch>
            <a:fillRect/>
          </a:stretch>
        </p:blipFill>
        <p:spPr>
          <a:xfrm>
            <a:off x="6062472" y="4297680"/>
            <a:ext cx="128016" cy="128016"/>
          </a:xfrm>
          <a:prstGeom prst="rect">
            <a:avLst/>
          </a:prstGeom>
        </p:spPr>
      </p:pic>
      <p:sp>
        <p:nvSpPr>
          <p:cNvPr id="77" name="Shape 52"/>
          <p:cNvSpPr/>
          <p:nvPr/>
        </p:nvSpPr>
        <p:spPr>
          <a:xfrm>
            <a:off x="6217920" y="3520440"/>
            <a:ext cx="1170432" cy="1691640"/>
          </a:xfrm>
          <a:prstGeom prst="roundRect">
            <a:avLst>
              <a:gd name="adj" fmla="val 7813"/>
            </a:avLst>
          </a:prstGeom>
          <a:solidFill>
            <a:srgbClr val="FCEAE5"/>
          </a:solidFill>
          <a:ln w="12700">
            <a:solidFill>
              <a:srgbClr val="FCEAE5"/>
            </a:solidFill>
            <a:prstDash val="solid"/>
          </a:ln>
        </p:spPr>
      </p:sp>
      <p:sp>
        <p:nvSpPr>
          <p:cNvPr id="78" name="Shape 53"/>
          <p:cNvSpPr/>
          <p:nvPr/>
        </p:nvSpPr>
        <p:spPr>
          <a:xfrm>
            <a:off x="6309360" y="3611880"/>
            <a:ext cx="310896" cy="310896"/>
          </a:xfrm>
          <a:prstGeom prst="ellipse">
            <a:avLst/>
          </a:prstGeom>
          <a:solidFill>
            <a:srgbClr val="E4572E"/>
          </a:solidFill>
          <a:ln w="12700">
            <a:solidFill>
              <a:srgbClr val="E4572E"/>
            </a:solidFill>
            <a:prstDash val="solid"/>
          </a:ln>
        </p:spPr>
      </p:sp>
      <p:sp>
        <p:nvSpPr>
          <p:cNvPr id="79" name="Text 54"/>
          <p:cNvSpPr txBox="1"/>
          <p:nvPr/>
        </p:nvSpPr>
        <p:spPr>
          <a:xfrm>
            <a:off x="6309360" y="36118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pic>
        <p:nvPicPr>
          <p:cNvPr id="80" name="Image 23" descr="preencoded.png">    </p:cNvPr>
          <p:cNvPicPr>
            <a:picLocks noChangeAspect="1"/>
          </p:cNvPicPr>
          <p:nvPr/>
        </p:nvPicPr>
        <p:blipFill>
          <a:blip r:embed="rId24"/>
          <a:stretch>
            <a:fillRect/>
          </a:stretch>
        </p:blipFill>
        <p:spPr>
          <a:xfrm>
            <a:off x="6574536" y="4023360"/>
            <a:ext cx="457200" cy="457200"/>
          </a:xfrm>
          <a:prstGeom prst="rect">
            <a:avLst/>
          </a:prstGeom>
        </p:spPr>
      </p:pic>
      <p:sp>
        <p:nvSpPr>
          <p:cNvPr id="81" name="Text 55"/>
          <p:cNvSpPr txBox="1"/>
          <p:nvPr/>
        </p:nvSpPr>
        <p:spPr>
          <a:xfrm>
            <a:off x="6291072" y="4572000"/>
            <a:ext cx="1024128" cy="548640"/>
          </a:xfrm>
          <a:prstGeom prst="rect">
            <a:avLst/>
          </a:prstGeom>
          <a:noFill/>
          <a:ln/>
        </p:spPr>
        <p:txBody>
          <a:bodyPr wrap="square" lIns="0" tIns="0" rIns="0" bIns="0" rtlCol="0" anchor="t"/>
          <a:lstStyle/>
          <a:p>
            <a:pPr algn="ctr" indent="0" marL="0">
              <a:buNone/>
            </a:pPr>
            <a:r>
              <a:rPr lang="en-US" sz="1150" b="1" dirty="0">
                <a:solidFill>
                  <a:srgbClr val="1F2430"/>
                </a:solidFill>
                <a:latin typeface="Calibri" pitchFamily="34" charset="0"/>
                <a:ea typeface="Calibri" pitchFamily="34" charset="-122"/>
                <a:cs typeface="Calibri" pitchFamily="34" charset="-120"/>
              </a:rPr>
              <a:t>Reviews</a:t>
            </a:r>
            <a:endParaRPr lang="en-US" sz="1150" dirty="0"/>
          </a:p>
        </p:txBody>
      </p:sp>
      <p:pic>
        <p:nvPicPr>
          <p:cNvPr id="82" name="Image 24" descr="preencoded.png">    </p:cNvPr>
          <p:cNvPicPr>
            <a:picLocks noChangeAspect="1"/>
          </p:cNvPicPr>
          <p:nvPr/>
        </p:nvPicPr>
        <p:blipFill>
          <a:blip r:embed="rId25"/>
          <a:stretch>
            <a:fillRect/>
          </a:stretch>
        </p:blipFill>
        <p:spPr>
          <a:xfrm>
            <a:off x="7479792" y="4297680"/>
            <a:ext cx="128016" cy="128016"/>
          </a:xfrm>
          <a:prstGeom prst="rect">
            <a:avLst/>
          </a:prstGeom>
        </p:spPr>
      </p:pic>
      <p:sp>
        <p:nvSpPr>
          <p:cNvPr id="83" name="Shape 56"/>
          <p:cNvSpPr/>
          <p:nvPr/>
        </p:nvSpPr>
        <p:spPr>
          <a:xfrm>
            <a:off x="7635240" y="3520440"/>
            <a:ext cx="1170432" cy="1691640"/>
          </a:xfrm>
          <a:prstGeom prst="roundRect">
            <a:avLst>
              <a:gd name="adj" fmla="val 7813"/>
            </a:avLst>
          </a:prstGeom>
          <a:solidFill>
            <a:srgbClr val="FCEAE5"/>
          </a:solidFill>
          <a:ln w="12700">
            <a:solidFill>
              <a:srgbClr val="FCEAE5"/>
            </a:solidFill>
            <a:prstDash val="solid"/>
          </a:ln>
        </p:spPr>
      </p:sp>
      <p:sp>
        <p:nvSpPr>
          <p:cNvPr id="84" name="Shape 57"/>
          <p:cNvSpPr/>
          <p:nvPr/>
        </p:nvSpPr>
        <p:spPr>
          <a:xfrm>
            <a:off x="7726680" y="3611880"/>
            <a:ext cx="310896" cy="310896"/>
          </a:xfrm>
          <a:prstGeom prst="ellipse">
            <a:avLst/>
          </a:prstGeom>
          <a:solidFill>
            <a:srgbClr val="E4572E"/>
          </a:solidFill>
          <a:ln w="12700">
            <a:solidFill>
              <a:srgbClr val="E4572E"/>
            </a:solidFill>
            <a:prstDash val="solid"/>
          </a:ln>
        </p:spPr>
      </p:sp>
      <p:sp>
        <p:nvSpPr>
          <p:cNvPr id="85" name="Text 58"/>
          <p:cNvSpPr txBox="1"/>
          <p:nvPr/>
        </p:nvSpPr>
        <p:spPr>
          <a:xfrm>
            <a:off x="7726680" y="36118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pic>
        <p:nvPicPr>
          <p:cNvPr id="86" name="Image 25" descr="preencoded.png">    </p:cNvPr>
          <p:cNvPicPr>
            <a:picLocks noChangeAspect="1"/>
          </p:cNvPicPr>
          <p:nvPr/>
        </p:nvPicPr>
        <p:blipFill>
          <a:blip r:embed="rId26"/>
          <a:stretch>
            <a:fillRect/>
          </a:stretch>
        </p:blipFill>
        <p:spPr>
          <a:xfrm>
            <a:off x="7991856" y="4023360"/>
            <a:ext cx="457200" cy="457200"/>
          </a:xfrm>
          <a:prstGeom prst="rect">
            <a:avLst/>
          </a:prstGeom>
        </p:spPr>
      </p:pic>
      <p:sp>
        <p:nvSpPr>
          <p:cNvPr id="87" name="Text 59"/>
          <p:cNvSpPr txBox="1"/>
          <p:nvPr/>
        </p:nvSpPr>
        <p:spPr>
          <a:xfrm>
            <a:off x="7708392" y="4572000"/>
            <a:ext cx="1024128" cy="548640"/>
          </a:xfrm>
          <a:prstGeom prst="rect">
            <a:avLst/>
          </a:prstGeom>
          <a:noFill/>
          <a:ln/>
        </p:spPr>
        <p:txBody>
          <a:bodyPr wrap="square" lIns="0" tIns="0" rIns="0" bIns="0" rtlCol="0" anchor="t"/>
          <a:lstStyle/>
          <a:p>
            <a:pPr algn="ctr" indent="0" marL="0">
              <a:buNone/>
            </a:pPr>
            <a:r>
              <a:rPr lang="en-US" sz="1150" b="1" dirty="0">
                <a:solidFill>
                  <a:srgbClr val="1F2430"/>
                </a:solidFill>
                <a:latin typeface="Calibri" pitchFamily="34" charset="0"/>
                <a:ea typeface="Calibri" pitchFamily="34" charset="-122"/>
                <a:cs typeface="Calibri" pitchFamily="34" charset="-120"/>
              </a:rPr>
              <a:t>Votes</a:t>
            </a:r>
            <a:endParaRPr lang="en-US" sz="1150" dirty="0"/>
          </a:p>
        </p:txBody>
      </p:sp>
      <p:pic>
        <p:nvPicPr>
          <p:cNvPr id="88" name="Image 26" descr="preencoded.png">    </p:cNvPr>
          <p:cNvPicPr>
            <a:picLocks noChangeAspect="1"/>
          </p:cNvPicPr>
          <p:nvPr/>
        </p:nvPicPr>
        <p:blipFill>
          <a:blip r:embed="rId27"/>
          <a:stretch>
            <a:fillRect/>
          </a:stretch>
        </p:blipFill>
        <p:spPr>
          <a:xfrm>
            <a:off x="8897112" y="4297680"/>
            <a:ext cx="128016" cy="128016"/>
          </a:xfrm>
          <a:prstGeom prst="rect">
            <a:avLst/>
          </a:prstGeom>
        </p:spPr>
      </p:pic>
      <p:sp>
        <p:nvSpPr>
          <p:cNvPr id="89" name="Shape 60"/>
          <p:cNvSpPr/>
          <p:nvPr/>
        </p:nvSpPr>
        <p:spPr>
          <a:xfrm>
            <a:off x="9052560" y="3520440"/>
            <a:ext cx="1170432" cy="1691640"/>
          </a:xfrm>
          <a:prstGeom prst="roundRect">
            <a:avLst>
              <a:gd name="adj" fmla="val 7813"/>
            </a:avLst>
          </a:prstGeom>
          <a:solidFill>
            <a:srgbClr val="FCEAE5"/>
          </a:solidFill>
          <a:ln w="12700">
            <a:solidFill>
              <a:srgbClr val="FCEAE5"/>
            </a:solidFill>
            <a:prstDash val="solid"/>
          </a:ln>
        </p:spPr>
      </p:sp>
      <p:sp>
        <p:nvSpPr>
          <p:cNvPr id="90" name="Shape 61"/>
          <p:cNvSpPr/>
          <p:nvPr/>
        </p:nvSpPr>
        <p:spPr>
          <a:xfrm>
            <a:off x="9144000" y="3611880"/>
            <a:ext cx="310896" cy="310896"/>
          </a:xfrm>
          <a:prstGeom prst="ellipse">
            <a:avLst/>
          </a:prstGeom>
          <a:solidFill>
            <a:srgbClr val="E4572E"/>
          </a:solidFill>
          <a:ln w="12700">
            <a:solidFill>
              <a:srgbClr val="E4572E"/>
            </a:solidFill>
            <a:prstDash val="solid"/>
          </a:ln>
        </p:spPr>
      </p:sp>
      <p:sp>
        <p:nvSpPr>
          <p:cNvPr id="91" name="Text 62"/>
          <p:cNvSpPr txBox="1"/>
          <p:nvPr/>
        </p:nvSpPr>
        <p:spPr>
          <a:xfrm>
            <a:off x="9144000" y="36118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a:t>
            </a:r>
            <a:endParaRPr lang="en-US" sz="1100" dirty="0"/>
          </a:p>
        </p:txBody>
      </p:sp>
      <p:pic>
        <p:nvPicPr>
          <p:cNvPr id="92" name="Image 27" descr="preencoded.png">    </p:cNvPr>
          <p:cNvPicPr>
            <a:picLocks noChangeAspect="1"/>
          </p:cNvPicPr>
          <p:nvPr/>
        </p:nvPicPr>
        <p:blipFill>
          <a:blip r:embed="rId28"/>
          <a:stretch>
            <a:fillRect/>
          </a:stretch>
        </p:blipFill>
        <p:spPr>
          <a:xfrm>
            <a:off x="9409176" y="4023360"/>
            <a:ext cx="457200" cy="457200"/>
          </a:xfrm>
          <a:prstGeom prst="rect">
            <a:avLst/>
          </a:prstGeom>
        </p:spPr>
      </p:pic>
      <p:sp>
        <p:nvSpPr>
          <p:cNvPr id="93" name="Text 63"/>
          <p:cNvSpPr txBox="1"/>
          <p:nvPr/>
        </p:nvSpPr>
        <p:spPr>
          <a:xfrm>
            <a:off x="9125712" y="4572000"/>
            <a:ext cx="1024128" cy="548640"/>
          </a:xfrm>
          <a:prstGeom prst="rect">
            <a:avLst/>
          </a:prstGeom>
          <a:noFill/>
          <a:ln/>
        </p:spPr>
        <p:txBody>
          <a:bodyPr wrap="square" lIns="0" tIns="0" rIns="0" bIns="0" rtlCol="0" anchor="t"/>
          <a:lstStyle/>
          <a:p>
            <a:pPr algn="ctr" indent="0" marL="0">
              <a:buNone/>
            </a:pPr>
            <a:r>
              <a:rPr lang="en-US" sz="1150" b="1" dirty="0">
                <a:solidFill>
                  <a:srgbClr val="1F2430"/>
                </a:solidFill>
                <a:latin typeface="Calibri" pitchFamily="34" charset="0"/>
                <a:ea typeface="Calibri" pitchFamily="34" charset="-122"/>
                <a:cs typeface="Calibri" pitchFamily="34" charset="-120"/>
              </a:rPr>
              <a:t>Price vs Services</a:t>
            </a:r>
            <a:endParaRPr lang="en-US" sz="1150" dirty="0"/>
          </a:p>
        </p:txBody>
      </p:sp>
      <p:pic>
        <p:nvPicPr>
          <p:cNvPr id="94" name="Image 28" descr="preencoded.png">    </p:cNvPr>
          <p:cNvPicPr>
            <a:picLocks noChangeAspect="1"/>
          </p:cNvPicPr>
          <p:nvPr/>
        </p:nvPicPr>
        <p:blipFill>
          <a:blip r:embed="rId29"/>
          <a:stretch>
            <a:fillRect/>
          </a:stretch>
        </p:blipFill>
        <p:spPr>
          <a:xfrm>
            <a:off x="10314432" y="4297680"/>
            <a:ext cx="128016" cy="128016"/>
          </a:xfrm>
          <a:prstGeom prst="rect">
            <a:avLst/>
          </a:prstGeom>
        </p:spPr>
      </p:pic>
      <p:sp>
        <p:nvSpPr>
          <p:cNvPr id="95" name="Shape 64"/>
          <p:cNvSpPr/>
          <p:nvPr/>
        </p:nvSpPr>
        <p:spPr>
          <a:xfrm>
            <a:off x="10469880" y="3520440"/>
            <a:ext cx="1170432" cy="1691640"/>
          </a:xfrm>
          <a:prstGeom prst="roundRect">
            <a:avLst>
              <a:gd name="adj" fmla="val 7813"/>
            </a:avLst>
          </a:prstGeom>
          <a:solidFill>
            <a:srgbClr val="1B1F2A"/>
          </a:solidFill>
          <a:ln w="12700">
            <a:solidFill>
              <a:srgbClr val="1B1F2A"/>
            </a:solidFill>
            <a:prstDash val="solid"/>
          </a:ln>
        </p:spPr>
      </p:sp>
      <p:sp>
        <p:nvSpPr>
          <p:cNvPr id="96" name="Shape 65"/>
          <p:cNvSpPr/>
          <p:nvPr/>
        </p:nvSpPr>
        <p:spPr>
          <a:xfrm>
            <a:off x="10561320" y="3611880"/>
            <a:ext cx="310896" cy="310896"/>
          </a:xfrm>
          <a:prstGeom prst="ellipse">
            <a:avLst/>
          </a:prstGeom>
          <a:solidFill>
            <a:srgbClr val="F2B134"/>
          </a:solidFill>
          <a:ln w="12700">
            <a:solidFill>
              <a:srgbClr val="F2B134"/>
            </a:solidFill>
            <a:prstDash val="solid"/>
          </a:ln>
        </p:spPr>
      </p:sp>
      <p:sp>
        <p:nvSpPr>
          <p:cNvPr id="97" name="Text 66"/>
          <p:cNvSpPr txBox="1"/>
          <p:nvPr/>
        </p:nvSpPr>
        <p:spPr>
          <a:xfrm>
            <a:off x="10561320" y="3611880"/>
            <a:ext cx="310896" cy="310896"/>
          </a:xfrm>
          <a:prstGeom prst="rect">
            <a:avLst/>
          </a:prstGeom>
          <a:noFill/>
          <a:ln/>
        </p:spPr>
        <p:txBody>
          <a:bodyPr wrap="square" lIns="0" tIns="0" rIns="0" bIns="0" rtlCol="0" anchor="ctr"/>
          <a:lstStyle/>
          <a:p>
            <a:pPr algn="ctr" indent="0" marL="0">
              <a:buNone/>
            </a:pPr>
            <a:r>
              <a:rPr lang="en-US" sz="1100" b="1" dirty="0">
                <a:solidFill>
                  <a:srgbClr val="1B1F2A"/>
                </a:solidFill>
                <a:latin typeface="Calibri" pitchFamily="34" charset="0"/>
                <a:ea typeface="Calibri" pitchFamily="34" charset="-122"/>
                <a:cs typeface="Calibri" pitchFamily="34" charset="-120"/>
              </a:rPr>
              <a:t>16</a:t>
            </a:r>
            <a:endParaRPr lang="en-US" sz="1100" dirty="0"/>
          </a:p>
        </p:txBody>
      </p:sp>
      <p:pic>
        <p:nvPicPr>
          <p:cNvPr id="98" name="Image 29" descr="preencoded.png">    </p:cNvPr>
          <p:cNvPicPr>
            <a:picLocks noChangeAspect="1"/>
          </p:cNvPicPr>
          <p:nvPr/>
        </p:nvPicPr>
        <p:blipFill>
          <a:blip r:embed="rId30"/>
          <a:stretch>
            <a:fillRect/>
          </a:stretch>
        </p:blipFill>
        <p:spPr>
          <a:xfrm>
            <a:off x="10826496" y="4023360"/>
            <a:ext cx="457200" cy="457200"/>
          </a:xfrm>
          <a:prstGeom prst="rect">
            <a:avLst/>
          </a:prstGeom>
        </p:spPr>
      </p:pic>
      <p:sp>
        <p:nvSpPr>
          <p:cNvPr id="99" name="Text 67"/>
          <p:cNvSpPr txBox="1"/>
          <p:nvPr/>
        </p:nvSpPr>
        <p:spPr>
          <a:xfrm>
            <a:off x="10543032" y="4572000"/>
            <a:ext cx="1024128" cy="548640"/>
          </a:xfrm>
          <a:prstGeom prst="rect">
            <a:avLst/>
          </a:prstGeom>
          <a:noFill/>
          <a:ln/>
        </p:spPr>
        <p:txBody>
          <a:bodyPr wrap="square" lIns="0" tIns="0" rIns="0" bIns="0"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Insights &amp; Findings</a:t>
            </a:r>
            <a:endParaRPr lang="en-US" sz="1150" dirty="0"/>
          </a:p>
        </p:txBody>
      </p:sp>
      <p:sp>
        <p:nvSpPr>
          <p:cNvPr id="100" name="Shape 68"/>
          <p:cNvSpPr/>
          <p:nvPr/>
        </p:nvSpPr>
        <p:spPr>
          <a:xfrm>
            <a:off x="3017520" y="5669280"/>
            <a:ext cx="146304" cy="146304"/>
          </a:xfrm>
          <a:prstGeom prst="ellipse">
            <a:avLst/>
          </a:prstGeom>
          <a:solidFill>
            <a:srgbClr val="1B1F2A"/>
          </a:solidFill>
          <a:ln w="12700">
            <a:solidFill>
              <a:srgbClr val="1B1F2A"/>
            </a:solidFill>
            <a:prstDash val="solid"/>
          </a:ln>
        </p:spPr>
      </p:sp>
      <p:sp>
        <p:nvSpPr>
          <p:cNvPr id="101" name="Text 69"/>
          <p:cNvSpPr txBox="1"/>
          <p:nvPr/>
        </p:nvSpPr>
        <p:spPr>
          <a:xfrm>
            <a:off x="3246120" y="5623560"/>
            <a:ext cx="1005840" cy="237744"/>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Foundation</a:t>
            </a:r>
            <a:endParaRPr lang="en-US" sz="1200" dirty="0"/>
          </a:p>
        </p:txBody>
      </p:sp>
      <p:sp>
        <p:nvSpPr>
          <p:cNvPr id="102" name="Shape 70"/>
          <p:cNvSpPr/>
          <p:nvPr/>
        </p:nvSpPr>
        <p:spPr>
          <a:xfrm>
            <a:off x="4389120" y="5669280"/>
            <a:ext cx="146304" cy="146304"/>
          </a:xfrm>
          <a:prstGeom prst="ellipse">
            <a:avLst/>
          </a:prstGeom>
          <a:solidFill>
            <a:srgbClr val="1F8A8A"/>
          </a:solidFill>
          <a:ln w="12700">
            <a:solidFill>
              <a:srgbClr val="1F8A8A"/>
            </a:solidFill>
            <a:prstDash val="solid"/>
          </a:ln>
        </p:spPr>
      </p:sp>
      <p:sp>
        <p:nvSpPr>
          <p:cNvPr id="103" name="Text 71"/>
          <p:cNvSpPr txBox="1"/>
          <p:nvPr/>
        </p:nvSpPr>
        <p:spPr>
          <a:xfrm>
            <a:off x="4617720" y="5623560"/>
            <a:ext cx="1005840" cy="237744"/>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Level 1</a:t>
            </a:r>
            <a:endParaRPr lang="en-US" sz="1200" dirty="0"/>
          </a:p>
        </p:txBody>
      </p:sp>
      <p:sp>
        <p:nvSpPr>
          <p:cNvPr id="104" name="Shape 72"/>
          <p:cNvSpPr/>
          <p:nvPr/>
        </p:nvSpPr>
        <p:spPr>
          <a:xfrm>
            <a:off x="5760720" y="5669280"/>
            <a:ext cx="146304" cy="146304"/>
          </a:xfrm>
          <a:prstGeom prst="ellipse">
            <a:avLst/>
          </a:prstGeom>
          <a:solidFill>
            <a:srgbClr val="C98A0B"/>
          </a:solidFill>
          <a:ln w="12700">
            <a:solidFill>
              <a:srgbClr val="C98A0B"/>
            </a:solidFill>
            <a:prstDash val="solid"/>
          </a:ln>
        </p:spPr>
      </p:sp>
      <p:sp>
        <p:nvSpPr>
          <p:cNvPr id="105" name="Text 73"/>
          <p:cNvSpPr txBox="1"/>
          <p:nvPr/>
        </p:nvSpPr>
        <p:spPr>
          <a:xfrm>
            <a:off x="5989320" y="5623560"/>
            <a:ext cx="1005840" cy="237744"/>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Level 2</a:t>
            </a:r>
            <a:endParaRPr lang="en-US" sz="1200" dirty="0"/>
          </a:p>
        </p:txBody>
      </p:sp>
      <p:sp>
        <p:nvSpPr>
          <p:cNvPr id="106" name="Shape 74"/>
          <p:cNvSpPr/>
          <p:nvPr/>
        </p:nvSpPr>
        <p:spPr>
          <a:xfrm>
            <a:off x="7132320" y="5669280"/>
            <a:ext cx="146304" cy="146304"/>
          </a:xfrm>
          <a:prstGeom prst="ellipse">
            <a:avLst/>
          </a:prstGeom>
          <a:solidFill>
            <a:srgbClr val="E4572E"/>
          </a:solidFill>
          <a:ln w="12700">
            <a:solidFill>
              <a:srgbClr val="E4572E"/>
            </a:solidFill>
            <a:prstDash val="solid"/>
          </a:ln>
        </p:spPr>
      </p:sp>
      <p:sp>
        <p:nvSpPr>
          <p:cNvPr id="107" name="Text 75"/>
          <p:cNvSpPr txBox="1"/>
          <p:nvPr/>
        </p:nvSpPr>
        <p:spPr>
          <a:xfrm>
            <a:off x="7360920" y="5623560"/>
            <a:ext cx="1005840" cy="237744"/>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Level 3</a:t>
            </a:r>
            <a:endParaRPr lang="en-US" sz="1200" dirty="0"/>
          </a:p>
        </p:txBody>
      </p:sp>
      <p:sp>
        <p:nvSpPr>
          <p:cNvPr id="108" name="Shape 76"/>
          <p:cNvSpPr/>
          <p:nvPr/>
        </p:nvSpPr>
        <p:spPr>
          <a:xfrm>
            <a:off x="8503920" y="5669280"/>
            <a:ext cx="146304" cy="146304"/>
          </a:xfrm>
          <a:prstGeom prst="ellipse">
            <a:avLst/>
          </a:prstGeom>
          <a:solidFill>
            <a:srgbClr val="F2B134"/>
          </a:solidFill>
          <a:ln w="12700">
            <a:solidFill>
              <a:srgbClr val="F2B134"/>
            </a:solidFill>
            <a:prstDash val="solid"/>
          </a:ln>
        </p:spPr>
      </p:sp>
      <p:sp>
        <p:nvSpPr>
          <p:cNvPr id="109" name="Text 77"/>
          <p:cNvSpPr txBox="1"/>
          <p:nvPr/>
        </p:nvSpPr>
        <p:spPr>
          <a:xfrm>
            <a:off x="8732520" y="5623560"/>
            <a:ext cx="1005840" cy="237744"/>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Insights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300" kern="0" dirty="0">
                <a:solidFill>
                  <a:srgbClr val="E4572E"/>
                </a:solidFill>
                <a:latin typeface="Calibri" pitchFamily="34" charset="0"/>
                <a:ea typeface="Calibri" pitchFamily="34" charset="-122"/>
                <a:cs typeface="Calibri" pitchFamily="34" charset="-120"/>
              </a:rPr>
              <a:t>FOUNDATION</a:t>
            </a:r>
            <a:endParaRPr lang="en-US" sz="1200" dirty="0"/>
          </a:p>
        </p:txBody>
      </p:sp>
      <p:sp>
        <p:nvSpPr>
          <p:cNvPr id="3" name="Text 1"/>
          <p:cNvSpPr txBox="1"/>
          <p:nvPr/>
        </p:nvSpPr>
        <p:spPr>
          <a:xfrm>
            <a:off x="548640" y="621792"/>
            <a:ext cx="10972800" cy="594360"/>
          </a:xfrm>
          <a:prstGeom prst="rect">
            <a:avLst/>
          </a:prstGeom>
          <a:noFill/>
          <a:ln/>
        </p:spPr>
        <p:txBody>
          <a:bodyPr wrap="square" lIns="0" tIns="0" rIns="0" bIns="0" rtlCol="0" anchor="t"/>
          <a:lstStyle/>
          <a:p>
            <a:pPr indent="0" marL="0">
              <a:buNone/>
            </a:pPr>
            <a:r>
              <a:rPr lang="en-US" sz="3000" b="1" dirty="0">
                <a:solidFill>
                  <a:srgbClr val="1B1F2A"/>
                </a:solidFill>
                <a:latin typeface="Cambria" pitchFamily="34" charset="0"/>
                <a:ea typeface="Cambria" pitchFamily="34" charset="-122"/>
                <a:cs typeface="Cambria" pitchFamily="34" charset="-120"/>
              </a:rPr>
              <a:t>Data Understanding &amp; Data Cleaning</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Restaurant Data Analysis  |  Vikash Rao</a:t>
            </a:r>
            <a:endParaRPr lang="en-US" sz="1000" dirty="0"/>
          </a:p>
        </p:txBody>
      </p:sp>
      <p:sp>
        <p:nvSpPr>
          <p:cNvPr id="5" name="Text 3"/>
          <p:cNvSpPr txBox="1"/>
          <p:nvPr/>
        </p:nvSpPr>
        <p:spPr>
          <a:xfrm>
            <a:off x="11155680" y="6446520"/>
            <a:ext cx="4846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417320"/>
            <a:ext cx="5468112" cy="2880360"/>
          </a:xfrm>
          <a:prstGeom prst="roundRect">
            <a:avLst>
              <a:gd name="adj" fmla="val 3175"/>
            </a:avLst>
          </a:prstGeom>
          <a:solidFill>
            <a:srgbClr val="F4F6F8"/>
          </a:solidFill>
          <a:ln w="12700">
            <a:solidFill>
              <a:srgbClr val="F4F6F8"/>
            </a:solidFill>
            <a:prstDash val="solid"/>
          </a:ln>
        </p:spPr>
      </p:sp>
      <p:sp>
        <p:nvSpPr>
          <p:cNvPr id="7" name="Shape 5"/>
          <p:cNvSpPr/>
          <p:nvPr/>
        </p:nvSpPr>
        <p:spPr>
          <a:xfrm>
            <a:off x="822960" y="1627632"/>
            <a:ext cx="420624" cy="420624"/>
          </a:xfrm>
          <a:prstGeom prst="ellipse">
            <a:avLst/>
          </a:prstGeom>
          <a:solidFill>
            <a:srgbClr val="1F8A8A"/>
          </a:solidFill>
          <a:ln w="12700">
            <a:solidFill>
              <a:srgbClr val="1F8A8A"/>
            </a:solidFill>
            <a:prstDash val="solid"/>
          </a:ln>
        </p:spPr>
      </p:sp>
      <p:pic>
        <p:nvPicPr>
          <p:cNvPr id="8" name="Image 0" descr="preencoded.png">    </p:cNvPr>
          <p:cNvPicPr>
            <a:picLocks noChangeAspect="1"/>
          </p:cNvPicPr>
          <p:nvPr/>
        </p:nvPicPr>
        <p:blipFill>
          <a:blip r:embed="rId1"/>
          <a:stretch>
            <a:fillRect/>
          </a:stretch>
        </p:blipFill>
        <p:spPr>
          <a:xfrm>
            <a:off x="928116" y="1732788"/>
            <a:ext cx="210312" cy="210312"/>
          </a:xfrm>
          <a:prstGeom prst="rect">
            <a:avLst/>
          </a:prstGeom>
        </p:spPr>
      </p:pic>
      <p:sp>
        <p:nvSpPr>
          <p:cNvPr id="9" name="Text 6"/>
          <p:cNvSpPr txBox="1"/>
          <p:nvPr/>
        </p:nvSpPr>
        <p:spPr>
          <a:xfrm>
            <a:off x="1371600" y="1627632"/>
            <a:ext cx="4114800" cy="420624"/>
          </a:xfrm>
          <a:prstGeom prst="rect">
            <a:avLst/>
          </a:prstGeom>
          <a:noFill/>
          <a:ln/>
        </p:spPr>
        <p:txBody>
          <a:bodyPr wrap="square" lIns="0" tIns="0" rIns="0" bIns="0" rtlCol="0" anchor="ctr"/>
          <a:lstStyle/>
          <a:p>
            <a:pPr indent="0" marL="0">
              <a:buNone/>
            </a:pPr>
            <a:r>
              <a:rPr lang="en-US" sz="2000" b="1" dirty="0">
                <a:solidFill>
                  <a:srgbClr val="1B1F2A"/>
                </a:solidFill>
                <a:latin typeface="Cambria" pitchFamily="34" charset="0"/>
                <a:ea typeface="Cambria" pitchFamily="34" charset="-122"/>
                <a:cs typeface="Cambria" pitchFamily="34" charset="-120"/>
              </a:rPr>
              <a:t>Data Understanding</a:t>
            </a:r>
            <a:endParaRPr lang="en-US" sz="2000" dirty="0"/>
          </a:p>
        </p:txBody>
      </p:sp>
      <p:sp>
        <p:nvSpPr>
          <p:cNvPr id="10" name="Text 7"/>
          <p:cNvSpPr txBox="1"/>
          <p:nvPr/>
        </p:nvSpPr>
        <p:spPr>
          <a:xfrm>
            <a:off x="868680" y="2240280"/>
            <a:ext cx="4846320" cy="19659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2430"/>
                </a:solidFill>
                <a:latin typeface="Calibri" pitchFamily="34" charset="0"/>
                <a:ea typeface="Calibri" pitchFamily="34" charset="-122"/>
                <a:cs typeface="Calibri" pitchFamily="34" charset="-120"/>
              </a:rPr>
              <a:t>Checked dataset dimensions: 9,551 rows × 21 columns</a:t>
            </a:r>
            <a:endParaRPr lang="en-US" sz="1400" dirty="0"/>
          </a:p>
          <a:p>
            <a:pPr marL="342900" indent="-342900">
              <a:spcAft>
                <a:spcPts val="500"/>
              </a:spcAft>
              <a:buSzPct val="100000"/>
              <a:buChar char="•"/>
            </a:pPr>
            <a:r>
              <a:rPr lang="en-US" sz="1400" dirty="0">
                <a:solidFill>
                  <a:srgbClr val="1F2430"/>
                </a:solidFill>
                <a:latin typeface="Calibri" pitchFamily="34" charset="0"/>
                <a:ea typeface="Calibri" pitchFamily="34" charset="-122"/>
                <a:cs typeface="Calibri" pitchFamily="34" charset="-120"/>
              </a:rPr>
              <a:t>Examined columns and data types</a:t>
            </a:r>
            <a:endParaRPr lang="en-US" sz="1400" dirty="0"/>
          </a:p>
          <a:p>
            <a:pPr marL="342900" indent="-342900">
              <a:spcAft>
                <a:spcPts val="500"/>
              </a:spcAft>
              <a:buSzPct val="100000"/>
              <a:buChar char="•"/>
            </a:pPr>
            <a:r>
              <a:rPr lang="en-US" sz="1400" dirty="0">
                <a:solidFill>
                  <a:srgbClr val="1F2430"/>
                </a:solidFill>
                <a:latin typeface="Calibri" pitchFamily="34" charset="0"/>
                <a:ea typeface="Calibri" pitchFamily="34" charset="-122"/>
                <a:cs typeface="Calibri" pitchFamily="34" charset="-120"/>
              </a:rPr>
              <a:t>Checked missing values and duplicate records</a:t>
            </a:r>
            <a:endParaRPr lang="en-US" sz="1400" dirty="0"/>
          </a:p>
          <a:p>
            <a:pPr marL="342900" indent="-342900">
              <a:spcAft>
                <a:spcPts val="500"/>
              </a:spcAft>
              <a:buSzPct val="100000"/>
              <a:buChar char="•"/>
            </a:pPr>
            <a:r>
              <a:rPr lang="en-US" sz="1400" dirty="0">
                <a:solidFill>
                  <a:srgbClr val="1F2430"/>
                </a:solidFill>
                <a:latin typeface="Calibri" pitchFamily="34" charset="0"/>
                <a:ea typeface="Calibri" pitchFamily="34" charset="-122"/>
                <a:cs typeface="Calibri" pitchFamily="34" charset="-120"/>
              </a:rPr>
              <a:t>Reviewed numerical and categorical columns</a:t>
            </a:r>
            <a:endParaRPr lang="en-US" sz="1400" dirty="0"/>
          </a:p>
          <a:p>
            <a:pPr marL="342900" indent="-342900">
              <a:spcAft>
                <a:spcPts val="500"/>
              </a:spcAft>
              <a:buSzPct val="100000"/>
              <a:buChar char="•"/>
            </a:pPr>
            <a:r>
              <a:rPr lang="en-US" sz="1400" dirty="0">
                <a:solidFill>
                  <a:srgbClr val="1F2430"/>
                </a:solidFill>
                <a:latin typeface="Calibri" pitchFamily="34" charset="0"/>
                <a:ea typeface="Calibri" pitchFamily="34" charset="-122"/>
                <a:cs typeface="Calibri" pitchFamily="34" charset="-120"/>
              </a:rPr>
              <a:t>Generated descriptive statistics</a:t>
            </a:r>
            <a:endParaRPr lang="en-US" sz="1400" dirty="0"/>
          </a:p>
        </p:txBody>
      </p:sp>
      <p:sp>
        <p:nvSpPr>
          <p:cNvPr id="11" name="Shape 8"/>
          <p:cNvSpPr/>
          <p:nvPr/>
        </p:nvSpPr>
        <p:spPr>
          <a:xfrm>
            <a:off x="6172200" y="1417320"/>
            <a:ext cx="5468112" cy="2880360"/>
          </a:xfrm>
          <a:prstGeom prst="roundRect">
            <a:avLst>
              <a:gd name="adj" fmla="val 3175"/>
            </a:avLst>
          </a:prstGeom>
          <a:solidFill>
            <a:srgbClr val="F4F6F8"/>
          </a:solidFill>
          <a:ln w="12700">
            <a:solidFill>
              <a:srgbClr val="F4F6F8"/>
            </a:solidFill>
            <a:prstDash val="solid"/>
          </a:ln>
        </p:spPr>
      </p:sp>
      <p:sp>
        <p:nvSpPr>
          <p:cNvPr id="12" name="Shape 9"/>
          <p:cNvSpPr/>
          <p:nvPr/>
        </p:nvSpPr>
        <p:spPr>
          <a:xfrm>
            <a:off x="6446520" y="1627632"/>
            <a:ext cx="420624" cy="420624"/>
          </a:xfrm>
          <a:prstGeom prst="ellipse">
            <a:avLst/>
          </a:prstGeom>
          <a:solidFill>
            <a:srgbClr val="E4572E"/>
          </a:solidFill>
          <a:ln w="12700">
            <a:solidFill>
              <a:srgbClr val="E4572E"/>
            </a:solidFill>
            <a:prstDash val="solid"/>
          </a:ln>
        </p:spPr>
      </p:sp>
      <p:pic>
        <p:nvPicPr>
          <p:cNvPr id="13" name="Image 1" descr="preencoded.png">    </p:cNvPr>
          <p:cNvPicPr>
            <a:picLocks noChangeAspect="1"/>
          </p:cNvPicPr>
          <p:nvPr/>
        </p:nvPicPr>
        <p:blipFill>
          <a:blip r:embed="rId2"/>
          <a:stretch>
            <a:fillRect/>
          </a:stretch>
        </p:blipFill>
        <p:spPr>
          <a:xfrm>
            <a:off x="6551676" y="1732788"/>
            <a:ext cx="210312" cy="210312"/>
          </a:xfrm>
          <a:prstGeom prst="rect">
            <a:avLst/>
          </a:prstGeom>
        </p:spPr>
      </p:pic>
      <p:sp>
        <p:nvSpPr>
          <p:cNvPr id="14" name="Text 10"/>
          <p:cNvSpPr txBox="1"/>
          <p:nvPr/>
        </p:nvSpPr>
        <p:spPr>
          <a:xfrm>
            <a:off x="6995160" y="1627632"/>
            <a:ext cx="4114800" cy="420624"/>
          </a:xfrm>
          <a:prstGeom prst="rect">
            <a:avLst/>
          </a:prstGeom>
          <a:noFill/>
          <a:ln/>
        </p:spPr>
        <p:txBody>
          <a:bodyPr wrap="square" lIns="0" tIns="0" rIns="0" bIns="0" rtlCol="0" anchor="ctr"/>
          <a:lstStyle/>
          <a:p>
            <a:pPr indent="0" marL="0">
              <a:buNone/>
            </a:pPr>
            <a:r>
              <a:rPr lang="en-US" sz="2000" b="1" dirty="0">
                <a:solidFill>
                  <a:srgbClr val="1B1F2A"/>
                </a:solidFill>
                <a:latin typeface="Cambria" pitchFamily="34" charset="0"/>
                <a:ea typeface="Cambria" pitchFamily="34" charset="-122"/>
                <a:cs typeface="Cambria" pitchFamily="34" charset="-120"/>
              </a:rPr>
              <a:t>Data Cleaning</a:t>
            </a:r>
            <a:endParaRPr lang="en-US" sz="2000" dirty="0"/>
          </a:p>
        </p:txBody>
      </p:sp>
      <p:sp>
        <p:nvSpPr>
          <p:cNvPr id="15" name="Text 11"/>
          <p:cNvSpPr txBox="1"/>
          <p:nvPr/>
        </p:nvSpPr>
        <p:spPr>
          <a:xfrm>
            <a:off x="6492240" y="2240280"/>
            <a:ext cx="4846320" cy="19659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2430"/>
                </a:solidFill>
                <a:latin typeface="Calibri" pitchFamily="34" charset="0"/>
                <a:ea typeface="Calibri" pitchFamily="34" charset="-122"/>
                <a:cs typeface="Calibri" pitchFamily="34" charset="-120"/>
              </a:rPr>
              <a:t>Missing-value analysis (9 in Cuisines)</a:t>
            </a:r>
            <a:endParaRPr lang="en-US" sz="1400" dirty="0"/>
          </a:p>
          <a:p>
            <a:pPr marL="342900" indent="-342900">
              <a:spcAft>
                <a:spcPts val="500"/>
              </a:spcAft>
              <a:buSzPct val="100000"/>
              <a:buChar char="•"/>
            </a:pPr>
            <a:r>
              <a:rPr lang="en-US" sz="1400" dirty="0">
                <a:solidFill>
                  <a:srgbClr val="1F2430"/>
                </a:solidFill>
                <a:latin typeface="Calibri" pitchFamily="34" charset="0"/>
                <a:ea typeface="Calibri" pitchFamily="34" charset="-122"/>
                <a:cs typeface="Calibri" pitchFamily="34" charset="-120"/>
              </a:rPr>
              <a:t>Duplicate checking (0 found)</a:t>
            </a:r>
            <a:endParaRPr lang="en-US" sz="1400" dirty="0"/>
          </a:p>
          <a:p>
            <a:pPr marL="342900" indent="-342900">
              <a:spcAft>
                <a:spcPts val="500"/>
              </a:spcAft>
              <a:buSzPct val="100000"/>
              <a:buChar char="•"/>
            </a:pPr>
            <a:r>
              <a:rPr lang="en-US" sz="1400" dirty="0">
                <a:solidFill>
                  <a:srgbClr val="1F2430"/>
                </a:solidFill>
                <a:latin typeface="Calibri" pitchFamily="34" charset="0"/>
                <a:ea typeface="Calibri" pitchFamily="34" charset="-122"/>
                <a:cs typeface="Calibri" pitchFamily="34" charset="-120"/>
              </a:rPr>
              <a:t>Column-name standardization</a:t>
            </a:r>
            <a:endParaRPr lang="en-US" sz="1400" dirty="0"/>
          </a:p>
          <a:p>
            <a:pPr marL="342900" indent="-342900">
              <a:spcAft>
                <a:spcPts val="500"/>
              </a:spcAft>
              <a:buSzPct val="100000"/>
              <a:buChar char="•"/>
            </a:pPr>
            <a:r>
              <a:rPr lang="en-US" sz="1400" dirty="0">
                <a:solidFill>
                  <a:srgbClr val="1F2430"/>
                </a:solidFill>
                <a:latin typeface="Calibri" pitchFamily="34" charset="0"/>
                <a:ea typeface="Calibri" pitchFamily="34" charset="-122"/>
                <a:cs typeface="Calibri" pitchFamily="34" charset="-120"/>
              </a:rPr>
              <a:t>Text/category and numerical validation</a:t>
            </a:r>
            <a:endParaRPr lang="en-US" sz="1400" dirty="0"/>
          </a:p>
          <a:p>
            <a:pPr marL="342900" indent="-342900">
              <a:spcAft>
                <a:spcPts val="500"/>
              </a:spcAft>
              <a:buSzPct val="100000"/>
              <a:buChar char="•"/>
            </a:pPr>
            <a:r>
              <a:rPr lang="en-US" sz="1400" dirty="0">
                <a:solidFill>
                  <a:srgbClr val="1F2430"/>
                </a:solidFill>
                <a:latin typeface="Calibri" pitchFamily="34" charset="0"/>
                <a:ea typeface="Calibri" pitchFamily="34" charset="-122"/>
                <a:cs typeface="Calibri" pitchFamily="34" charset="-120"/>
              </a:rPr>
              <a:t>Rating and price-range checks</a:t>
            </a:r>
            <a:endParaRPr lang="en-US" sz="1400" dirty="0"/>
          </a:p>
          <a:p>
            <a:pPr marL="342900" indent="-342900">
              <a:spcAft>
                <a:spcPts val="500"/>
              </a:spcAft>
              <a:buSzPct val="100000"/>
              <a:buChar char="•"/>
            </a:pPr>
            <a:r>
              <a:rPr lang="en-US" sz="1400" dirty="0">
                <a:solidFill>
                  <a:srgbClr val="1F2430"/>
                </a:solidFill>
                <a:latin typeface="Calibri" pitchFamily="34" charset="0"/>
                <a:ea typeface="Calibri" pitchFamily="34" charset="-122"/>
                <a:cs typeface="Calibri" pitchFamily="34" charset="-120"/>
              </a:rPr>
              <a:t>Created the cleaned dataset</a:t>
            </a:r>
            <a:endParaRPr lang="en-US" sz="1400" dirty="0"/>
          </a:p>
        </p:txBody>
      </p:sp>
      <p:sp>
        <p:nvSpPr>
          <p:cNvPr id="16" name="Shape 12"/>
          <p:cNvSpPr/>
          <p:nvPr/>
        </p:nvSpPr>
        <p:spPr>
          <a:xfrm>
            <a:off x="548640" y="4572000"/>
            <a:ext cx="3227832" cy="1188720"/>
          </a:xfrm>
          <a:prstGeom prst="roundRect">
            <a:avLst>
              <a:gd name="adj" fmla="val 7692"/>
            </a:avLst>
          </a:prstGeom>
          <a:solidFill>
            <a:srgbClr val="E4F2F2"/>
          </a:solidFill>
          <a:ln w="12700">
            <a:solidFill>
              <a:srgbClr val="E4F2F2"/>
            </a:solidFill>
            <a:prstDash val="solid"/>
          </a:ln>
        </p:spPr>
      </p:sp>
      <p:sp>
        <p:nvSpPr>
          <p:cNvPr id="17" name="Shape 13"/>
          <p:cNvSpPr/>
          <p:nvPr/>
        </p:nvSpPr>
        <p:spPr>
          <a:xfrm>
            <a:off x="777240" y="4892040"/>
            <a:ext cx="548640" cy="548640"/>
          </a:xfrm>
          <a:prstGeom prst="ellipse">
            <a:avLst/>
          </a:prstGeom>
          <a:solidFill>
            <a:srgbClr val="1F8A8A"/>
          </a:solidFill>
          <a:ln w="12700">
            <a:solidFill>
              <a:srgbClr val="1F8A8A"/>
            </a:solidFill>
            <a:prstDash val="solid"/>
          </a:ln>
        </p:spPr>
      </p:sp>
      <p:pic>
        <p:nvPicPr>
          <p:cNvPr id="18" name="Image 2" descr="preencoded.png">    </p:cNvPr>
          <p:cNvPicPr>
            <a:picLocks noChangeAspect="1"/>
          </p:cNvPicPr>
          <p:nvPr/>
        </p:nvPicPr>
        <p:blipFill>
          <a:blip r:embed="rId3"/>
          <a:stretch>
            <a:fillRect/>
          </a:stretch>
        </p:blipFill>
        <p:spPr>
          <a:xfrm>
            <a:off x="914400" y="5029200"/>
            <a:ext cx="274320" cy="274320"/>
          </a:xfrm>
          <a:prstGeom prst="rect">
            <a:avLst/>
          </a:prstGeom>
        </p:spPr>
      </p:pic>
      <p:sp>
        <p:nvSpPr>
          <p:cNvPr id="19" name="Text 14"/>
          <p:cNvSpPr txBox="1"/>
          <p:nvPr/>
        </p:nvSpPr>
        <p:spPr>
          <a:xfrm>
            <a:off x="1508760" y="4846320"/>
            <a:ext cx="2194560" cy="320040"/>
          </a:xfrm>
          <a:prstGeom prst="rect">
            <a:avLst/>
          </a:prstGeom>
          <a:noFill/>
          <a:ln/>
        </p:spPr>
        <p:txBody>
          <a:bodyPr wrap="square" lIns="0" tIns="0" rIns="0" bIns="0" rtlCol="0" anchor="t"/>
          <a:lstStyle/>
          <a:p>
            <a:pPr indent="0" marL="0">
              <a:buNone/>
            </a:pPr>
            <a:r>
              <a:rPr lang="en-US" sz="1600" b="1" dirty="0">
                <a:solidFill>
                  <a:srgbClr val="1B1F2A"/>
                </a:solidFill>
                <a:latin typeface="Calibri" pitchFamily="34" charset="0"/>
                <a:ea typeface="Calibri" pitchFamily="34" charset="-122"/>
                <a:cs typeface="Calibri" pitchFamily="34" charset="-120"/>
              </a:rPr>
              <a:t>Raw Data</a:t>
            </a:r>
            <a:endParaRPr lang="en-US" sz="1600" dirty="0"/>
          </a:p>
        </p:txBody>
      </p:sp>
      <p:sp>
        <p:nvSpPr>
          <p:cNvPr id="20" name="Text 15"/>
          <p:cNvSpPr txBox="1"/>
          <p:nvPr/>
        </p:nvSpPr>
        <p:spPr>
          <a:xfrm>
            <a:off x="1508760" y="5212080"/>
            <a:ext cx="219456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9,551 × 21</a:t>
            </a:r>
            <a:endParaRPr lang="en-US" sz="1200" dirty="0"/>
          </a:p>
        </p:txBody>
      </p:sp>
      <p:pic>
        <p:nvPicPr>
          <p:cNvPr id="21" name="Image 3" descr="preencoded.png">    </p:cNvPr>
          <p:cNvPicPr>
            <a:picLocks noChangeAspect="1"/>
          </p:cNvPicPr>
          <p:nvPr/>
        </p:nvPicPr>
        <p:blipFill>
          <a:blip r:embed="rId4"/>
          <a:stretch>
            <a:fillRect/>
          </a:stretch>
        </p:blipFill>
        <p:spPr>
          <a:xfrm>
            <a:off x="3904488" y="5074920"/>
            <a:ext cx="201168" cy="201168"/>
          </a:xfrm>
          <a:prstGeom prst="rect">
            <a:avLst/>
          </a:prstGeom>
        </p:spPr>
      </p:pic>
      <p:sp>
        <p:nvSpPr>
          <p:cNvPr id="22" name="Shape 16"/>
          <p:cNvSpPr/>
          <p:nvPr/>
        </p:nvSpPr>
        <p:spPr>
          <a:xfrm>
            <a:off x="4480560" y="4572000"/>
            <a:ext cx="3227832" cy="1188720"/>
          </a:xfrm>
          <a:prstGeom prst="roundRect">
            <a:avLst>
              <a:gd name="adj" fmla="val 7692"/>
            </a:avLst>
          </a:prstGeom>
          <a:solidFill>
            <a:srgbClr val="E4F2F2"/>
          </a:solidFill>
          <a:ln w="12700">
            <a:solidFill>
              <a:srgbClr val="E4F2F2"/>
            </a:solidFill>
            <a:prstDash val="solid"/>
          </a:ln>
        </p:spPr>
      </p:sp>
      <p:sp>
        <p:nvSpPr>
          <p:cNvPr id="23" name="Shape 17"/>
          <p:cNvSpPr/>
          <p:nvPr/>
        </p:nvSpPr>
        <p:spPr>
          <a:xfrm>
            <a:off x="4709160" y="4892040"/>
            <a:ext cx="548640" cy="548640"/>
          </a:xfrm>
          <a:prstGeom prst="ellipse">
            <a:avLst/>
          </a:prstGeom>
          <a:solidFill>
            <a:srgbClr val="1F8A8A"/>
          </a:solidFill>
          <a:ln w="12700">
            <a:solidFill>
              <a:srgbClr val="1F8A8A"/>
            </a:solidFill>
            <a:prstDash val="solid"/>
          </a:ln>
        </p:spPr>
      </p:sp>
      <p:pic>
        <p:nvPicPr>
          <p:cNvPr id="24" name="Image 4" descr="preencoded.png">    </p:cNvPr>
          <p:cNvPicPr>
            <a:picLocks noChangeAspect="1"/>
          </p:cNvPicPr>
          <p:nvPr/>
        </p:nvPicPr>
        <p:blipFill>
          <a:blip r:embed="rId5"/>
          <a:stretch>
            <a:fillRect/>
          </a:stretch>
        </p:blipFill>
        <p:spPr>
          <a:xfrm>
            <a:off x="4846320" y="5029200"/>
            <a:ext cx="274320" cy="274320"/>
          </a:xfrm>
          <a:prstGeom prst="rect">
            <a:avLst/>
          </a:prstGeom>
        </p:spPr>
      </p:pic>
      <p:sp>
        <p:nvSpPr>
          <p:cNvPr id="25" name="Text 18"/>
          <p:cNvSpPr txBox="1"/>
          <p:nvPr/>
        </p:nvSpPr>
        <p:spPr>
          <a:xfrm>
            <a:off x="5440680" y="4846320"/>
            <a:ext cx="2194560" cy="320040"/>
          </a:xfrm>
          <a:prstGeom prst="rect">
            <a:avLst/>
          </a:prstGeom>
          <a:noFill/>
          <a:ln/>
        </p:spPr>
        <p:txBody>
          <a:bodyPr wrap="square" lIns="0" tIns="0" rIns="0" bIns="0" rtlCol="0" anchor="t"/>
          <a:lstStyle/>
          <a:p>
            <a:pPr indent="0" marL="0">
              <a:buNone/>
            </a:pPr>
            <a:r>
              <a:rPr lang="en-US" sz="1600" b="1" dirty="0">
                <a:solidFill>
                  <a:srgbClr val="1B1F2A"/>
                </a:solidFill>
                <a:latin typeface="Calibri" pitchFamily="34" charset="0"/>
                <a:ea typeface="Calibri" pitchFamily="34" charset="-122"/>
                <a:cs typeface="Calibri" pitchFamily="34" charset="-120"/>
              </a:rPr>
              <a:t>Quality Checks</a:t>
            </a:r>
            <a:endParaRPr lang="en-US" sz="1600" dirty="0"/>
          </a:p>
        </p:txBody>
      </p:sp>
      <p:sp>
        <p:nvSpPr>
          <p:cNvPr id="26" name="Text 19"/>
          <p:cNvSpPr txBox="1"/>
          <p:nvPr/>
        </p:nvSpPr>
        <p:spPr>
          <a:xfrm>
            <a:off x="5440680" y="5212080"/>
            <a:ext cx="219456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9 missing · 0 duplicates</a:t>
            </a:r>
            <a:endParaRPr lang="en-US" sz="1200" dirty="0"/>
          </a:p>
        </p:txBody>
      </p:sp>
      <p:pic>
        <p:nvPicPr>
          <p:cNvPr id="27" name="Image 5" descr="preencoded.png">    </p:cNvPr>
          <p:cNvPicPr>
            <a:picLocks noChangeAspect="1"/>
          </p:cNvPicPr>
          <p:nvPr/>
        </p:nvPicPr>
        <p:blipFill>
          <a:blip r:embed="rId6"/>
          <a:stretch>
            <a:fillRect/>
          </a:stretch>
        </p:blipFill>
        <p:spPr>
          <a:xfrm>
            <a:off x="7836408" y="5074920"/>
            <a:ext cx="201168" cy="201168"/>
          </a:xfrm>
          <a:prstGeom prst="rect">
            <a:avLst/>
          </a:prstGeom>
        </p:spPr>
      </p:pic>
      <p:sp>
        <p:nvSpPr>
          <p:cNvPr id="28" name="Shape 20"/>
          <p:cNvSpPr/>
          <p:nvPr/>
        </p:nvSpPr>
        <p:spPr>
          <a:xfrm>
            <a:off x="8412480" y="4572000"/>
            <a:ext cx="3227832" cy="1188720"/>
          </a:xfrm>
          <a:prstGeom prst="roundRect">
            <a:avLst>
              <a:gd name="adj" fmla="val 7692"/>
            </a:avLst>
          </a:prstGeom>
          <a:solidFill>
            <a:srgbClr val="1B1F2A"/>
          </a:solidFill>
          <a:ln w="12700">
            <a:solidFill>
              <a:srgbClr val="1B1F2A"/>
            </a:solidFill>
            <a:prstDash val="solid"/>
          </a:ln>
        </p:spPr>
      </p:sp>
      <p:sp>
        <p:nvSpPr>
          <p:cNvPr id="29" name="Shape 21"/>
          <p:cNvSpPr/>
          <p:nvPr/>
        </p:nvSpPr>
        <p:spPr>
          <a:xfrm>
            <a:off x="8641080" y="4892040"/>
            <a:ext cx="548640" cy="548640"/>
          </a:xfrm>
          <a:prstGeom prst="ellipse">
            <a:avLst/>
          </a:prstGeom>
          <a:solidFill>
            <a:srgbClr val="F2B134"/>
          </a:solidFill>
          <a:ln w="12700">
            <a:solidFill>
              <a:srgbClr val="F2B134"/>
            </a:solidFill>
            <a:prstDash val="solid"/>
          </a:ln>
        </p:spPr>
      </p:sp>
      <p:pic>
        <p:nvPicPr>
          <p:cNvPr id="30" name="Image 6" descr="preencoded.png">    </p:cNvPr>
          <p:cNvPicPr>
            <a:picLocks noChangeAspect="1"/>
          </p:cNvPicPr>
          <p:nvPr/>
        </p:nvPicPr>
        <p:blipFill>
          <a:blip r:embed="rId7"/>
          <a:stretch>
            <a:fillRect/>
          </a:stretch>
        </p:blipFill>
        <p:spPr>
          <a:xfrm>
            <a:off x="8778240" y="5029200"/>
            <a:ext cx="274320" cy="274320"/>
          </a:xfrm>
          <a:prstGeom prst="rect">
            <a:avLst/>
          </a:prstGeom>
        </p:spPr>
      </p:pic>
      <p:sp>
        <p:nvSpPr>
          <p:cNvPr id="31" name="Text 22"/>
          <p:cNvSpPr txBox="1"/>
          <p:nvPr/>
        </p:nvSpPr>
        <p:spPr>
          <a:xfrm>
            <a:off x="9372600" y="4846320"/>
            <a:ext cx="219456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Clean Dataset</a:t>
            </a:r>
            <a:endParaRPr lang="en-US" sz="1600" dirty="0"/>
          </a:p>
        </p:txBody>
      </p:sp>
      <p:sp>
        <p:nvSpPr>
          <p:cNvPr id="32" name="Text 23"/>
          <p:cNvSpPr txBox="1"/>
          <p:nvPr/>
        </p:nvSpPr>
        <p:spPr>
          <a:xfrm>
            <a:off x="9372600" y="5212080"/>
            <a:ext cx="2194560" cy="365760"/>
          </a:xfrm>
          <a:prstGeom prst="rect">
            <a:avLst/>
          </a:prstGeom>
          <a:noFill/>
          <a:ln/>
        </p:spPr>
        <p:txBody>
          <a:bodyPr wrap="square" lIns="0" tIns="0" rIns="0" bIns="0" rtlCol="0" anchor="t"/>
          <a:lstStyle/>
          <a:p>
            <a:pPr indent="0" marL="0">
              <a:buNone/>
            </a:pPr>
            <a:r>
              <a:rPr lang="en-US" sz="1200" dirty="0">
                <a:solidFill>
                  <a:srgbClr val="D5DAE3"/>
                </a:solidFill>
                <a:latin typeface="Courier New" pitchFamily="34" charset="0"/>
                <a:ea typeface="Courier New" pitchFamily="34" charset="-122"/>
                <a:cs typeface="Courier New" pitchFamily="34" charset="-120"/>
              </a:rPr>
              <a:t>restaurant_data_cleaned.csv</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300" kern="0" dirty="0">
                <a:solidFill>
                  <a:srgbClr val="E4572E"/>
                </a:solidFill>
                <a:latin typeface="Calibri" pitchFamily="34" charset="0"/>
                <a:ea typeface="Calibri" pitchFamily="34" charset="-122"/>
                <a:cs typeface="Calibri" pitchFamily="34" charset="-120"/>
              </a:rPr>
              <a:t>LEVEL 1</a:t>
            </a:r>
            <a:endParaRPr lang="en-US" sz="1200" dirty="0"/>
          </a:p>
        </p:txBody>
      </p:sp>
      <p:sp>
        <p:nvSpPr>
          <p:cNvPr id="3" name="Text 1"/>
          <p:cNvSpPr txBox="1"/>
          <p:nvPr/>
        </p:nvSpPr>
        <p:spPr>
          <a:xfrm>
            <a:off x="548640" y="621792"/>
            <a:ext cx="10972800" cy="594360"/>
          </a:xfrm>
          <a:prstGeom prst="rect">
            <a:avLst/>
          </a:prstGeom>
          <a:noFill/>
          <a:ln/>
        </p:spPr>
        <p:txBody>
          <a:bodyPr wrap="square" lIns="0" tIns="0" rIns="0" bIns="0" rtlCol="0" anchor="t"/>
          <a:lstStyle/>
          <a:p>
            <a:pPr indent="0" marL="0">
              <a:buNone/>
            </a:pPr>
            <a:r>
              <a:rPr lang="en-US" sz="3000" b="1" dirty="0">
                <a:solidFill>
                  <a:srgbClr val="1B1F2A"/>
                </a:solidFill>
                <a:latin typeface="Cambria" pitchFamily="34" charset="0"/>
                <a:ea typeface="Cambria" pitchFamily="34" charset="-122"/>
                <a:cs typeface="Cambria" pitchFamily="34" charset="-120"/>
              </a:rPr>
              <a:t>Level 1 — Basic Restaurant Analysis</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Restaurant Data Analysis  |  Vikash Rao</a:t>
            </a:r>
            <a:endParaRPr lang="en-US" sz="1000" dirty="0"/>
          </a:p>
        </p:txBody>
      </p:sp>
      <p:sp>
        <p:nvSpPr>
          <p:cNvPr id="5" name="Text 3"/>
          <p:cNvSpPr txBox="1"/>
          <p:nvPr/>
        </p:nvSpPr>
        <p:spPr>
          <a:xfrm>
            <a:off x="11155680" y="6446520"/>
            <a:ext cx="4846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48640" y="1417320"/>
            <a:ext cx="2601468" cy="4480560"/>
          </a:xfrm>
          <a:prstGeom prst="roundRect">
            <a:avLst>
              <a:gd name="adj" fmla="val 3515"/>
            </a:avLst>
          </a:prstGeom>
          <a:solidFill>
            <a:srgbClr val="F4F6F8"/>
          </a:solidFill>
          <a:ln w="12700">
            <a:solidFill>
              <a:srgbClr val="F4F6F8"/>
            </a:solidFill>
            <a:prstDash val="solid"/>
          </a:ln>
        </p:spPr>
      </p:sp>
      <p:sp>
        <p:nvSpPr>
          <p:cNvPr id="7" name="Text 5"/>
          <p:cNvSpPr txBox="1"/>
          <p:nvPr/>
        </p:nvSpPr>
        <p:spPr>
          <a:xfrm>
            <a:off x="731520" y="1581912"/>
            <a:ext cx="640080" cy="365760"/>
          </a:xfrm>
          <a:prstGeom prst="rect">
            <a:avLst/>
          </a:prstGeom>
          <a:noFill/>
          <a:ln/>
        </p:spPr>
        <p:txBody>
          <a:bodyPr wrap="square" lIns="0" tIns="0" rIns="0" bIns="0" rtlCol="0" anchor="t"/>
          <a:lstStyle/>
          <a:p>
            <a:pPr indent="0" marL="0">
              <a:buNone/>
            </a:pPr>
            <a:r>
              <a:rPr lang="en-US" sz="2400" b="1" dirty="0">
                <a:solidFill>
                  <a:srgbClr val="E4572E"/>
                </a:solidFill>
                <a:latin typeface="Cambria" pitchFamily="34" charset="0"/>
                <a:ea typeface="Cambria" pitchFamily="34" charset="-122"/>
                <a:cs typeface="Cambria" pitchFamily="34" charset="-120"/>
              </a:rPr>
              <a:t>01</a:t>
            </a:r>
            <a:endParaRPr lang="en-US" sz="2400" dirty="0"/>
          </a:p>
        </p:txBody>
      </p:sp>
      <p:sp>
        <p:nvSpPr>
          <p:cNvPr id="8" name="Text 6"/>
          <p:cNvSpPr txBox="1"/>
          <p:nvPr/>
        </p:nvSpPr>
        <p:spPr>
          <a:xfrm>
            <a:off x="1325880" y="1618488"/>
            <a:ext cx="1737360" cy="320040"/>
          </a:xfrm>
          <a:prstGeom prst="rect">
            <a:avLst/>
          </a:prstGeom>
          <a:noFill/>
          <a:ln/>
        </p:spPr>
        <p:txBody>
          <a:bodyPr wrap="square" lIns="0" tIns="0" rIns="0" bIns="0" rtlCol="0" anchor="ctr"/>
          <a:lstStyle/>
          <a:p>
            <a:pPr indent="0" marL="0">
              <a:buNone/>
            </a:pPr>
            <a:r>
              <a:rPr lang="en-US" sz="1600" b="1" dirty="0">
                <a:solidFill>
                  <a:srgbClr val="1F2430"/>
                </a:solidFill>
                <a:latin typeface="Calibri" pitchFamily="34" charset="0"/>
                <a:ea typeface="Calibri" pitchFamily="34" charset="-122"/>
                <a:cs typeface="Calibri" pitchFamily="34" charset="-120"/>
              </a:rPr>
              <a:t>Top Cuisines</a:t>
            </a:r>
            <a:endParaRPr lang="en-US" sz="1600" dirty="0"/>
          </a:p>
        </p:txBody>
      </p:sp>
      <p:sp>
        <p:nvSpPr>
          <p:cNvPr id="9" name="Shape 7"/>
          <p:cNvSpPr/>
          <p:nvPr/>
        </p:nvSpPr>
        <p:spPr>
          <a:xfrm>
            <a:off x="3378708" y="1417320"/>
            <a:ext cx="2601468" cy="4480560"/>
          </a:xfrm>
          <a:prstGeom prst="roundRect">
            <a:avLst>
              <a:gd name="adj" fmla="val 3515"/>
            </a:avLst>
          </a:prstGeom>
          <a:solidFill>
            <a:srgbClr val="F4F6F8"/>
          </a:solidFill>
          <a:ln w="12700">
            <a:solidFill>
              <a:srgbClr val="F4F6F8"/>
            </a:solidFill>
            <a:prstDash val="solid"/>
          </a:ln>
        </p:spPr>
      </p:sp>
      <p:sp>
        <p:nvSpPr>
          <p:cNvPr id="10" name="Text 8"/>
          <p:cNvSpPr txBox="1"/>
          <p:nvPr/>
        </p:nvSpPr>
        <p:spPr>
          <a:xfrm>
            <a:off x="3561588" y="1581912"/>
            <a:ext cx="640080" cy="365760"/>
          </a:xfrm>
          <a:prstGeom prst="rect">
            <a:avLst/>
          </a:prstGeom>
          <a:noFill/>
          <a:ln/>
        </p:spPr>
        <p:txBody>
          <a:bodyPr wrap="square" lIns="0" tIns="0" rIns="0" bIns="0" rtlCol="0" anchor="t"/>
          <a:lstStyle/>
          <a:p>
            <a:pPr indent="0" marL="0">
              <a:buNone/>
            </a:pPr>
            <a:r>
              <a:rPr lang="en-US" sz="2400" b="1" dirty="0">
                <a:solidFill>
                  <a:srgbClr val="E4572E"/>
                </a:solidFill>
                <a:latin typeface="Cambria" pitchFamily="34" charset="0"/>
                <a:ea typeface="Cambria" pitchFamily="34" charset="-122"/>
                <a:cs typeface="Cambria" pitchFamily="34" charset="-120"/>
              </a:rPr>
              <a:t>02</a:t>
            </a:r>
            <a:endParaRPr lang="en-US" sz="2400" dirty="0"/>
          </a:p>
        </p:txBody>
      </p:sp>
      <p:sp>
        <p:nvSpPr>
          <p:cNvPr id="11" name="Text 9"/>
          <p:cNvSpPr txBox="1"/>
          <p:nvPr/>
        </p:nvSpPr>
        <p:spPr>
          <a:xfrm>
            <a:off x="4155948" y="1618488"/>
            <a:ext cx="1737360" cy="320040"/>
          </a:xfrm>
          <a:prstGeom prst="rect">
            <a:avLst/>
          </a:prstGeom>
          <a:noFill/>
          <a:ln/>
        </p:spPr>
        <p:txBody>
          <a:bodyPr wrap="square" lIns="0" tIns="0" rIns="0" bIns="0" rtlCol="0" anchor="ctr"/>
          <a:lstStyle/>
          <a:p>
            <a:pPr indent="0" marL="0">
              <a:buNone/>
            </a:pPr>
            <a:r>
              <a:rPr lang="en-US" sz="1600" b="1" dirty="0">
                <a:solidFill>
                  <a:srgbClr val="1F2430"/>
                </a:solidFill>
                <a:latin typeface="Calibri" pitchFamily="34" charset="0"/>
                <a:ea typeface="Calibri" pitchFamily="34" charset="-122"/>
                <a:cs typeface="Calibri" pitchFamily="34" charset="-120"/>
              </a:rPr>
              <a:t>City Analysis</a:t>
            </a:r>
            <a:endParaRPr lang="en-US" sz="1600" dirty="0"/>
          </a:p>
        </p:txBody>
      </p:sp>
      <p:sp>
        <p:nvSpPr>
          <p:cNvPr id="12" name="Shape 10"/>
          <p:cNvSpPr/>
          <p:nvPr/>
        </p:nvSpPr>
        <p:spPr>
          <a:xfrm>
            <a:off x="6208776" y="1417320"/>
            <a:ext cx="2601468" cy="4480560"/>
          </a:xfrm>
          <a:prstGeom prst="roundRect">
            <a:avLst>
              <a:gd name="adj" fmla="val 3515"/>
            </a:avLst>
          </a:prstGeom>
          <a:solidFill>
            <a:srgbClr val="F4F6F8"/>
          </a:solidFill>
          <a:ln w="12700">
            <a:solidFill>
              <a:srgbClr val="F4F6F8"/>
            </a:solidFill>
            <a:prstDash val="solid"/>
          </a:ln>
        </p:spPr>
      </p:sp>
      <p:sp>
        <p:nvSpPr>
          <p:cNvPr id="13" name="Text 11"/>
          <p:cNvSpPr txBox="1"/>
          <p:nvPr/>
        </p:nvSpPr>
        <p:spPr>
          <a:xfrm>
            <a:off x="6391656" y="1581912"/>
            <a:ext cx="640080" cy="365760"/>
          </a:xfrm>
          <a:prstGeom prst="rect">
            <a:avLst/>
          </a:prstGeom>
          <a:noFill/>
          <a:ln/>
        </p:spPr>
        <p:txBody>
          <a:bodyPr wrap="square" lIns="0" tIns="0" rIns="0" bIns="0" rtlCol="0" anchor="t"/>
          <a:lstStyle/>
          <a:p>
            <a:pPr indent="0" marL="0">
              <a:buNone/>
            </a:pPr>
            <a:r>
              <a:rPr lang="en-US" sz="2400" b="1" dirty="0">
                <a:solidFill>
                  <a:srgbClr val="E4572E"/>
                </a:solidFill>
                <a:latin typeface="Cambria" pitchFamily="34" charset="0"/>
                <a:ea typeface="Cambria" pitchFamily="34" charset="-122"/>
                <a:cs typeface="Cambria" pitchFamily="34" charset="-120"/>
              </a:rPr>
              <a:t>03</a:t>
            </a:r>
            <a:endParaRPr lang="en-US" sz="2400" dirty="0"/>
          </a:p>
        </p:txBody>
      </p:sp>
      <p:sp>
        <p:nvSpPr>
          <p:cNvPr id="14" name="Text 12"/>
          <p:cNvSpPr txBox="1"/>
          <p:nvPr/>
        </p:nvSpPr>
        <p:spPr>
          <a:xfrm>
            <a:off x="6986016" y="1618488"/>
            <a:ext cx="1737360" cy="320040"/>
          </a:xfrm>
          <a:prstGeom prst="rect">
            <a:avLst/>
          </a:prstGeom>
          <a:noFill/>
          <a:ln/>
        </p:spPr>
        <p:txBody>
          <a:bodyPr wrap="square" lIns="0" tIns="0" rIns="0" bIns="0" rtlCol="0" anchor="ctr"/>
          <a:lstStyle/>
          <a:p>
            <a:pPr indent="0" marL="0">
              <a:buNone/>
            </a:pPr>
            <a:r>
              <a:rPr lang="en-US" sz="1600" b="1" dirty="0">
                <a:solidFill>
                  <a:srgbClr val="1F2430"/>
                </a:solidFill>
                <a:latin typeface="Calibri" pitchFamily="34" charset="0"/>
                <a:ea typeface="Calibri" pitchFamily="34" charset="-122"/>
                <a:cs typeface="Calibri" pitchFamily="34" charset="-120"/>
              </a:rPr>
              <a:t>Price Range</a:t>
            </a:r>
            <a:endParaRPr lang="en-US" sz="1600" dirty="0"/>
          </a:p>
        </p:txBody>
      </p:sp>
      <p:sp>
        <p:nvSpPr>
          <p:cNvPr id="15" name="Shape 13"/>
          <p:cNvSpPr/>
          <p:nvPr/>
        </p:nvSpPr>
        <p:spPr>
          <a:xfrm>
            <a:off x="9038844" y="1417320"/>
            <a:ext cx="2601468" cy="4480560"/>
          </a:xfrm>
          <a:prstGeom prst="roundRect">
            <a:avLst>
              <a:gd name="adj" fmla="val 3515"/>
            </a:avLst>
          </a:prstGeom>
          <a:solidFill>
            <a:srgbClr val="F4F6F8"/>
          </a:solidFill>
          <a:ln w="12700">
            <a:solidFill>
              <a:srgbClr val="F4F6F8"/>
            </a:solidFill>
            <a:prstDash val="solid"/>
          </a:ln>
        </p:spPr>
      </p:sp>
      <p:sp>
        <p:nvSpPr>
          <p:cNvPr id="16" name="Text 14"/>
          <p:cNvSpPr txBox="1"/>
          <p:nvPr/>
        </p:nvSpPr>
        <p:spPr>
          <a:xfrm>
            <a:off x="9221724" y="1581912"/>
            <a:ext cx="640080" cy="365760"/>
          </a:xfrm>
          <a:prstGeom prst="rect">
            <a:avLst/>
          </a:prstGeom>
          <a:noFill/>
          <a:ln/>
        </p:spPr>
        <p:txBody>
          <a:bodyPr wrap="square" lIns="0" tIns="0" rIns="0" bIns="0" rtlCol="0" anchor="t"/>
          <a:lstStyle/>
          <a:p>
            <a:pPr indent="0" marL="0">
              <a:buNone/>
            </a:pPr>
            <a:r>
              <a:rPr lang="en-US" sz="2400" b="1" dirty="0">
                <a:solidFill>
                  <a:srgbClr val="E4572E"/>
                </a:solidFill>
                <a:latin typeface="Cambria" pitchFamily="34" charset="0"/>
                <a:ea typeface="Cambria" pitchFamily="34" charset="-122"/>
                <a:cs typeface="Cambria" pitchFamily="34" charset="-120"/>
              </a:rPr>
              <a:t>04</a:t>
            </a:r>
            <a:endParaRPr lang="en-US" sz="2400" dirty="0"/>
          </a:p>
        </p:txBody>
      </p:sp>
      <p:sp>
        <p:nvSpPr>
          <p:cNvPr id="17" name="Text 15"/>
          <p:cNvSpPr txBox="1"/>
          <p:nvPr/>
        </p:nvSpPr>
        <p:spPr>
          <a:xfrm>
            <a:off x="9816084" y="1618488"/>
            <a:ext cx="1737360" cy="320040"/>
          </a:xfrm>
          <a:prstGeom prst="rect">
            <a:avLst/>
          </a:prstGeom>
          <a:noFill/>
          <a:ln/>
        </p:spPr>
        <p:txBody>
          <a:bodyPr wrap="square" lIns="0" tIns="0" rIns="0" bIns="0" rtlCol="0" anchor="ctr"/>
          <a:lstStyle/>
          <a:p>
            <a:pPr indent="0" marL="0">
              <a:buNone/>
            </a:pPr>
            <a:r>
              <a:rPr lang="en-US" sz="1600" b="1" dirty="0">
                <a:solidFill>
                  <a:srgbClr val="1F2430"/>
                </a:solidFill>
                <a:latin typeface="Calibri" pitchFamily="34" charset="0"/>
                <a:ea typeface="Calibri" pitchFamily="34" charset="-122"/>
                <a:cs typeface="Calibri" pitchFamily="34" charset="-120"/>
              </a:rPr>
              <a:t>Online Delivery</a:t>
            </a:r>
            <a:endParaRPr lang="en-US" sz="1600" dirty="0"/>
          </a:p>
        </p:txBody>
      </p:sp>
      <p:graphicFrame>
        <p:nvGraphicFramePr>
          <p:cNvPr id="18" name="Chart 0" descr=""/>
          <p:cNvGraphicFramePr/>
          <p:nvPr/>
        </p:nvGraphicFramePr>
        <p:xfrm>
          <a:off x="640080" y="1965960"/>
          <a:ext cx="2418588" cy="2011680"/>
        </p:xfrm>
        <a:graphic xmlns:a="http://schemas.openxmlformats.org/drawingml/2006/main">
          <a:graphicData uri="http://schemas.openxmlformats.org/drawingml/2006/chart">
            <c:chart xmlns:c="http://schemas.openxmlformats.org/drawingml/2006/chart" r:id="rId1"/>
          </a:graphicData>
        </a:graphic>
      </p:graphicFrame>
      <p:graphicFrame>
        <p:nvGraphicFramePr>
          <p:cNvPr id="19" name="Chart 1" descr=""/>
          <p:cNvGraphicFramePr/>
          <p:nvPr/>
        </p:nvGraphicFramePr>
        <p:xfrm>
          <a:off x="3470148" y="1965960"/>
          <a:ext cx="2418588" cy="2011680"/>
        </p:xfrm>
        <a:graphic xmlns:a="http://schemas.openxmlformats.org/drawingml/2006/main">
          <a:graphicData uri="http://schemas.openxmlformats.org/drawingml/2006/chart">
            <c:chart xmlns:c="http://schemas.openxmlformats.org/drawingml/2006/chart" r:id="rId2"/>
          </a:graphicData>
        </a:graphic>
      </p:graphicFrame>
      <p:graphicFrame>
        <p:nvGraphicFramePr>
          <p:cNvPr id="20" name="Chart 2" descr=""/>
          <p:cNvGraphicFramePr/>
          <p:nvPr/>
        </p:nvGraphicFramePr>
        <p:xfrm>
          <a:off x="6300216" y="1920240"/>
          <a:ext cx="2418588" cy="2103120"/>
        </p:xfrm>
        <a:graphic xmlns:a="http://schemas.openxmlformats.org/drawingml/2006/main">
          <a:graphicData uri="http://schemas.openxmlformats.org/drawingml/2006/chart">
            <c:chart xmlns:c="http://schemas.openxmlformats.org/drawingml/2006/chart" r:id="rId3"/>
          </a:graphicData>
        </a:graphic>
      </p:graphicFrame>
      <p:graphicFrame>
        <p:nvGraphicFramePr>
          <p:cNvPr id="21" name="Chart 3" descr=""/>
          <p:cNvGraphicFramePr/>
          <p:nvPr/>
        </p:nvGraphicFramePr>
        <p:xfrm>
          <a:off x="9130284" y="1920240"/>
          <a:ext cx="2418588" cy="2103120"/>
        </p:xfrm>
        <a:graphic xmlns:a="http://schemas.openxmlformats.org/drawingml/2006/main">
          <a:graphicData uri="http://schemas.openxmlformats.org/drawingml/2006/chart">
            <c:chart xmlns:c="http://schemas.openxmlformats.org/drawingml/2006/chart" r:id="rId4"/>
          </a:graphicData>
        </a:graphic>
      </p:graphicFrame>
      <p:sp>
        <p:nvSpPr>
          <p:cNvPr id="22" name="Text 16"/>
          <p:cNvSpPr txBox="1"/>
          <p:nvPr/>
        </p:nvSpPr>
        <p:spPr>
          <a:xfrm>
            <a:off x="731520" y="4114800"/>
            <a:ext cx="2281428" cy="1691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North Indian leads: 3,960 restaurants (41.46%)</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Chinese 2,735 · Fast Food 1,986</a:t>
            </a:r>
            <a:endParaRPr lang="en-US" sz="1200" dirty="0"/>
          </a:p>
        </p:txBody>
      </p:sp>
      <p:sp>
        <p:nvSpPr>
          <p:cNvPr id="23" name="Text 17"/>
          <p:cNvSpPr txBox="1"/>
          <p:nvPr/>
        </p:nvSpPr>
        <p:spPr>
          <a:xfrm>
            <a:off x="3561588" y="4114800"/>
            <a:ext cx="2281428" cy="1691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New Delhi has the most: 5,473</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Best avg rating (5+ restaurants): London 4.54</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Inner City 4.90 has only 2 restaurants</a:t>
            </a:r>
            <a:endParaRPr lang="en-US" sz="1200" dirty="0"/>
          </a:p>
        </p:txBody>
      </p:sp>
      <p:sp>
        <p:nvSpPr>
          <p:cNvPr id="24" name="Text 18"/>
          <p:cNvSpPr txBox="1"/>
          <p:nvPr/>
        </p:nvSpPr>
        <p:spPr>
          <a:xfrm>
            <a:off x="6391656" y="4114800"/>
            <a:ext cx="2281428" cy="1691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Range 1 most common: 4,444 (46.53%)</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Range 4 smallest: 586 (6.14%)</a:t>
            </a:r>
            <a:endParaRPr lang="en-US" sz="1200" dirty="0"/>
          </a:p>
        </p:txBody>
      </p:sp>
      <p:sp>
        <p:nvSpPr>
          <p:cNvPr id="25" name="Text 19"/>
          <p:cNvSpPr txBox="1"/>
          <p:nvPr/>
        </p:nvSpPr>
        <p:spPr>
          <a:xfrm>
            <a:off x="9221724" y="4114800"/>
            <a:ext cx="2281428" cy="1691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25.66% offer online delivery (2,451)</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Avg rating 3.25 vs 2.47 without (+0.78)</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An association, not causation</a:t>
            </a:r>
            <a:endParaRPr lang="en-US" sz="1200" dirty="0"/>
          </a:p>
        </p:txBody>
      </p:sp>
      <p:sp>
        <p:nvSpPr>
          <p:cNvPr id="26" name="Text 20"/>
          <p:cNvSpPr txBox="1"/>
          <p:nvPr/>
        </p:nvSpPr>
        <p:spPr>
          <a:xfrm>
            <a:off x="548640" y="6053328"/>
            <a:ext cx="11064240" cy="32004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Restaurants can list several cuisines, so cuisine shares overlap. Averages for cities with very few restaurants should be interpreted carefully.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300" kern="0" dirty="0">
                <a:solidFill>
                  <a:srgbClr val="E4572E"/>
                </a:solidFill>
                <a:latin typeface="Calibri" pitchFamily="34" charset="0"/>
                <a:ea typeface="Calibri" pitchFamily="34" charset="-122"/>
                <a:cs typeface="Calibri" pitchFamily="34" charset="-120"/>
              </a:rPr>
              <a:t>LEVEL 2</a:t>
            </a:r>
            <a:endParaRPr lang="en-US" sz="1200" dirty="0"/>
          </a:p>
        </p:txBody>
      </p:sp>
      <p:sp>
        <p:nvSpPr>
          <p:cNvPr id="3" name="Text 1"/>
          <p:cNvSpPr txBox="1"/>
          <p:nvPr/>
        </p:nvSpPr>
        <p:spPr>
          <a:xfrm>
            <a:off x="548640" y="621792"/>
            <a:ext cx="10972800" cy="594360"/>
          </a:xfrm>
          <a:prstGeom prst="rect">
            <a:avLst/>
          </a:prstGeom>
          <a:noFill/>
          <a:ln/>
        </p:spPr>
        <p:txBody>
          <a:bodyPr wrap="square" lIns="0" tIns="0" rIns="0" bIns="0" rtlCol="0" anchor="t"/>
          <a:lstStyle/>
          <a:p>
            <a:pPr indent="0" marL="0">
              <a:buNone/>
            </a:pPr>
            <a:r>
              <a:rPr lang="en-US" sz="3000" b="1" dirty="0">
                <a:solidFill>
                  <a:srgbClr val="1B1F2A"/>
                </a:solidFill>
                <a:latin typeface="Cambria" pitchFamily="34" charset="0"/>
                <a:ea typeface="Cambria" pitchFamily="34" charset="-122"/>
                <a:cs typeface="Cambria" pitchFamily="34" charset="-120"/>
              </a:rPr>
              <a:t>Level 2 — Ratings &amp; Cuisine Analysis</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Restaurant Data Analysis  |  Vikash Rao</a:t>
            </a:r>
            <a:endParaRPr lang="en-US" sz="1000" dirty="0"/>
          </a:p>
        </p:txBody>
      </p:sp>
      <p:sp>
        <p:nvSpPr>
          <p:cNvPr id="5" name="Text 3"/>
          <p:cNvSpPr txBox="1"/>
          <p:nvPr/>
        </p:nvSpPr>
        <p:spPr>
          <a:xfrm>
            <a:off x="11155680" y="6446520"/>
            <a:ext cx="4846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1417320"/>
            <a:ext cx="5120640" cy="3429000"/>
          </a:xfrm>
          <a:prstGeom prst="roundRect">
            <a:avLst>
              <a:gd name="adj" fmla="val 2667"/>
            </a:avLst>
          </a:prstGeom>
          <a:solidFill>
            <a:srgbClr val="F4F6F8"/>
          </a:solidFill>
          <a:ln w="12700">
            <a:solidFill>
              <a:srgbClr val="F4F6F8"/>
            </a:solidFill>
            <a:prstDash val="solid"/>
          </a:ln>
        </p:spPr>
      </p:sp>
      <p:sp>
        <p:nvSpPr>
          <p:cNvPr id="7" name="Text 5"/>
          <p:cNvSpPr txBox="1"/>
          <p:nvPr/>
        </p:nvSpPr>
        <p:spPr>
          <a:xfrm>
            <a:off x="777240" y="1572768"/>
            <a:ext cx="4572000" cy="274320"/>
          </a:xfrm>
          <a:prstGeom prst="rect">
            <a:avLst/>
          </a:prstGeom>
          <a:noFill/>
          <a:ln/>
        </p:spPr>
        <p:txBody>
          <a:bodyPr wrap="square" lIns="0" tIns="0" rIns="0" bIns="0" rtlCol="0" anchor="t"/>
          <a:lstStyle/>
          <a:p>
            <a:pPr indent="0" marL="0">
              <a:buNone/>
            </a:pPr>
            <a:r>
              <a:rPr lang="en-US" sz="1500" b="1" dirty="0">
                <a:solidFill>
                  <a:srgbClr val="1F2430"/>
                </a:solidFill>
                <a:latin typeface="Calibri" pitchFamily="34" charset="0"/>
                <a:ea typeface="Calibri" pitchFamily="34" charset="-122"/>
                <a:cs typeface="Calibri" pitchFamily="34" charset="-120"/>
              </a:rPr>
              <a:t>Restaurants by rating range</a:t>
            </a:r>
            <a:endParaRPr lang="en-US" sz="1500" dirty="0"/>
          </a:p>
        </p:txBody>
      </p:sp>
      <p:graphicFrame>
        <p:nvGraphicFramePr>
          <p:cNvPr id="8" name="Chart 0" descr=""/>
          <p:cNvGraphicFramePr/>
          <p:nvPr/>
        </p:nvGraphicFramePr>
        <p:xfrm>
          <a:off x="640080" y="1920240"/>
          <a:ext cx="4937760" cy="283464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897880" y="1417320"/>
            <a:ext cx="5742432" cy="3429000"/>
          </a:xfrm>
          <a:prstGeom prst="roundRect">
            <a:avLst>
              <a:gd name="adj" fmla="val 2667"/>
            </a:avLst>
          </a:prstGeom>
          <a:solidFill>
            <a:srgbClr val="F4F6F8"/>
          </a:solidFill>
          <a:ln w="12700">
            <a:solidFill>
              <a:srgbClr val="F4F6F8"/>
            </a:solidFill>
            <a:prstDash val="solid"/>
          </a:ln>
        </p:spPr>
      </p:sp>
      <p:sp>
        <p:nvSpPr>
          <p:cNvPr id="10" name="Text 7"/>
          <p:cNvSpPr txBox="1"/>
          <p:nvPr/>
        </p:nvSpPr>
        <p:spPr>
          <a:xfrm>
            <a:off x="6126480" y="1572768"/>
            <a:ext cx="5303520" cy="274320"/>
          </a:xfrm>
          <a:prstGeom prst="rect">
            <a:avLst/>
          </a:prstGeom>
          <a:noFill/>
          <a:ln/>
        </p:spPr>
        <p:txBody>
          <a:bodyPr wrap="square" lIns="0" tIns="0" rIns="0" bIns="0" rtlCol="0" anchor="t"/>
          <a:lstStyle/>
          <a:p>
            <a:pPr indent="0" marL="0">
              <a:buNone/>
            </a:pPr>
            <a:r>
              <a:rPr lang="en-US" sz="1500" b="1" dirty="0">
                <a:solidFill>
                  <a:srgbClr val="1F2430"/>
                </a:solidFill>
                <a:latin typeface="Calibri" pitchFamily="34" charset="0"/>
                <a:ea typeface="Calibri" pitchFamily="34" charset="-122"/>
                <a:cs typeface="Calibri" pitchFamily="34" charset="-120"/>
              </a:rPr>
              <a:t>Top 10 cuisine combinations (restaurants)</a:t>
            </a:r>
            <a:endParaRPr lang="en-US" sz="1500" dirty="0"/>
          </a:p>
        </p:txBody>
      </p:sp>
      <p:graphicFrame>
        <p:nvGraphicFramePr>
          <p:cNvPr id="11" name="Chart 1" descr=""/>
          <p:cNvGraphicFramePr/>
          <p:nvPr/>
        </p:nvGraphicFramePr>
        <p:xfrm>
          <a:off x="5989320" y="1874520"/>
          <a:ext cx="5577840" cy="2926080"/>
        </p:xfrm>
        <a:graphic xmlns:a="http://schemas.openxmlformats.org/drawingml/2006/main">
          <a:graphicData uri="http://schemas.openxmlformats.org/drawingml/2006/chart">
            <c:chart xmlns:c="http://schemas.openxmlformats.org/drawingml/2006/chart" r:id="rId2"/>
          </a:graphicData>
        </a:graphic>
      </p:graphicFrame>
      <p:sp>
        <p:nvSpPr>
          <p:cNvPr id="12" name="Shape 8"/>
          <p:cNvSpPr/>
          <p:nvPr/>
        </p:nvSpPr>
        <p:spPr>
          <a:xfrm>
            <a:off x="548640" y="5029200"/>
            <a:ext cx="2633472" cy="914400"/>
          </a:xfrm>
          <a:prstGeom prst="roundRect">
            <a:avLst>
              <a:gd name="adj" fmla="val 10000"/>
            </a:avLst>
          </a:prstGeom>
          <a:solidFill>
            <a:srgbClr val="E4F2F2"/>
          </a:solidFill>
          <a:ln w="12700">
            <a:solidFill>
              <a:srgbClr val="E4F2F2"/>
            </a:solidFill>
            <a:prstDash val="solid"/>
          </a:ln>
        </p:spPr>
      </p:sp>
      <p:sp>
        <p:nvSpPr>
          <p:cNvPr id="13" name="Text 9"/>
          <p:cNvSpPr txBox="1"/>
          <p:nvPr/>
        </p:nvSpPr>
        <p:spPr>
          <a:xfrm>
            <a:off x="731520" y="5120640"/>
            <a:ext cx="914400" cy="731520"/>
          </a:xfrm>
          <a:prstGeom prst="rect">
            <a:avLst/>
          </a:prstGeom>
          <a:noFill/>
          <a:ln/>
        </p:spPr>
        <p:txBody>
          <a:bodyPr wrap="square" lIns="0" tIns="0" rIns="0" bIns="0" rtlCol="0" anchor="ctr"/>
          <a:lstStyle/>
          <a:p>
            <a:pPr indent="0" marL="0">
              <a:buNone/>
            </a:pPr>
            <a:r>
              <a:rPr lang="en-US" sz="2400" b="1" dirty="0">
                <a:solidFill>
                  <a:srgbClr val="E4572E"/>
                </a:solidFill>
                <a:latin typeface="Cambria" pitchFamily="34" charset="0"/>
                <a:ea typeface="Cambria" pitchFamily="34" charset="-122"/>
                <a:cs typeface="Cambria" pitchFamily="34" charset="-120"/>
              </a:rPr>
              <a:t>3–4</a:t>
            </a:r>
            <a:endParaRPr lang="en-US" sz="2400" dirty="0"/>
          </a:p>
        </p:txBody>
      </p:sp>
      <p:sp>
        <p:nvSpPr>
          <p:cNvPr id="14" name="Text 10"/>
          <p:cNvSpPr txBox="1"/>
          <p:nvPr/>
        </p:nvSpPr>
        <p:spPr>
          <a:xfrm>
            <a:off x="1645920" y="5120640"/>
            <a:ext cx="1463040" cy="731520"/>
          </a:xfrm>
          <a:prstGeom prst="rect">
            <a:avLst/>
          </a:prstGeom>
          <a:noFill/>
          <a:ln/>
        </p:spPr>
        <p:txBody>
          <a:bodyPr wrap="square" lIns="0" tIns="0" rIns="0" bIns="0" rtlCol="0" anchor="ctr"/>
          <a:lstStyle/>
          <a:p>
            <a:pPr indent="0" marL="0">
              <a:buNone/>
            </a:pPr>
            <a:r>
              <a:rPr lang="en-US" sz="1100" dirty="0">
                <a:solidFill>
                  <a:srgbClr val="1F2430"/>
                </a:solidFill>
                <a:latin typeface="Calibri" pitchFamily="34" charset="0"/>
                <a:ea typeface="Calibri" pitchFamily="34" charset="-122"/>
                <a:cs typeface="Calibri" pitchFamily="34" charset="-120"/>
              </a:rPr>
              <a:t>Most common range: 4,388 restaurants (45.9%)</a:t>
            </a:r>
            <a:endParaRPr lang="en-US" sz="1100" dirty="0"/>
          </a:p>
        </p:txBody>
      </p:sp>
      <p:sp>
        <p:nvSpPr>
          <p:cNvPr id="15" name="Shape 11"/>
          <p:cNvSpPr/>
          <p:nvPr/>
        </p:nvSpPr>
        <p:spPr>
          <a:xfrm>
            <a:off x="3364992" y="5029200"/>
            <a:ext cx="2633472" cy="914400"/>
          </a:xfrm>
          <a:prstGeom prst="roundRect">
            <a:avLst>
              <a:gd name="adj" fmla="val 10000"/>
            </a:avLst>
          </a:prstGeom>
          <a:solidFill>
            <a:srgbClr val="E4F2F2"/>
          </a:solidFill>
          <a:ln w="12700">
            <a:solidFill>
              <a:srgbClr val="E4F2F2"/>
            </a:solidFill>
            <a:prstDash val="solid"/>
          </a:ln>
        </p:spPr>
      </p:sp>
      <p:sp>
        <p:nvSpPr>
          <p:cNvPr id="16" name="Text 12"/>
          <p:cNvSpPr txBox="1"/>
          <p:nvPr/>
        </p:nvSpPr>
        <p:spPr>
          <a:xfrm>
            <a:off x="3547872" y="5120640"/>
            <a:ext cx="914400" cy="731520"/>
          </a:xfrm>
          <a:prstGeom prst="rect">
            <a:avLst/>
          </a:prstGeom>
          <a:noFill/>
          <a:ln/>
        </p:spPr>
        <p:txBody>
          <a:bodyPr wrap="square" lIns="0" tIns="0" rIns="0" bIns="0" rtlCol="0" anchor="ctr"/>
          <a:lstStyle/>
          <a:p>
            <a:pPr indent="0" marL="0">
              <a:buNone/>
            </a:pPr>
            <a:r>
              <a:rPr lang="en-US" sz="2400" b="1" dirty="0">
                <a:solidFill>
                  <a:srgbClr val="1F8A8A"/>
                </a:solidFill>
                <a:latin typeface="Cambria" pitchFamily="34" charset="0"/>
                <a:ea typeface="Cambria" pitchFamily="34" charset="-122"/>
                <a:cs typeface="Cambria" pitchFamily="34" charset="-120"/>
              </a:rPr>
              <a:t>2,148</a:t>
            </a:r>
            <a:endParaRPr lang="en-US" sz="2400" dirty="0"/>
          </a:p>
        </p:txBody>
      </p:sp>
      <p:sp>
        <p:nvSpPr>
          <p:cNvPr id="17" name="Text 13"/>
          <p:cNvSpPr txBox="1"/>
          <p:nvPr/>
        </p:nvSpPr>
        <p:spPr>
          <a:xfrm>
            <a:off x="4462272" y="5120640"/>
            <a:ext cx="1463040" cy="731520"/>
          </a:xfrm>
          <a:prstGeom prst="rect">
            <a:avLst/>
          </a:prstGeom>
          <a:noFill/>
          <a:ln/>
        </p:spPr>
        <p:txBody>
          <a:bodyPr wrap="square" lIns="0" tIns="0" rIns="0" bIns="0" rtlCol="0" anchor="ctr"/>
          <a:lstStyle/>
          <a:p>
            <a:pPr indent="0" marL="0">
              <a:buNone/>
            </a:pPr>
            <a:r>
              <a:rPr lang="en-US" sz="1100" dirty="0">
                <a:solidFill>
                  <a:srgbClr val="1F2430"/>
                </a:solidFill>
                <a:latin typeface="Calibri" pitchFamily="34" charset="0"/>
                <a:ea typeface="Calibri" pitchFamily="34" charset="-122"/>
                <a:cs typeface="Calibri" pitchFamily="34" charset="-120"/>
              </a:rPr>
              <a:t>Unrated (0.0) restaurants: 22.5%</a:t>
            </a:r>
            <a:endParaRPr lang="en-US" sz="1100" dirty="0"/>
          </a:p>
        </p:txBody>
      </p:sp>
      <p:sp>
        <p:nvSpPr>
          <p:cNvPr id="18" name="Shape 14"/>
          <p:cNvSpPr/>
          <p:nvPr/>
        </p:nvSpPr>
        <p:spPr>
          <a:xfrm>
            <a:off x="6181344" y="5029200"/>
            <a:ext cx="2633472" cy="914400"/>
          </a:xfrm>
          <a:prstGeom prst="roundRect">
            <a:avLst>
              <a:gd name="adj" fmla="val 10000"/>
            </a:avLst>
          </a:prstGeom>
          <a:solidFill>
            <a:srgbClr val="E4F2F2"/>
          </a:solidFill>
          <a:ln w="12700">
            <a:solidFill>
              <a:srgbClr val="E4F2F2"/>
            </a:solidFill>
            <a:prstDash val="solid"/>
          </a:ln>
        </p:spPr>
      </p:sp>
      <p:sp>
        <p:nvSpPr>
          <p:cNvPr id="19" name="Text 15"/>
          <p:cNvSpPr txBox="1"/>
          <p:nvPr/>
        </p:nvSpPr>
        <p:spPr>
          <a:xfrm>
            <a:off x="6364224" y="5120640"/>
            <a:ext cx="914400" cy="731520"/>
          </a:xfrm>
          <a:prstGeom prst="rect">
            <a:avLst/>
          </a:prstGeom>
          <a:noFill/>
          <a:ln/>
        </p:spPr>
        <p:txBody>
          <a:bodyPr wrap="square" lIns="0" tIns="0" rIns="0" bIns="0" rtlCol="0" anchor="ctr"/>
          <a:lstStyle/>
          <a:p>
            <a:pPr indent="0" marL="0">
              <a:buNone/>
            </a:pPr>
            <a:r>
              <a:rPr lang="en-US" sz="2400" b="1" dirty="0">
                <a:solidFill>
                  <a:srgbClr val="1F8A8A"/>
                </a:solidFill>
                <a:latin typeface="Cambria" pitchFamily="34" charset="0"/>
                <a:ea typeface="Cambria" pitchFamily="34" charset="-122"/>
                <a:cs typeface="Cambria" pitchFamily="34" charset="-120"/>
              </a:rPr>
              <a:t>156.9</a:t>
            </a:r>
            <a:endParaRPr lang="en-US" sz="2400" dirty="0"/>
          </a:p>
        </p:txBody>
      </p:sp>
      <p:sp>
        <p:nvSpPr>
          <p:cNvPr id="20" name="Text 16"/>
          <p:cNvSpPr txBox="1"/>
          <p:nvPr/>
        </p:nvSpPr>
        <p:spPr>
          <a:xfrm>
            <a:off x="7278624" y="5120640"/>
            <a:ext cx="1463040" cy="731520"/>
          </a:xfrm>
          <a:prstGeom prst="rect">
            <a:avLst/>
          </a:prstGeom>
          <a:noFill/>
          <a:ln/>
        </p:spPr>
        <p:txBody>
          <a:bodyPr wrap="square" lIns="0" tIns="0" rIns="0" bIns="0" rtlCol="0" anchor="ctr"/>
          <a:lstStyle/>
          <a:p>
            <a:pPr indent="0" marL="0">
              <a:buNone/>
            </a:pPr>
            <a:r>
              <a:rPr lang="en-US" sz="1100" dirty="0">
                <a:solidFill>
                  <a:srgbClr val="1F2430"/>
                </a:solidFill>
                <a:latin typeface="Calibri" pitchFamily="34" charset="0"/>
                <a:ea typeface="Calibri" pitchFamily="34" charset="-122"/>
                <a:cs typeface="Calibri" pitchFamily="34" charset="-120"/>
              </a:rPr>
              <a:t>Average votes per restaurant</a:t>
            </a:r>
            <a:endParaRPr lang="en-US" sz="1100" dirty="0"/>
          </a:p>
        </p:txBody>
      </p:sp>
      <p:sp>
        <p:nvSpPr>
          <p:cNvPr id="21" name="Shape 17"/>
          <p:cNvSpPr/>
          <p:nvPr/>
        </p:nvSpPr>
        <p:spPr>
          <a:xfrm>
            <a:off x="8997696" y="5029200"/>
            <a:ext cx="2633472" cy="914400"/>
          </a:xfrm>
          <a:prstGeom prst="roundRect">
            <a:avLst>
              <a:gd name="adj" fmla="val 10000"/>
            </a:avLst>
          </a:prstGeom>
          <a:solidFill>
            <a:srgbClr val="E4F2F2"/>
          </a:solidFill>
          <a:ln w="12700">
            <a:solidFill>
              <a:srgbClr val="E4F2F2"/>
            </a:solidFill>
            <a:prstDash val="solid"/>
          </a:ln>
        </p:spPr>
      </p:sp>
      <p:sp>
        <p:nvSpPr>
          <p:cNvPr id="22" name="Text 18"/>
          <p:cNvSpPr txBox="1"/>
          <p:nvPr/>
        </p:nvSpPr>
        <p:spPr>
          <a:xfrm>
            <a:off x="9180576" y="5120640"/>
            <a:ext cx="914400" cy="731520"/>
          </a:xfrm>
          <a:prstGeom prst="rect">
            <a:avLst/>
          </a:prstGeom>
          <a:noFill/>
          <a:ln/>
        </p:spPr>
        <p:txBody>
          <a:bodyPr wrap="square" lIns="0" tIns="0" rIns="0" bIns="0" rtlCol="0" anchor="ctr"/>
          <a:lstStyle/>
          <a:p>
            <a:pPr indent="0" marL="0">
              <a:buNone/>
            </a:pPr>
            <a:r>
              <a:rPr lang="en-US" sz="2400" b="1" dirty="0">
                <a:solidFill>
                  <a:srgbClr val="1F8A8A"/>
                </a:solidFill>
                <a:latin typeface="Cambria" pitchFamily="34" charset="0"/>
                <a:ea typeface="Cambria" pitchFamily="34" charset="-122"/>
                <a:cs typeface="Cambria" pitchFamily="34" charset="-120"/>
              </a:rPr>
              <a:t>4.46</a:t>
            </a:r>
            <a:endParaRPr lang="en-US" sz="2400" dirty="0"/>
          </a:p>
        </p:txBody>
      </p:sp>
      <p:sp>
        <p:nvSpPr>
          <p:cNvPr id="23" name="Text 19"/>
          <p:cNvSpPr txBox="1"/>
          <p:nvPr/>
        </p:nvSpPr>
        <p:spPr>
          <a:xfrm>
            <a:off x="10094976" y="5120640"/>
            <a:ext cx="1463040" cy="731520"/>
          </a:xfrm>
          <a:prstGeom prst="rect">
            <a:avLst/>
          </a:prstGeom>
          <a:noFill/>
          <a:ln/>
        </p:spPr>
        <p:txBody>
          <a:bodyPr wrap="square" lIns="0" tIns="0" rIns="0" bIns="0" rtlCol="0" anchor="ctr"/>
          <a:lstStyle/>
          <a:p>
            <a:pPr indent="0" marL="0">
              <a:buNone/>
            </a:pPr>
            <a:r>
              <a:rPr lang="en-US" sz="1100" dirty="0">
                <a:solidFill>
                  <a:srgbClr val="1F2430"/>
                </a:solidFill>
                <a:latin typeface="Calibri" pitchFamily="34" charset="0"/>
                <a:ea typeface="Calibri" pitchFamily="34" charset="-122"/>
                <a:cs typeface="Calibri" pitchFamily="34" charset="-120"/>
              </a:rPr>
              <a:t>Top avg rating among combos with 5+ restaurants</a:t>
            </a:r>
            <a:endParaRPr lang="en-US" sz="1100" dirty="0"/>
          </a:p>
        </p:txBody>
      </p:sp>
      <p:sp>
        <p:nvSpPr>
          <p:cNvPr id="24" name="Text 20"/>
          <p:cNvSpPr txBox="1"/>
          <p:nvPr/>
        </p:nvSpPr>
        <p:spPr>
          <a:xfrm>
            <a:off x="548640" y="6053328"/>
            <a:ext cx="11064240" cy="32004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Unrated restaurants (0.0) pull averages down. Combinations with few restaurants can look misleadingly high, so only groups of 5+ were compared.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300" kern="0" dirty="0">
                <a:solidFill>
                  <a:srgbClr val="E4572E"/>
                </a:solidFill>
                <a:latin typeface="Calibri" pitchFamily="34" charset="0"/>
                <a:ea typeface="Calibri" pitchFamily="34" charset="-122"/>
                <a:cs typeface="Calibri" pitchFamily="34" charset="-120"/>
              </a:rPr>
              <a:t>LEVEL 2</a:t>
            </a:r>
            <a:endParaRPr lang="en-US" sz="1200" dirty="0"/>
          </a:p>
        </p:txBody>
      </p:sp>
      <p:sp>
        <p:nvSpPr>
          <p:cNvPr id="3" name="Text 1"/>
          <p:cNvSpPr txBox="1"/>
          <p:nvPr/>
        </p:nvSpPr>
        <p:spPr>
          <a:xfrm>
            <a:off x="548640" y="621792"/>
            <a:ext cx="10972800" cy="594360"/>
          </a:xfrm>
          <a:prstGeom prst="rect">
            <a:avLst/>
          </a:prstGeom>
          <a:noFill/>
          <a:ln/>
        </p:spPr>
        <p:txBody>
          <a:bodyPr wrap="square" lIns="0" tIns="0" rIns="0" bIns="0" rtlCol="0" anchor="t"/>
          <a:lstStyle/>
          <a:p>
            <a:pPr indent="0" marL="0">
              <a:buNone/>
            </a:pPr>
            <a:r>
              <a:rPr lang="en-US" sz="3000" b="1" dirty="0">
                <a:solidFill>
                  <a:srgbClr val="1B1F2A"/>
                </a:solidFill>
                <a:latin typeface="Cambria" pitchFamily="34" charset="0"/>
                <a:ea typeface="Cambria" pitchFamily="34" charset="-122"/>
                <a:cs typeface="Cambria" pitchFamily="34" charset="-120"/>
              </a:rPr>
              <a:t>Geographic &amp; Restaurant Chain Analysis</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Restaurant Data Analysis  |  Vikash Rao</a:t>
            </a:r>
            <a:endParaRPr lang="en-US" sz="1000" dirty="0"/>
          </a:p>
        </p:txBody>
      </p:sp>
      <p:sp>
        <p:nvSpPr>
          <p:cNvPr id="5" name="Text 3"/>
          <p:cNvSpPr txBox="1"/>
          <p:nvPr/>
        </p:nvSpPr>
        <p:spPr>
          <a:xfrm>
            <a:off x="11155680" y="6446520"/>
            <a:ext cx="4846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48640" y="1417320"/>
            <a:ext cx="5394960" cy="4526280"/>
          </a:xfrm>
          <a:prstGeom prst="roundRect">
            <a:avLst>
              <a:gd name="adj" fmla="val 2020"/>
            </a:avLst>
          </a:prstGeom>
          <a:solidFill>
            <a:srgbClr val="F4F6F8"/>
          </a:solidFill>
          <a:ln w="12700">
            <a:solidFill>
              <a:srgbClr val="F4F6F8"/>
            </a:solidFill>
            <a:prstDash val="solid"/>
          </a:ln>
        </p:spPr>
      </p:sp>
      <p:sp>
        <p:nvSpPr>
          <p:cNvPr id="7" name="Text 5"/>
          <p:cNvSpPr txBox="1"/>
          <p:nvPr/>
        </p:nvSpPr>
        <p:spPr>
          <a:xfrm>
            <a:off x="777240" y="1554480"/>
            <a:ext cx="4937760" cy="274320"/>
          </a:xfrm>
          <a:prstGeom prst="rect">
            <a:avLst/>
          </a:prstGeom>
          <a:noFill/>
          <a:ln/>
        </p:spPr>
        <p:txBody>
          <a:bodyPr wrap="square" lIns="0" tIns="0" rIns="0" bIns="0" rtlCol="0" anchor="t"/>
          <a:lstStyle/>
          <a:p>
            <a:pPr indent="0" marL="0">
              <a:buNone/>
            </a:pPr>
            <a:r>
              <a:rPr lang="en-US" sz="1500" b="1" dirty="0">
                <a:solidFill>
                  <a:srgbClr val="1F2430"/>
                </a:solidFill>
                <a:latin typeface="Calibri" pitchFamily="34" charset="0"/>
                <a:ea typeface="Calibri" pitchFamily="34" charset="-122"/>
                <a:cs typeface="Calibri" pitchFamily="34" charset="-120"/>
              </a:rPr>
              <a:t>Geographic concentration — Delhi NCR</a:t>
            </a:r>
            <a:endParaRPr lang="en-US" sz="1500" dirty="0"/>
          </a:p>
        </p:txBody>
      </p:sp>
      <p:sp>
        <p:nvSpPr>
          <p:cNvPr id="8" name="Text 6"/>
          <p:cNvSpPr txBox="1"/>
          <p:nvPr/>
        </p:nvSpPr>
        <p:spPr>
          <a:xfrm>
            <a:off x="777240" y="1828800"/>
            <a:ext cx="4937760" cy="22860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Bubble size = restaurant records · approximate city locations</a:t>
            </a:r>
            <a:endParaRPr lang="en-US" sz="1100" dirty="0"/>
          </a:p>
        </p:txBody>
      </p:sp>
      <p:sp>
        <p:nvSpPr>
          <p:cNvPr id="9" name="Shape 7"/>
          <p:cNvSpPr/>
          <p:nvPr/>
        </p:nvSpPr>
        <p:spPr>
          <a:xfrm>
            <a:off x="914400" y="2194560"/>
            <a:ext cx="4846320" cy="2743200"/>
          </a:xfrm>
          <a:prstGeom prst="rect">
            <a:avLst/>
          </a:prstGeom>
          <a:solidFill>
            <a:srgbClr val="FFFFFF"/>
          </a:solidFill>
          <a:ln w="12700">
            <a:solidFill>
              <a:srgbClr val="DDE2E8"/>
            </a:solidFill>
            <a:prstDash val="solid"/>
          </a:ln>
        </p:spPr>
      </p:sp>
      <p:sp>
        <p:nvSpPr>
          <p:cNvPr id="10" name="Shape 8"/>
          <p:cNvSpPr/>
          <p:nvPr/>
        </p:nvSpPr>
        <p:spPr>
          <a:xfrm>
            <a:off x="2357134" y="2240372"/>
            <a:ext cx="1737177" cy="1737177"/>
          </a:xfrm>
          <a:prstGeom prst="ellipse">
            <a:avLst/>
          </a:prstGeom>
          <a:solidFill>
            <a:srgbClr val="E4572E">
              <a:alpha val="85000"/>
            </a:srgbClr>
          </a:solidFill>
          <a:ln w="12700">
            <a:solidFill>
              <a:srgbClr val="FFFFFF"/>
            </a:solidFill>
            <a:prstDash val="solid"/>
          </a:ln>
        </p:spPr>
      </p:sp>
      <p:sp>
        <p:nvSpPr>
          <p:cNvPr id="11" name="Text 9"/>
          <p:cNvSpPr txBox="1"/>
          <p:nvPr/>
        </p:nvSpPr>
        <p:spPr>
          <a:xfrm>
            <a:off x="2357134" y="2907792"/>
            <a:ext cx="1737177"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New Delhi</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5,473</a:t>
            </a:r>
            <a:endParaRPr lang="en-US" sz="1000" dirty="0"/>
          </a:p>
        </p:txBody>
      </p:sp>
      <p:sp>
        <p:nvSpPr>
          <p:cNvPr id="12" name="Shape 10"/>
          <p:cNvSpPr/>
          <p:nvPr/>
        </p:nvSpPr>
        <p:spPr>
          <a:xfrm>
            <a:off x="1491089" y="3696100"/>
            <a:ext cx="785149" cy="785149"/>
          </a:xfrm>
          <a:prstGeom prst="ellipse">
            <a:avLst/>
          </a:prstGeom>
          <a:solidFill>
            <a:srgbClr val="1F8A8A">
              <a:alpha val="85000"/>
            </a:srgbClr>
          </a:solidFill>
          <a:ln w="12700">
            <a:solidFill>
              <a:srgbClr val="FFFFFF"/>
            </a:solidFill>
            <a:prstDash val="solid"/>
          </a:ln>
        </p:spPr>
      </p:sp>
      <p:sp>
        <p:nvSpPr>
          <p:cNvPr id="13" name="Text 11"/>
          <p:cNvSpPr txBox="1"/>
          <p:nvPr/>
        </p:nvSpPr>
        <p:spPr>
          <a:xfrm>
            <a:off x="1491089" y="3887506"/>
            <a:ext cx="785149"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Gurgaon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1,118</a:t>
            </a:r>
            <a:endParaRPr lang="en-US" sz="1000" dirty="0"/>
          </a:p>
        </p:txBody>
      </p:sp>
      <p:sp>
        <p:nvSpPr>
          <p:cNvPr id="14" name="Shape 12"/>
          <p:cNvSpPr/>
          <p:nvPr/>
        </p:nvSpPr>
        <p:spPr>
          <a:xfrm>
            <a:off x="4181934" y="2984372"/>
            <a:ext cx="771690" cy="771690"/>
          </a:xfrm>
          <a:prstGeom prst="ellipse">
            <a:avLst/>
          </a:prstGeom>
          <a:solidFill>
            <a:srgbClr val="1F8A8A">
              <a:alpha val="85000"/>
            </a:srgbClr>
          </a:solidFill>
          <a:ln w="12700">
            <a:solidFill>
              <a:srgbClr val="FFFFFF"/>
            </a:solidFill>
            <a:prstDash val="solid"/>
          </a:ln>
        </p:spPr>
      </p:sp>
      <p:sp>
        <p:nvSpPr>
          <p:cNvPr id="15" name="Text 13"/>
          <p:cNvSpPr txBox="1"/>
          <p:nvPr/>
        </p:nvSpPr>
        <p:spPr>
          <a:xfrm>
            <a:off x="4181934" y="3169049"/>
            <a:ext cx="77169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Noida</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1,080</a:t>
            </a:r>
            <a:endParaRPr lang="en-US" sz="1000" dirty="0"/>
          </a:p>
        </p:txBody>
      </p:sp>
      <p:sp>
        <p:nvSpPr>
          <p:cNvPr id="16" name="Shape 14"/>
          <p:cNvSpPr/>
          <p:nvPr/>
        </p:nvSpPr>
        <p:spPr>
          <a:xfrm>
            <a:off x="3785299" y="4229235"/>
            <a:ext cx="372022" cy="372022"/>
          </a:xfrm>
          <a:prstGeom prst="ellipse">
            <a:avLst/>
          </a:prstGeom>
          <a:solidFill>
            <a:srgbClr val="1F8A8A">
              <a:alpha val="85000"/>
            </a:srgbClr>
          </a:solidFill>
          <a:ln w="12700">
            <a:solidFill>
              <a:srgbClr val="FFFFFF"/>
            </a:solidFill>
            <a:prstDash val="solid"/>
          </a:ln>
        </p:spPr>
      </p:sp>
      <p:sp>
        <p:nvSpPr>
          <p:cNvPr id="17" name="Text 15"/>
          <p:cNvSpPr txBox="1"/>
          <p:nvPr/>
        </p:nvSpPr>
        <p:spPr>
          <a:xfrm>
            <a:off x="4203040" y="4323806"/>
            <a:ext cx="1097280" cy="182880"/>
          </a:xfrm>
          <a:prstGeom prst="rect">
            <a:avLst/>
          </a:prstGeom>
          <a:noFill/>
          <a:ln/>
        </p:spPr>
        <p:txBody>
          <a:bodyPr wrap="square" lIns="0" tIns="0" rIns="0" bIns="0" rtlCol="0" anchor="t"/>
          <a:lstStyle/>
          <a:p>
            <a:pPr indent="0" marL="0">
              <a:buNone/>
            </a:pPr>
            <a:r>
              <a:rPr lang="en-US" sz="1000" dirty="0">
                <a:solidFill>
                  <a:srgbClr val="1F2430"/>
                </a:solidFill>
                <a:latin typeface="Calibri" pitchFamily="34" charset="0"/>
                <a:ea typeface="Calibri" pitchFamily="34" charset="-122"/>
                <a:cs typeface="Calibri" pitchFamily="34" charset="-120"/>
              </a:rPr>
              <a:t>Faridabad 251</a:t>
            </a:r>
            <a:endParaRPr lang="en-US" sz="1000" dirty="0"/>
          </a:p>
        </p:txBody>
      </p:sp>
      <p:sp>
        <p:nvSpPr>
          <p:cNvPr id="18" name="Shape 16"/>
          <p:cNvSpPr/>
          <p:nvPr/>
        </p:nvSpPr>
        <p:spPr>
          <a:xfrm>
            <a:off x="4956428" y="2658370"/>
            <a:ext cx="117409" cy="117409"/>
          </a:xfrm>
          <a:prstGeom prst="ellipse">
            <a:avLst/>
          </a:prstGeom>
          <a:solidFill>
            <a:srgbClr val="1F8A8A">
              <a:alpha val="85000"/>
            </a:srgbClr>
          </a:solidFill>
          <a:ln w="12700">
            <a:solidFill>
              <a:srgbClr val="FFFFFF"/>
            </a:solidFill>
            <a:prstDash val="solid"/>
          </a:ln>
        </p:spPr>
      </p:sp>
      <p:sp>
        <p:nvSpPr>
          <p:cNvPr id="19" name="Text 17"/>
          <p:cNvSpPr txBox="1"/>
          <p:nvPr/>
        </p:nvSpPr>
        <p:spPr>
          <a:xfrm>
            <a:off x="5119557" y="2625634"/>
            <a:ext cx="1097280" cy="182880"/>
          </a:xfrm>
          <a:prstGeom prst="rect">
            <a:avLst/>
          </a:prstGeom>
          <a:noFill/>
          <a:ln/>
        </p:spPr>
        <p:txBody>
          <a:bodyPr wrap="square" lIns="0" tIns="0" rIns="0" bIns="0" rtlCol="0" anchor="t"/>
          <a:lstStyle/>
          <a:p>
            <a:pPr indent="0" marL="0">
              <a:buNone/>
            </a:pPr>
            <a:r>
              <a:rPr lang="en-US" sz="1000" dirty="0">
                <a:solidFill>
                  <a:srgbClr val="1F2430"/>
                </a:solidFill>
                <a:latin typeface="Calibri" pitchFamily="34" charset="0"/>
                <a:ea typeface="Calibri" pitchFamily="34" charset="-122"/>
                <a:cs typeface="Calibri" pitchFamily="34" charset="-120"/>
              </a:rPr>
              <a:t>Ghaziabad 25</a:t>
            </a:r>
            <a:endParaRPr lang="en-US" sz="1000" dirty="0"/>
          </a:p>
        </p:txBody>
      </p:sp>
      <p:sp>
        <p:nvSpPr>
          <p:cNvPr id="20" name="Text 18"/>
          <p:cNvSpPr txBox="1"/>
          <p:nvPr/>
        </p:nvSpPr>
        <p:spPr>
          <a:xfrm>
            <a:off x="777240" y="5074920"/>
            <a:ext cx="4937760" cy="8229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Delhi NCR cities hold 7,947 of 9,551 records (83.2%)</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All records have coordinates; grid analysis groups points by 0.1° latitude/longitude</a:t>
            </a:r>
            <a:endParaRPr lang="en-US" sz="1200" dirty="0"/>
          </a:p>
        </p:txBody>
      </p:sp>
      <p:sp>
        <p:nvSpPr>
          <p:cNvPr id="21" name="Shape 19"/>
          <p:cNvSpPr/>
          <p:nvPr/>
        </p:nvSpPr>
        <p:spPr>
          <a:xfrm>
            <a:off x="6172200" y="1417320"/>
            <a:ext cx="5468112" cy="4526280"/>
          </a:xfrm>
          <a:prstGeom prst="roundRect">
            <a:avLst>
              <a:gd name="adj" fmla="val 2020"/>
            </a:avLst>
          </a:prstGeom>
          <a:solidFill>
            <a:srgbClr val="F4F6F8"/>
          </a:solidFill>
          <a:ln w="12700">
            <a:solidFill>
              <a:srgbClr val="F4F6F8"/>
            </a:solidFill>
            <a:prstDash val="solid"/>
          </a:ln>
        </p:spPr>
      </p:sp>
      <p:sp>
        <p:nvSpPr>
          <p:cNvPr id="22" name="Text 20"/>
          <p:cNvSpPr txBox="1"/>
          <p:nvPr/>
        </p:nvSpPr>
        <p:spPr>
          <a:xfrm>
            <a:off x="6400800" y="1554480"/>
            <a:ext cx="5029200" cy="274320"/>
          </a:xfrm>
          <a:prstGeom prst="rect">
            <a:avLst/>
          </a:prstGeom>
          <a:noFill/>
          <a:ln/>
        </p:spPr>
        <p:txBody>
          <a:bodyPr wrap="square" lIns="0" tIns="0" rIns="0" bIns="0" rtlCol="0" anchor="t"/>
          <a:lstStyle/>
          <a:p>
            <a:pPr indent="0" marL="0">
              <a:buNone/>
            </a:pPr>
            <a:r>
              <a:rPr lang="en-US" sz="1500" b="1" dirty="0">
                <a:solidFill>
                  <a:srgbClr val="1F2430"/>
                </a:solidFill>
                <a:latin typeface="Calibri" pitchFamily="34" charset="0"/>
                <a:ea typeface="Calibri" pitchFamily="34" charset="-122"/>
                <a:cs typeface="Calibri" pitchFamily="34" charset="-120"/>
              </a:rPr>
              <a:t>Top 10 repeated names (potential chains)</a:t>
            </a:r>
            <a:endParaRPr lang="en-US" sz="1500" dirty="0"/>
          </a:p>
        </p:txBody>
      </p:sp>
      <p:graphicFrame>
        <p:nvGraphicFramePr>
          <p:cNvPr id="23" name="Chart 0" descr=""/>
          <p:cNvGraphicFramePr/>
          <p:nvPr/>
        </p:nvGraphicFramePr>
        <p:xfrm>
          <a:off x="6263640" y="1828800"/>
          <a:ext cx="5303520" cy="2834640"/>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6400800" y="4846320"/>
            <a:ext cx="5074920" cy="10058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Barbeque Nation: 26 records, avg rating 4.35, 28,142 total votes (most)</a:t>
            </a:r>
            <a:endParaRPr lang="en-US" sz="1200" dirty="0"/>
          </a:p>
          <a:p>
            <a:pPr marL="342900" indent="-342900">
              <a:spcAft>
                <a:spcPts val="500"/>
              </a:spcAft>
              <a:buSzPct val="100000"/>
              <a:buChar char="•"/>
            </a:pPr>
            <a:r>
              <a:rPr lang="en-US" sz="1200" dirty="0">
                <a:solidFill>
                  <a:srgbClr val="1F2430"/>
                </a:solidFill>
                <a:latin typeface="Calibri" pitchFamily="34" charset="0"/>
                <a:ea typeface="Calibri" pitchFamily="34" charset="-122"/>
                <a:cs typeface="Calibri" pitchFamily="34" charset="-120"/>
              </a:rPr>
              <a:t>734 repeated names among 7,446 unique names</a:t>
            </a:r>
            <a:endParaRPr lang="en-US" sz="1200" dirty="0"/>
          </a:p>
        </p:txBody>
      </p:sp>
      <p:sp>
        <p:nvSpPr>
          <p:cNvPr id="25" name="Text 22"/>
          <p:cNvSpPr txBox="1"/>
          <p:nvPr/>
        </p:nvSpPr>
        <p:spPr>
          <a:xfrm>
            <a:off x="548640" y="6053328"/>
            <a:ext cx="11064240" cy="32004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Restaurant names appearing more than once were treated as potential chains; same-name restaurants may be unrelated. Some records show 0,0 coordinates.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300" kern="0" dirty="0">
                <a:solidFill>
                  <a:srgbClr val="E4572E"/>
                </a:solidFill>
                <a:latin typeface="Calibri" pitchFamily="34" charset="0"/>
                <a:ea typeface="Calibri" pitchFamily="34" charset="-122"/>
                <a:cs typeface="Calibri" pitchFamily="34" charset="-120"/>
              </a:rPr>
              <a:t>LEVEL 3</a:t>
            </a:r>
            <a:endParaRPr lang="en-US" sz="1200" dirty="0"/>
          </a:p>
        </p:txBody>
      </p:sp>
      <p:sp>
        <p:nvSpPr>
          <p:cNvPr id="3" name="Text 1"/>
          <p:cNvSpPr txBox="1"/>
          <p:nvPr/>
        </p:nvSpPr>
        <p:spPr>
          <a:xfrm>
            <a:off x="548640" y="621792"/>
            <a:ext cx="10972800" cy="594360"/>
          </a:xfrm>
          <a:prstGeom prst="rect">
            <a:avLst/>
          </a:prstGeom>
          <a:noFill/>
          <a:ln/>
        </p:spPr>
        <p:txBody>
          <a:bodyPr wrap="square" lIns="0" tIns="0" rIns="0" bIns="0" rtlCol="0" anchor="t"/>
          <a:lstStyle/>
          <a:p>
            <a:pPr indent="0" marL="0">
              <a:buNone/>
            </a:pPr>
            <a:r>
              <a:rPr lang="en-US" sz="3000" b="1" dirty="0">
                <a:solidFill>
                  <a:srgbClr val="1B1F2A"/>
                </a:solidFill>
                <a:latin typeface="Cambria" pitchFamily="34" charset="0"/>
                <a:ea typeface="Cambria" pitchFamily="34" charset="-122"/>
                <a:cs typeface="Cambria" pitchFamily="34" charset="-120"/>
              </a:rPr>
              <a:t>Level 3 — Reviews &amp; Votes Analysis</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Restaurant Data Analysis  |  Vikash Rao</a:t>
            </a:r>
            <a:endParaRPr lang="en-US" sz="1000" dirty="0"/>
          </a:p>
        </p:txBody>
      </p:sp>
      <p:sp>
        <p:nvSpPr>
          <p:cNvPr id="5" name="Text 3"/>
          <p:cNvSpPr txBox="1"/>
          <p:nvPr/>
        </p:nvSpPr>
        <p:spPr>
          <a:xfrm>
            <a:off x="11155680" y="6446520"/>
            <a:ext cx="4846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548640" y="1417320"/>
            <a:ext cx="5394960" cy="4526280"/>
          </a:xfrm>
          <a:prstGeom prst="roundRect">
            <a:avLst>
              <a:gd name="adj" fmla="val 2020"/>
            </a:avLst>
          </a:prstGeom>
          <a:solidFill>
            <a:srgbClr val="F4F6F8"/>
          </a:solidFill>
          <a:ln w="12700">
            <a:solidFill>
              <a:srgbClr val="F4F6F8"/>
            </a:solidFill>
            <a:prstDash val="solid"/>
          </a:ln>
        </p:spPr>
      </p:sp>
      <p:sp>
        <p:nvSpPr>
          <p:cNvPr id="7" name="Text 5"/>
          <p:cNvSpPr txBox="1"/>
          <p:nvPr/>
        </p:nvSpPr>
        <p:spPr>
          <a:xfrm>
            <a:off x="777240" y="1554480"/>
            <a:ext cx="4937760" cy="274320"/>
          </a:xfrm>
          <a:prstGeom prst="rect">
            <a:avLst/>
          </a:prstGeom>
          <a:noFill/>
          <a:ln/>
        </p:spPr>
        <p:txBody>
          <a:bodyPr wrap="square" lIns="0" tIns="0" rIns="0" bIns="0" rtlCol="0" anchor="t"/>
          <a:lstStyle/>
          <a:p>
            <a:pPr indent="0" marL="0">
              <a:buNone/>
            </a:pPr>
            <a:r>
              <a:rPr lang="en-US" sz="1500" b="1" dirty="0">
                <a:solidFill>
                  <a:srgbClr val="1F2430"/>
                </a:solidFill>
                <a:latin typeface="Calibri" pitchFamily="34" charset="0"/>
                <a:ea typeface="Calibri" pitchFamily="34" charset="-122"/>
                <a:cs typeface="Calibri" pitchFamily="34" charset="-120"/>
              </a:rPr>
              <a:t>Review analysis: keyword counts</a:t>
            </a:r>
            <a:endParaRPr lang="en-US" sz="1500" dirty="0"/>
          </a:p>
        </p:txBody>
      </p:sp>
      <p:graphicFrame>
        <p:nvGraphicFramePr>
          <p:cNvPr id="8" name="Chart 0" descr=""/>
          <p:cNvGraphicFramePr/>
          <p:nvPr/>
        </p:nvGraphicFramePr>
        <p:xfrm>
          <a:off x="640080" y="1828800"/>
          <a:ext cx="5212080" cy="18288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777240" y="3794760"/>
            <a:ext cx="1554480" cy="365760"/>
          </a:xfrm>
          <a:prstGeom prst="rect">
            <a:avLst/>
          </a:prstGeom>
          <a:noFill/>
          <a:ln/>
        </p:spPr>
        <p:txBody>
          <a:bodyPr wrap="square" lIns="0" tIns="0" rIns="0" bIns="0" rtlCol="0" anchor="t"/>
          <a:lstStyle/>
          <a:p>
            <a:pPr indent="0" marL="0">
              <a:buNone/>
            </a:pPr>
            <a:r>
              <a:rPr lang="en-US" sz="2200" b="1" dirty="0">
                <a:solidFill>
                  <a:srgbClr val="1F8A8A"/>
                </a:solidFill>
                <a:latin typeface="Cambria" pitchFamily="34" charset="0"/>
                <a:ea typeface="Cambria" pitchFamily="34" charset="-122"/>
                <a:cs typeface="Cambria" pitchFamily="34" charset="-120"/>
              </a:rPr>
              <a:t>1.34</a:t>
            </a:r>
            <a:endParaRPr lang="en-US" sz="2200" dirty="0"/>
          </a:p>
        </p:txBody>
      </p:sp>
      <p:sp>
        <p:nvSpPr>
          <p:cNvPr id="10" name="Text 7"/>
          <p:cNvSpPr txBox="1"/>
          <p:nvPr/>
        </p:nvSpPr>
        <p:spPr>
          <a:xfrm>
            <a:off x="777240" y="4160520"/>
            <a:ext cx="1463040" cy="36576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avg label length (words)</a:t>
            </a:r>
            <a:endParaRPr lang="en-US" sz="1100" dirty="0"/>
          </a:p>
        </p:txBody>
      </p:sp>
      <p:sp>
        <p:nvSpPr>
          <p:cNvPr id="11" name="Text 8"/>
          <p:cNvSpPr txBox="1"/>
          <p:nvPr/>
        </p:nvSpPr>
        <p:spPr>
          <a:xfrm>
            <a:off x="2423160" y="3794760"/>
            <a:ext cx="1554480" cy="365760"/>
          </a:xfrm>
          <a:prstGeom prst="rect">
            <a:avLst/>
          </a:prstGeom>
          <a:noFill/>
          <a:ln/>
        </p:spPr>
        <p:txBody>
          <a:bodyPr wrap="square" lIns="0" tIns="0" rIns="0" bIns="0" rtlCol="0" anchor="t"/>
          <a:lstStyle/>
          <a:p>
            <a:pPr indent="0" marL="0">
              <a:buNone/>
            </a:pPr>
            <a:r>
              <a:rPr lang="en-US" sz="2200" b="1" dirty="0">
                <a:solidFill>
                  <a:srgbClr val="1F8A8A"/>
                </a:solidFill>
                <a:latin typeface="Cambria" pitchFamily="34" charset="0"/>
                <a:ea typeface="Cambria" pitchFamily="34" charset="-122"/>
                <a:cs typeface="Cambria" pitchFamily="34" charset="-120"/>
              </a:rPr>
              <a:t>1–2</a:t>
            </a:r>
            <a:endParaRPr lang="en-US" sz="2200" dirty="0"/>
          </a:p>
        </p:txBody>
      </p:sp>
      <p:sp>
        <p:nvSpPr>
          <p:cNvPr id="12" name="Text 9"/>
          <p:cNvSpPr txBox="1"/>
          <p:nvPr/>
        </p:nvSpPr>
        <p:spPr>
          <a:xfrm>
            <a:off x="2423160" y="4160520"/>
            <a:ext cx="1463040" cy="36576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words per label</a:t>
            </a:r>
            <a:endParaRPr lang="en-US" sz="1100" dirty="0"/>
          </a:p>
        </p:txBody>
      </p:sp>
      <p:sp>
        <p:nvSpPr>
          <p:cNvPr id="13" name="Text 10"/>
          <p:cNvSpPr txBox="1"/>
          <p:nvPr/>
        </p:nvSpPr>
        <p:spPr>
          <a:xfrm>
            <a:off x="4069080" y="3794760"/>
            <a:ext cx="1554480" cy="365760"/>
          </a:xfrm>
          <a:prstGeom prst="rect">
            <a:avLst/>
          </a:prstGeom>
          <a:noFill/>
          <a:ln/>
        </p:spPr>
        <p:txBody>
          <a:bodyPr wrap="square" lIns="0" tIns="0" rIns="0" bIns="0" rtlCol="0" anchor="t"/>
          <a:lstStyle/>
          <a:p>
            <a:pPr indent="0" marL="0">
              <a:buNone/>
            </a:pPr>
            <a:r>
              <a:rPr lang="en-US" sz="2200" b="1" dirty="0">
                <a:solidFill>
                  <a:srgbClr val="1F8A8A"/>
                </a:solidFill>
                <a:latin typeface="Cambria" pitchFamily="34" charset="0"/>
                <a:ea typeface="Cambria" pitchFamily="34" charset="-122"/>
                <a:cs typeface="Cambria" pitchFamily="34" charset="-120"/>
              </a:rPr>
              <a:t>−0.60</a:t>
            </a:r>
            <a:endParaRPr lang="en-US" sz="2200" dirty="0"/>
          </a:p>
        </p:txBody>
      </p:sp>
      <p:sp>
        <p:nvSpPr>
          <p:cNvPr id="14" name="Text 11"/>
          <p:cNvSpPr txBox="1"/>
          <p:nvPr/>
        </p:nvSpPr>
        <p:spPr>
          <a:xfrm>
            <a:off x="4069080" y="4160520"/>
            <a:ext cx="1463040" cy="36576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length vs rating (r)</a:t>
            </a:r>
            <a:endParaRPr lang="en-US" sz="1100" dirty="0"/>
          </a:p>
        </p:txBody>
      </p:sp>
      <p:sp>
        <p:nvSpPr>
          <p:cNvPr id="15" name="Shape 12"/>
          <p:cNvSpPr/>
          <p:nvPr/>
        </p:nvSpPr>
        <p:spPr>
          <a:xfrm>
            <a:off x="777240" y="4663440"/>
            <a:ext cx="4937760" cy="1097280"/>
          </a:xfrm>
          <a:prstGeom prst="roundRect">
            <a:avLst>
              <a:gd name="adj" fmla="val 8333"/>
            </a:avLst>
          </a:prstGeom>
          <a:solidFill>
            <a:srgbClr val="FDF3DC"/>
          </a:solidFill>
          <a:ln w="12700">
            <a:solidFill>
              <a:srgbClr val="FDF3DC"/>
            </a:solidFill>
            <a:prstDash val="solid"/>
          </a:ln>
        </p:spPr>
      </p:sp>
      <p:sp>
        <p:nvSpPr>
          <p:cNvPr id="16" name="Text 13"/>
          <p:cNvSpPr txBox="1"/>
          <p:nvPr/>
        </p:nvSpPr>
        <p:spPr>
          <a:xfrm>
            <a:off x="914400" y="4736592"/>
            <a:ext cx="4663440" cy="960120"/>
          </a:xfrm>
          <a:prstGeom prst="rect">
            <a:avLst/>
          </a:prstGeom>
          <a:noFill/>
          <a:ln/>
        </p:spPr>
        <p:txBody>
          <a:bodyPr wrap="square" lIns="0" tIns="0" rIns="0" bIns="0" rtlCol="0" anchor="ctr"/>
          <a:lstStyle/>
          <a:p>
            <a:pPr indent="0" marL="0">
              <a:buNone/>
            </a:pPr>
            <a:r>
              <a:rPr lang="en-US" sz="1200" dirty="0">
                <a:solidFill>
                  <a:srgbClr val="1F2430"/>
                </a:solidFill>
                <a:latin typeface="Calibri" pitchFamily="34" charset="0"/>
                <a:ea typeface="Calibri" pitchFamily="34" charset="-122"/>
                <a:cs typeface="Calibri" pitchFamily="34" charset="-120"/>
              </a:rPr>
              <a:t>Predefined keyword lists (10 positive, 10 negative) — not an ML sentiment model. The dataset has no free-text reviews, so the short "Rating text" labels were analysed.</a:t>
            </a:r>
            <a:endParaRPr lang="en-US" sz="1200" dirty="0"/>
          </a:p>
        </p:txBody>
      </p:sp>
      <p:sp>
        <p:nvSpPr>
          <p:cNvPr id="17" name="Shape 14"/>
          <p:cNvSpPr/>
          <p:nvPr/>
        </p:nvSpPr>
        <p:spPr>
          <a:xfrm>
            <a:off x="6172200" y="1417320"/>
            <a:ext cx="5468112" cy="4526280"/>
          </a:xfrm>
          <a:prstGeom prst="roundRect">
            <a:avLst>
              <a:gd name="adj" fmla="val 2020"/>
            </a:avLst>
          </a:prstGeom>
          <a:solidFill>
            <a:srgbClr val="F4F6F8"/>
          </a:solidFill>
          <a:ln w="12700">
            <a:solidFill>
              <a:srgbClr val="F4F6F8"/>
            </a:solidFill>
            <a:prstDash val="solid"/>
          </a:ln>
        </p:spPr>
      </p:sp>
      <p:sp>
        <p:nvSpPr>
          <p:cNvPr id="18" name="Text 15"/>
          <p:cNvSpPr txBox="1"/>
          <p:nvPr/>
        </p:nvSpPr>
        <p:spPr>
          <a:xfrm>
            <a:off x="6400800" y="1554480"/>
            <a:ext cx="5029200" cy="274320"/>
          </a:xfrm>
          <a:prstGeom prst="rect">
            <a:avLst/>
          </a:prstGeom>
          <a:noFill/>
          <a:ln/>
        </p:spPr>
        <p:txBody>
          <a:bodyPr wrap="square" lIns="0" tIns="0" rIns="0" bIns="0" rtlCol="0" anchor="t"/>
          <a:lstStyle/>
          <a:p>
            <a:pPr indent="0" marL="0">
              <a:buNone/>
            </a:pPr>
            <a:r>
              <a:rPr lang="en-US" sz="1500" b="1" dirty="0">
                <a:solidFill>
                  <a:srgbClr val="1F2430"/>
                </a:solidFill>
                <a:latin typeface="Calibri" pitchFamily="34" charset="0"/>
                <a:ea typeface="Calibri" pitchFamily="34" charset="-122"/>
                <a:cs typeface="Calibri" pitchFamily="34" charset="-120"/>
              </a:rPr>
              <a:t>Votes analysis: top 10 by votes</a:t>
            </a:r>
            <a:endParaRPr lang="en-US" sz="1500" dirty="0"/>
          </a:p>
        </p:txBody>
      </p:sp>
      <p:graphicFrame>
        <p:nvGraphicFramePr>
          <p:cNvPr id="19" name="Chart 1" descr=""/>
          <p:cNvGraphicFramePr/>
          <p:nvPr/>
        </p:nvGraphicFramePr>
        <p:xfrm>
          <a:off x="6263640" y="1828800"/>
          <a:ext cx="5303520" cy="2514600"/>
        </p:xfrm>
        <a:graphic xmlns:a="http://schemas.openxmlformats.org/drawingml/2006/main">
          <a:graphicData uri="http://schemas.openxmlformats.org/drawingml/2006/chart">
            <c:chart xmlns:c="http://schemas.openxmlformats.org/drawingml/2006/chart" r:id="rId2"/>
          </a:graphicData>
        </a:graphic>
      </p:graphicFrame>
      <p:sp>
        <p:nvSpPr>
          <p:cNvPr id="20" name="Text 16"/>
          <p:cNvSpPr txBox="1"/>
          <p:nvPr/>
        </p:nvSpPr>
        <p:spPr>
          <a:xfrm>
            <a:off x="6400800" y="4434840"/>
            <a:ext cx="1554480" cy="365760"/>
          </a:xfrm>
          <a:prstGeom prst="rect">
            <a:avLst/>
          </a:prstGeom>
          <a:noFill/>
          <a:ln/>
        </p:spPr>
        <p:txBody>
          <a:bodyPr wrap="square" lIns="0" tIns="0" rIns="0" bIns="0" rtlCol="0" anchor="t"/>
          <a:lstStyle/>
          <a:p>
            <a:pPr indent="0" marL="0">
              <a:buNone/>
            </a:pPr>
            <a:r>
              <a:rPr lang="en-US" sz="2200" b="1" dirty="0">
                <a:solidFill>
                  <a:srgbClr val="E4572E"/>
                </a:solidFill>
                <a:latin typeface="Cambria" pitchFamily="34" charset="0"/>
                <a:ea typeface="Cambria" pitchFamily="34" charset="-122"/>
                <a:cs typeface="Cambria" pitchFamily="34" charset="-120"/>
              </a:rPr>
              <a:t>156.9</a:t>
            </a:r>
            <a:endParaRPr lang="en-US" sz="2200" dirty="0"/>
          </a:p>
        </p:txBody>
      </p:sp>
      <p:sp>
        <p:nvSpPr>
          <p:cNvPr id="21" name="Text 17"/>
          <p:cNvSpPr txBox="1"/>
          <p:nvPr/>
        </p:nvSpPr>
        <p:spPr>
          <a:xfrm>
            <a:off x="6400800" y="4800600"/>
            <a:ext cx="155448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mean votes</a:t>
            </a:r>
            <a:endParaRPr lang="en-US" sz="1100" dirty="0"/>
          </a:p>
        </p:txBody>
      </p:sp>
      <p:sp>
        <p:nvSpPr>
          <p:cNvPr id="22" name="Text 18"/>
          <p:cNvSpPr txBox="1"/>
          <p:nvPr/>
        </p:nvSpPr>
        <p:spPr>
          <a:xfrm>
            <a:off x="8092440" y="4434840"/>
            <a:ext cx="1554480" cy="365760"/>
          </a:xfrm>
          <a:prstGeom prst="rect">
            <a:avLst/>
          </a:prstGeom>
          <a:noFill/>
          <a:ln/>
        </p:spPr>
        <p:txBody>
          <a:bodyPr wrap="square" lIns="0" tIns="0" rIns="0" bIns="0" rtlCol="0" anchor="t"/>
          <a:lstStyle/>
          <a:p>
            <a:pPr indent="0" marL="0">
              <a:buNone/>
            </a:pPr>
            <a:r>
              <a:rPr lang="en-US" sz="2200" b="1" dirty="0">
                <a:solidFill>
                  <a:srgbClr val="E4572E"/>
                </a:solidFill>
                <a:latin typeface="Cambria" pitchFamily="34" charset="0"/>
                <a:ea typeface="Cambria" pitchFamily="34" charset="-122"/>
                <a:cs typeface="Cambria" pitchFamily="34" charset="-120"/>
              </a:rPr>
              <a:t>31</a:t>
            </a:r>
            <a:endParaRPr lang="en-US" sz="2200" dirty="0"/>
          </a:p>
        </p:txBody>
      </p:sp>
      <p:sp>
        <p:nvSpPr>
          <p:cNvPr id="23" name="Text 19"/>
          <p:cNvSpPr txBox="1"/>
          <p:nvPr/>
        </p:nvSpPr>
        <p:spPr>
          <a:xfrm>
            <a:off x="8092440" y="4800600"/>
            <a:ext cx="155448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median votes</a:t>
            </a:r>
            <a:endParaRPr lang="en-US" sz="1100" dirty="0"/>
          </a:p>
        </p:txBody>
      </p:sp>
      <p:sp>
        <p:nvSpPr>
          <p:cNvPr id="24" name="Text 20"/>
          <p:cNvSpPr txBox="1"/>
          <p:nvPr/>
        </p:nvSpPr>
        <p:spPr>
          <a:xfrm>
            <a:off x="9784080" y="4434840"/>
            <a:ext cx="1554480" cy="365760"/>
          </a:xfrm>
          <a:prstGeom prst="rect">
            <a:avLst/>
          </a:prstGeom>
          <a:noFill/>
          <a:ln/>
        </p:spPr>
        <p:txBody>
          <a:bodyPr wrap="square" lIns="0" tIns="0" rIns="0" bIns="0" rtlCol="0" anchor="t"/>
          <a:lstStyle/>
          <a:p>
            <a:pPr indent="0" marL="0">
              <a:buNone/>
            </a:pPr>
            <a:r>
              <a:rPr lang="en-US" sz="2200" b="1" dirty="0">
                <a:solidFill>
                  <a:srgbClr val="E4572E"/>
                </a:solidFill>
                <a:latin typeface="Cambria" pitchFamily="34" charset="0"/>
                <a:ea typeface="Cambria" pitchFamily="34" charset="-122"/>
                <a:cs typeface="Cambria" pitchFamily="34" charset="-120"/>
              </a:rPr>
              <a:t>0.31</a:t>
            </a:r>
            <a:endParaRPr lang="en-US" sz="2200" dirty="0"/>
          </a:p>
        </p:txBody>
      </p:sp>
      <p:sp>
        <p:nvSpPr>
          <p:cNvPr id="25" name="Text 21"/>
          <p:cNvSpPr txBox="1"/>
          <p:nvPr/>
        </p:nvSpPr>
        <p:spPr>
          <a:xfrm>
            <a:off x="9784080" y="4800600"/>
            <a:ext cx="155448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votes vs rating (r)</a:t>
            </a:r>
            <a:endParaRPr lang="en-US" sz="1100" dirty="0"/>
          </a:p>
        </p:txBody>
      </p:sp>
      <p:sp>
        <p:nvSpPr>
          <p:cNvPr id="26" name="Text 22"/>
          <p:cNvSpPr txBox="1"/>
          <p:nvPr/>
        </p:nvSpPr>
        <p:spPr>
          <a:xfrm>
            <a:off x="6400800" y="5166360"/>
            <a:ext cx="5074920" cy="68580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Avg rating rises with vote group: 2.18 (0–100 votes) to 4.47 (5,000+). Lowest-voted restaurants have 0 votes. Association, not causation.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300" kern="0" dirty="0">
                <a:solidFill>
                  <a:srgbClr val="E4572E"/>
                </a:solidFill>
                <a:latin typeface="Calibri" pitchFamily="34" charset="0"/>
                <a:ea typeface="Calibri" pitchFamily="34" charset="-122"/>
                <a:cs typeface="Calibri" pitchFamily="34" charset="-120"/>
              </a:rPr>
              <a:t>LEVEL 3</a:t>
            </a:r>
            <a:endParaRPr lang="en-US" sz="1200" dirty="0"/>
          </a:p>
        </p:txBody>
      </p:sp>
      <p:sp>
        <p:nvSpPr>
          <p:cNvPr id="3" name="Text 1"/>
          <p:cNvSpPr txBox="1"/>
          <p:nvPr/>
        </p:nvSpPr>
        <p:spPr>
          <a:xfrm>
            <a:off x="548640" y="621792"/>
            <a:ext cx="10972800" cy="594360"/>
          </a:xfrm>
          <a:prstGeom prst="rect">
            <a:avLst/>
          </a:prstGeom>
          <a:noFill/>
          <a:ln/>
        </p:spPr>
        <p:txBody>
          <a:bodyPr wrap="square" lIns="0" tIns="0" rIns="0" bIns="0" rtlCol="0" anchor="t"/>
          <a:lstStyle/>
          <a:p>
            <a:pPr indent="0" marL="0">
              <a:buNone/>
            </a:pPr>
            <a:r>
              <a:rPr lang="en-US" sz="3000" b="1" dirty="0">
                <a:solidFill>
                  <a:srgbClr val="1B1F2A"/>
                </a:solidFill>
                <a:latin typeface="Cambria" pitchFamily="34" charset="0"/>
                <a:ea typeface="Cambria" pitchFamily="34" charset="-122"/>
                <a:cs typeface="Cambria" pitchFamily="34" charset="-120"/>
              </a:rPr>
              <a:t>Price Range vs Restaurant Services</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Restaurant Data Analysis  |  Vikash Rao</a:t>
            </a:r>
            <a:endParaRPr lang="en-US" sz="1000" dirty="0"/>
          </a:p>
        </p:txBody>
      </p:sp>
      <p:sp>
        <p:nvSpPr>
          <p:cNvPr id="5" name="Text 3"/>
          <p:cNvSpPr txBox="1"/>
          <p:nvPr/>
        </p:nvSpPr>
        <p:spPr>
          <a:xfrm>
            <a:off x="11155680" y="6446520"/>
            <a:ext cx="4846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548640" y="1417320"/>
            <a:ext cx="7040880" cy="4526280"/>
          </a:xfrm>
          <a:prstGeom prst="roundRect">
            <a:avLst>
              <a:gd name="adj" fmla="val 2020"/>
            </a:avLst>
          </a:prstGeom>
          <a:solidFill>
            <a:srgbClr val="F4F6F8"/>
          </a:solidFill>
          <a:ln w="12700">
            <a:solidFill>
              <a:srgbClr val="F4F6F8"/>
            </a:solidFill>
            <a:prstDash val="solid"/>
          </a:ln>
        </p:spPr>
      </p:sp>
      <p:sp>
        <p:nvSpPr>
          <p:cNvPr id="7" name="Text 5"/>
          <p:cNvSpPr txBox="1"/>
          <p:nvPr/>
        </p:nvSpPr>
        <p:spPr>
          <a:xfrm>
            <a:off x="777240" y="1554480"/>
            <a:ext cx="6583680" cy="274320"/>
          </a:xfrm>
          <a:prstGeom prst="rect">
            <a:avLst/>
          </a:prstGeom>
          <a:noFill/>
          <a:ln/>
        </p:spPr>
        <p:txBody>
          <a:bodyPr wrap="square" lIns="0" tIns="0" rIns="0" bIns="0" rtlCol="0" anchor="t"/>
          <a:lstStyle/>
          <a:p>
            <a:pPr indent="0" marL="0">
              <a:buNone/>
            </a:pPr>
            <a:r>
              <a:rPr lang="en-US" sz="1400" b="1" dirty="0">
                <a:solidFill>
                  <a:srgbClr val="1F2430"/>
                </a:solidFill>
                <a:latin typeface="Calibri" pitchFamily="34" charset="0"/>
                <a:ea typeface="Calibri" pitchFamily="34" charset="-122"/>
                <a:cs typeface="Calibri" pitchFamily="34" charset="-120"/>
              </a:rPr>
              <a:t>Price Range → Service Availability (% of restaurants in each range)</a:t>
            </a:r>
            <a:endParaRPr lang="en-US" sz="1400" dirty="0"/>
          </a:p>
        </p:txBody>
      </p:sp>
      <p:graphicFrame>
        <p:nvGraphicFramePr>
          <p:cNvPr id="8" name="Chart 0" descr=""/>
          <p:cNvGraphicFramePr/>
          <p:nvPr/>
        </p:nvGraphicFramePr>
        <p:xfrm>
          <a:off x="685800" y="192024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818120" y="1417320"/>
            <a:ext cx="3822192" cy="1371600"/>
          </a:xfrm>
          <a:prstGeom prst="roundRect">
            <a:avLst>
              <a:gd name="adj" fmla="val 6667"/>
            </a:avLst>
          </a:prstGeom>
          <a:solidFill>
            <a:srgbClr val="F4F6F8"/>
          </a:solidFill>
          <a:ln w="12700">
            <a:solidFill>
              <a:srgbClr val="F4F6F8"/>
            </a:solidFill>
            <a:prstDash val="solid"/>
          </a:ln>
        </p:spPr>
      </p:sp>
      <p:sp>
        <p:nvSpPr>
          <p:cNvPr id="10" name="Shape 7"/>
          <p:cNvSpPr/>
          <p:nvPr/>
        </p:nvSpPr>
        <p:spPr>
          <a:xfrm>
            <a:off x="8001000" y="1600200"/>
            <a:ext cx="420624" cy="420624"/>
          </a:xfrm>
          <a:prstGeom prst="ellipse">
            <a:avLst/>
          </a:prstGeom>
          <a:solidFill>
            <a:srgbClr val="1F8A8A"/>
          </a:solidFill>
          <a:ln w="12700">
            <a:solidFill>
              <a:srgbClr val="1F8A8A"/>
            </a:solidFill>
            <a:prstDash val="solid"/>
          </a:ln>
        </p:spPr>
      </p:sp>
      <p:pic>
        <p:nvPicPr>
          <p:cNvPr id="11" name="Image 0" descr="preencoded.png">    </p:cNvPr>
          <p:cNvPicPr>
            <a:picLocks noChangeAspect="1"/>
          </p:cNvPicPr>
          <p:nvPr/>
        </p:nvPicPr>
        <p:blipFill>
          <a:blip r:embed="rId2"/>
          <a:stretch>
            <a:fillRect/>
          </a:stretch>
        </p:blipFill>
        <p:spPr>
          <a:xfrm>
            <a:off x="8106156" y="1705356"/>
            <a:ext cx="210312" cy="210312"/>
          </a:xfrm>
          <a:prstGeom prst="rect">
            <a:avLst/>
          </a:prstGeom>
        </p:spPr>
      </p:pic>
      <p:sp>
        <p:nvSpPr>
          <p:cNvPr id="12" name="Text 8"/>
          <p:cNvSpPr txBox="1"/>
          <p:nvPr/>
        </p:nvSpPr>
        <p:spPr>
          <a:xfrm>
            <a:off x="8595360" y="1600200"/>
            <a:ext cx="2926080" cy="420624"/>
          </a:xfrm>
          <a:prstGeom prst="rect">
            <a:avLst/>
          </a:prstGeom>
          <a:noFill/>
          <a:ln/>
        </p:spPr>
        <p:txBody>
          <a:bodyPr wrap="square" lIns="0" tIns="0" rIns="0" bIns="0" rtlCol="0" anchor="ctr"/>
          <a:lstStyle/>
          <a:p>
            <a:pPr indent="0" marL="0">
              <a:buNone/>
            </a:pPr>
            <a:r>
              <a:rPr lang="en-US" sz="1500" b="1" dirty="0">
                <a:solidFill>
                  <a:srgbClr val="1F2430"/>
                </a:solidFill>
                <a:latin typeface="Calibri" pitchFamily="34" charset="0"/>
                <a:ea typeface="Calibri" pitchFamily="34" charset="-122"/>
                <a:cs typeface="Calibri" pitchFamily="34" charset="-120"/>
              </a:rPr>
              <a:t>Delivery peaks at range 2</a:t>
            </a:r>
            <a:endParaRPr lang="en-US" sz="1500" dirty="0"/>
          </a:p>
        </p:txBody>
      </p:sp>
      <p:sp>
        <p:nvSpPr>
          <p:cNvPr id="13" name="Text 9"/>
          <p:cNvSpPr txBox="1"/>
          <p:nvPr/>
        </p:nvSpPr>
        <p:spPr>
          <a:xfrm>
            <a:off x="8001000" y="2167128"/>
            <a:ext cx="3474720" cy="54864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41.31%, then falls to 9.04% at range 4</a:t>
            </a:r>
            <a:endParaRPr lang="en-US" sz="1300" dirty="0"/>
          </a:p>
        </p:txBody>
      </p:sp>
      <p:sp>
        <p:nvSpPr>
          <p:cNvPr id="14" name="Shape 10"/>
          <p:cNvSpPr/>
          <p:nvPr/>
        </p:nvSpPr>
        <p:spPr>
          <a:xfrm>
            <a:off x="7818120" y="2953512"/>
            <a:ext cx="3822192" cy="1371600"/>
          </a:xfrm>
          <a:prstGeom prst="roundRect">
            <a:avLst>
              <a:gd name="adj" fmla="val 6667"/>
            </a:avLst>
          </a:prstGeom>
          <a:solidFill>
            <a:srgbClr val="F4F6F8"/>
          </a:solidFill>
          <a:ln w="12700">
            <a:solidFill>
              <a:srgbClr val="F4F6F8"/>
            </a:solidFill>
            <a:prstDash val="solid"/>
          </a:ln>
        </p:spPr>
      </p:sp>
      <p:sp>
        <p:nvSpPr>
          <p:cNvPr id="15" name="Shape 11"/>
          <p:cNvSpPr/>
          <p:nvPr/>
        </p:nvSpPr>
        <p:spPr>
          <a:xfrm>
            <a:off x="8001000" y="3136392"/>
            <a:ext cx="420624" cy="420624"/>
          </a:xfrm>
          <a:prstGeom prst="ellipse">
            <a:avLst/>
          </a:prstGeom>
          <a:solidFill>
            <a:srgbClr val="E4572E"/>
          </a:solidFill>
          <a:ln w="12700">
            <a:solidFill>
              <a:srgbClr val="E4572E"/>
            </a:solidFill>
            <a:prstDash val="solid"/>
          </a:ln>
        </p:spPr>
      </p:sp>
      <p:pic>
        <p:nvPicPr>
          <p:cNvPr id="16" name="Image 1" descr="preencoded.png">    </p:cNvPr>
          <p:cNvPicPr>
            <a:picLocks noChangeAspect="1"/>
          </p:cNvPicPr>
          <p:nvPr/>
        </p:nvPicPr>
        <p:blipFill>
          <a:blip r:embed="rId3"/>
          <a:stretch>
            <a:fillRect/>
          </a:stretch>
        </p:blipFill>
        <p:spPr>
          <a:xfrm>
            <a:off x="8106156" y="3241548"/>
            <a:ext cx="210312" cy="210312"/>
          </a:xfrm>
          <a:prstGeom prst="rect">
            <a:avLst/>
          </a:prstGeom>
        </p:spPr>
      </p:pic>
      <p:sp>
        <p:nvSpPr>
          <p:cNvPr id="17" name="Text 12"/>
          <p:cNvSpPr txBox="1"/>
          <p:nvPr/>
        </p:nvSpPr>
        <p:spPr>
          <a:xfrm>
            <a:off x="8595360" y="3136392"/>
            <a:ext cx="2926080" cy="420624"/>
          </a:xfrm>
          <a:prstGeom prst="rect">
            <a:avLst/>
          </a:prstGeom>
          <a:noFill/>
          <a:ln/>
        </p:spPr>
        <p:txBody>
          <a:bodyPr wrap="square" lIns="0" tIns="0" rIns="0" bIns="0" rtlCol="0" anchor="ctr"/>
          <a:lstStyle/>
          <a:p>
            <a:pPr indent="0" marL="0">
              <a:buNone/>
            </a:pPr>
            <a:r>
              <a:rPr lang="en-US" sz="1500" b="1" dirty="0">
                <a:solidFill>
                  <a:srgbClr val="1F2430"/>
                </a:solidFill>
                <a:latin typeface="Calibri" pitchFamily="34" charset="0"/>
                <a:ea typeface="Calibri" pitchFamily="34" charset="-122"/>
                <a:cs typeface="Calibri" pitchFamily="34" charset="-120"/>
              </a:rPr>
              <a:t>Booking rises with price</a:t>
            </a:r>
            <a:endParaRPr lang="en-US" sz="1500" dirty="0"/>
          </a:p>
        </p:txBody>
      </p:sp>
      <p:sp>
        <p:nvSpPr>
          <p:cNvPr id="18" name="Text 13"/>
          <p:cNvSpPr txBox="1"/>
          <p:nvPr/>
        </p:nvSpPr>
        <p:spPr>
          <a:xfrm>
            <a:off x="8001000" y="3703320"/>
            <a:ext cx="3474720" cy="54864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0.02% at range 1 to 46.76% at range 4</a:t>
            </a:r>
            <a:endParaRPr lang="en-US" sz="1300" dirty="0"/>
          </a:p>
        </p:txBody>
      </p:sp>
      <p:sp>
        <p:nvSpPr>
          <p:cNvPr id="19" name="Shape 14"/>
          <p:cNvSpPr/>
          <p:nvPr/>
        </p:nvSpPr>
        <p:spPr>
          <a:xfrm>
            <a:off x="7818120" y="4489704"/>
            <a:ext cx="3822192" cy="1371600"/>
          </a:xfrm>
          <a:prstGeom prst="roundRect">
            <a:avLst>
              <a:gd name="adj" fmla="val 6667"/>
            </a:avLst>
          </a:prstGeom>
          <a:solidFill>
            <a:srgbClr val="F4F6F8"/>
          </a:solidFill>
          <a:ln w="12700">
            <a:solidFill>
              <a:srgbClr val="F4F6F8"/>
            </a:solidFill>
            <a:prstDash val="solid"/>
          </a:ln>
        </p:spPr>
      </p:sp>
      <p:sp>
        <p:nvSpPr>
          <p:cNvPr id="20" name="Shape 15"/>
          <p:cNvSpPr/>
          <p:nvPr/>
        </p:nvSpPr>
        <p:spPr>
          <a:xfrm>
            <a:off x="8001000" y="4672584"/>
            <a:ext cx="420624" cy="420624"/>
          </a:xfrm>
          <a:prstGeom prst="ellipse">
            <a:avLst/>
          </a:prstGeom>
          <a:solidFill>
            <a:srgbClr val="C98A0B"/>
          </a:solidFill>
          <a:ln w="12700">
            <a:solidFill>
              <a:srgbClr val="C98A0B"/>
            </a:solidFill>
            <a:prstDash val="solid"/>
          </a:ln>
        </p:spPr>
      </p:sp>
      <p:pic>
        <p:nvPicPr>
          <p:cNvPr id="21" name="Image 2" descr="preencoded.png">    </p:cNvPr>
          <p:cNvPicPr>
            <a:picLocks noChangeAspect="1"/>
          </p:cNvPicPr>
          <p:nvPr/>
        </p:nvPicPr>
        <p:blipFill>
          <a:blip r:embed="rId4"/>
          <a:stretch>
            <a:fillRect/>
          </a:stretch>
        </p:blipFill>
        <p:spPr>
          <a:xfrm>
            <a:off x="8106156" y="4777740"/>
            <a:ext cx="210312" cy="210312"/>
          </a:xfrm>
          <a:prstGeom prst="rect">
            <a:avLst/>
          </a:prstGeom>
        </p:spPr>
      </p:pic>
      <p:sp>
        <p:nvSpPr>
          <p:cNvPr id="22" name="Text 16"/>
          <p:cNvSpPr txBox="1"/>
          <p:nvPr/>
        </p:nvSpPr>
        <p:spPr>
          <a:xfrm>
            <a:off x="8595360" y="4672584"/>
            <a:ext cx="2926080" cy="420624"/>
          </a:xfrm>
          <a:prstGeom prst="rect">
            <a:avLst/>
          </a:prstGeom>
          <a:noFill/>
          <a:ln/>
        </p:spPr>
        <p:txBody>
          <a:bodyPr wrap="square" lIns="0" tIns="0" rIns="0" bIns="0" rtlCol="0" anchor="ctr"/>
          <a:lstStyle/>
          <a:p>
            <a:pPr indent="0" marL="0">
              <a:buNone/>
            </a:pPr>
            <a:r>
              <a:rPr lang="en-US" sz="1500" b="1" dirty="0">
                <a:solidFill>
                  <a:srgbClr val="1F2430"/>
                </a:solidFill>
                <a:latin typeface="Calibri" pitchFamily="34" charset="0"/>
                <a:ea typeface="Calibri" pitchFamily="34" charset="-122"/>
                <a:cs typeface="Calibri" pitchFamily="34" charset="-120"/>
              </a:rPr>
              <a:t>Read with care</a:t>
            </a:r>
            <a:endParaRPr lang="en-US" sz="1500" dirty="0"/>
          </a:p>
        </p:txBody>
      </p:sp>
      <p:sp>
        <p:nvSpPr>
          <p:cNvPr id="23" name="Text 17"/>
          <p:cNvSpPr txBox="1"/>
          <p:nvPr/>
        </p:nvSpPr>
        <p:spPr>
          <a:xfrm>
            <a:off x="8001000" y="5239512"/>
            <a:ext cx="3474720" cy="54864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Range 4 has only 586 restaurants. These are associations, not causes.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300" kern="0" dirty="0">
                <a:solidFill>
                  <a:srgbClr val="E4572E"/>
                </a:solidFill>
                <a:latin typeface="Calibri" pitchFamily="34" charset="0"/>
                <a:ea typeface="Calibri" pitchFamily="34" charset="-122"/>
                <a:cs typeface="Calibri" pitchFamily="34" charset="-120"/>
              </a:rPr>
              <a:t>TAKEAWAYS</a:t>
            </a:r>
            <a:endParaRPr lang="en-US" sz="1200" dirty="0"/>
          </a:p>
        </p:txBody>
      </p:sp>
      <p:sp>
        <p:nvSpPr>
          <p:cNvPr id="3" name="Text 1"/>
          <p:cNvSpPr txBox="1"/>
          <p:nvPr/>
        </p:nvSpPr>
        <p:spPr>
          <a:xfrm>
            <a:off x="548640" y="621792"/>
            <a:ext cx="10972800" cy="594360"/>
          </a:xfrm>
          <a:prstGeom prst="rect">
            <a:avLst/>
          </a:prstGeom>
          <a:noFill/>
          <a:ln/>
        </p:spPr>
        <p:txBody>
          <a:bodyPr wrap="square" lIns="0" tIns="0" rIns="0" bIns="0" rtlCol="0" anchor="t"/>
          <a:lstStyle/>
          <a:p>
            <a:pPr indent="0" marL="0">
              <a:buNone/>
            </a:pPr>
            <a:r>
              <a:rPr lang="en-US" sz="3000" b="1" dirty="0">
                <a:solidFill>
                  <a:srgbClr val="1B1F2A"/>
                </a:solidFill>
                <a:latin typeface="Cambria" pitchFamily="34" charset="0"/>
                <a:ea typeface="Cambria" pitchFamily="34" charset="-122"/>
                <a:cs typeface="Cambria" pitchFamily="34" charset="-120"/>
              </a:rPr>
              <a:t>Key Insights &amp; Skills Demonstrated</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Restaurant Data Analysis  |  Vikash Rao</a:t>
            </a:r>
            <a:endParaRPr lang="en-US" sz="1000" dirty="0"/>
          </a:p>
        </p:txBody>
      </p:sp>
      <p:sp>
        <p:nvSpPr>
          <p:cNvPr id="5" name="Text 3"/>
          <p:cNvSpPr txBox="1"/>
          <p:nvPr/>
        </p:nvSpPr>
        <p:spPr>
          <a:xfrm>
            <a:off x="11155680" y="6446520"/>
            <a:ext cx="4846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548640" y="1417320"/>
            <a:ext cx="3246120" cy="960120"/>
          </a:xfrm>
          <a:prstGeom prst="roundRect">
            <a:avLst>
              <a:gd name="adj" fmla="val 9524"/>
            </a:avLst>
          </a:prstGeom>
          <a:solidFill>
            <a:srgbClr val="F4F6F8"/>
          </a:solidFill>
          <a:ln w="12700">
            <a:solidFill>
              <a:srgbClr val="F4F6F8"/>
            </a:solidFill>
            <a:prstDash val="solid"/>
          </a:ln>
        </p:spPr>
      </p:sp>
      <p:sp>
        <p:nvSpPr>
          <p:cNvPr id="7" name="Shape 5"/>
          <p:cNvSpPr/>
          <p:nvPr/>
        </p:nvSpPr>
        <p:spPr>
          <a:xfrm>
            <a:off x="713232" y="1682496"/>
            <a:ext cx="420624" cy="420624"/>
          </a:xfrm>
          <a:prstGeom prst="ellipse">
            <a:avLst/>
          </a:prstGeom>
          <a:solidFill>
            <a:srgbClr val="1F8A8A"/>
          </a:solidFill>
          <a:ln w="12700">
            <a:solidFill>
              <a:srgbClr val="1F8A8A"/>
            </a:solidFill>
            <a:prstDash val="solid"/>
          </a:ln>
        </p:spPr>
      </p:sp>
      <p:pic>
        <p:nvPicPr>
          <p:cNvPr id="8" name="Image 0" descr="preencoded.png">    </p:cNvPr>
          <p:cNvPicPr>
            <a:picLocks noChangeAspect="1"/>
          </p:cNvPicPr>
          <p:nvPr/>
        </p:nvPicPr>
        <p:blipFill>
          <a:blip r:embed="rId1"/>
          <a:stretch>
            <a:fillRect/>
          </a:stretch>
        </p:blipFill>
        <p:spPr>
          <a:xfrm>
            <a:off x="818388" y="1787652"/>
            <a:ext cx="210312" cy="210312"/>
          </a:xfrm>
          <a:prstGeom prst="rect">
            <a:avLst/>
          </a:prstGeom>
        </p:spPr>
      </p:pic>
      <p:sp>
        <p:nvSpPr>
          <p:cNvPr id="9" name="Text 6"/>
          <p:cNvSpPr txBox="1"/>
          <p:nvPr/>
        </p:nvSpPr>
        <p:spPr>
          <a:xfrm>
            <a:off x="1280160" y="1545336"/>
            <a:ext cx="2377440" cy="274320"/>
          </a:xfrm>
          <a:prstGeom prst="rect">
            <a:avLst/>
          </a:prstGeom>
          <a:noFill/>
          <a:ln/>
        </p:spPr>
        <p:txBody>
          <a:bodyPr wrap="square" lIns="0" tIns="0" rIns="0" bIns="0" rtlCol="0" anchor="t"/>
          <a:lstStyle/>
          <a:p>
            <a:pPr indent="0" marL="0">
              <a:buNone/>
            </a:pPr>
            <a:r>
              <a:rPr lang="en-US" sz="1300" b="1" dirty="0">
                <a:solidFill>
                  <a:srgbClr val="1B1F2A"/>
                </a:solidFill>
                <a:latin typeface="Calibri" pitchFamily="34" charset="0"/>
                <a:ea typeface="Calibri" pitchFamily="34" charset="-122"/>
                <a:cs typeface="Calibri" pitchFamily="34" charset="-120"/>
              </a:rPr>
              <a:t>Cuisines</a:t>
            </a:r>
            <a:endParaRPr lang="en-US" sz="1300" dirty="0"/>
          </a:p>
        </p:txBody>
      </p:sp>
      <p:sp>
        <p:nvSpPr>
          <p:cNvPr id="10" name="Text 7"/>
          <p:cNvSpPr txBox="1"/>
          <p:nvPr/>
        </p:nvSpPr>
        <p:spPr>
          <a:xfrm>
            <a:off x="1280160" y="1837944"/>
            <a:ext cx="2423160" cy="50292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North Indian leads at 41.5% of restaurants</a:t>
            </a:r>
            <a:endParaRPr lang="en-US" sz="1200" dirty="0"/>
          </a:p>
        </p:txBody>
      </p:sp>
      <p:sp>
        <p:nvSpPr>
          <p:cNvPr id="11" name="Shape 8"/>
          <p:cNvSpPr/>
          <p:nvPr/>
        </p:nvSpPr>
        <p:spPr>
          <a:xfrm>
            <a:off x="3950208" y="1417320"/>
            <a:ext cx="3246120" cy="960120"/>
          </a:xfrm>
          <a:prstGeom prst="roundRect">
            <a:avLst>
              <a:gd name="adj" fmla="val 9524"/>
            </a:avLst>
          </a:prstGeom>
          <a:solidFill>
            <a:srgbClr val="F4F6F8"/>
          </a:solidFill>
          <a:ln w="12700">
            <a:solidFill>
              <a:srgbClr val="F4F6F8"/>
            </a:solidFill>
            <a:prstDash val="solid"/>
          </a:ln>
        </p:spPr>
      </p:sp>
      <p:sp>
        <p:nvSpPr>
          <p:cNvPr id="12" name="Shape 9"/>
          <p:cNvSpPr/>
          <p:nvPr/>
        </p:nvSpPr>
        <p:spPr>
          <a:xfrm>
            <a:off x="4114800" y="1682496"/>
            <a:ext cx="420624" cy="420624"/>
          </a:xfrm>
          <a:prstGeom prst="ellipse">
            <a:avLst/>
          </a:prstGeom>
          <a:solidFill>
            <a:srgbClr val="E4572E"/>
          </a:solidFill>
          <a:ln w="12700">
            <a:solidFill>
              <a:srgbClr val="E4572E"/>
            </a:solidFill>
            <a:prstDash val="solid"/>
          </a:ln>
        </p:spPr>
      </p:sp>
      <p:pic>
        <p:nvPicPr>
          <p:cNvPr id="13" name="Image 1" descr="preencoded.png">    </p:cNvPr>
          <p:cNvPicPr>
            <a:picLocks noChangeAspect="1"/>
          </p:cNvPicPr>
          <p:nvPr/>
        </p:nvPicPr>
        <p:blipFill>
          <a:blip r:embed="rId2"/>
          <a:stretch>
            <a:fillRect/>
          </a:stretch>
        </p:blipFill>
        <p:spPr>
          <a:xfrm>
            <a:off x="4219956" y="1787652"/>
            <a:ext cx="210312" cy="210312"/>
          </a:xfrm>
          <a:prstGeom prst="rect">
            <a:avLst/>
          </a:prstGeom>
        </p:spPr>
      </p:pic>
      <p:sp>
        <p:nvSpPr>
          <p:cNvPr id="14" name="Text 10"/>
          <p:cNvSpPr txBox="1"/>
          <p:nvPr/>
        </p:nvSpPr>
        <p:spPr>
          <a:xfrm>
            <a:off x="4681728" y="1545336"/>
            <a:ext cx="2377440" cy="274320"/>
          </a:xfrm>
          <a:prstGeom prst="rect">
            <a:avLst/>
          </a:prstGeom>
          <a:noFill/>
          <a:ln/>
        </p:spPr>
        <p:txBody>
          <a:bodyPr wrap="square" lIns="0" tIns="0" rIns="0" bIns="0" rtlCol="0" anchor="t"/>
          <a:lstStyle/>
          <a:p>
            <a:pPr indent="0" marL="0">
              <a:buNone/>
            </a:pPr>
            <a:r>
              <a:rPr lang="en-US" sz="1300" b="1" dirty="0">
                <a:solidFill>
                  <a:srgbClr val="1B1F2A"/>
                </a:solidFill>
                <a:latin typeface="Calibri" pitchFamily="34" charset="0"/>
                <a:ea typeface="Calibri" pitchFamily="34" charset="-122"/>
                <a:cs typeface="Calibri" pitchFamily="34" charset="-120"/>
              </a:rPr>
              <a:t>Cities</a:t>
            </a:r>
            <a:endParaRPr lang="en-US" sz="1300" dirty="0"/>
          </a:p>
        </p:txBody>
      </p:sp>
      <p:sp>
        <p:nvSpPr>
          <p:cNvPr id="15" name="Text 11"/>
          <p:cNvSpPr txBox="1"/>
          <p:nvPr/>
        </p:nvSpPr>
        <p:spPr>
          <a:xfrm>
            <a:off x="4681728" y="1837944"/>
            <a:ext cx="2423160" cy="50292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New Delhi has the most records: 5,473</a:t>
            </a:r>
            <a:endParaRPr lang="en-US" sz="1200" dirty="0"/>
          </a:p>
        </p:txBody>
      </p:sp>
      <p:sp>
        <p:nvSpPr>
          <p:cNvPr id="16" name="Shape 12"/>
          <p:cNvSpPr/>
          <p:nvPr/>
        </p:nvSpPr>
        <p:spPr>
          <a:xfrm>
            <a:off x="548640" y="2514600"/>
            <a:ext cx="3246120" cy="960120"/>
          </a:xfrm>
          <a:prstGeom prst="roundRect">
            <a:avLst>
              <a:gd name="adj" fmla="val 9524"/>
            </a:avLst>
          </a:prstGeom>
          <a:solidFill>
            <a:srgbClr val="F4F6F8"/>
          </a:solidFill>
          <a:ln w="12700">
            <a:solidFill>
              <a:srgbClr val="F4F6F8"/>
            </a:solidFill>
            <a:prstDash val="solid"/>
          </a:ln>
        </p:spPr>
      </p:sp>
      <p:sp>
        <p:nvSpPr>
          <p:cNvPr id="17" name="Shape 13"/>
          <p:cNvSpPr/>
          <p:nvPr/>
        </p:nvSpPr>
        <p:spPr>
          <a:xfrm>
            <a:off x="713232" y="2779776"/>
            <a:ext cx="420624" cy="420624"/>
          </a:xfrm>
          <a:prstGeom prst="ellipse">
            <a:avLst/>
          </a:prstGeom>
          <a:solidFill>
            <a:srgbClr val="1F8A8A"/>
          </a:solidFill>
          <a:ln w="12700">
            <a:solidFill>
              <a:srgbClr val="1F8A8A"/>
            </a:solidFill>
            <a:prstDash val="solid"/>
          </a:ln>
        </p:spPr>
      </p:sp>
      <p:pic>
        <p:nvPicPr>
          <p:cNvPr id="18" name="Image 2" descr="preencoded.png">    </p:cNvPr>
          <p:cNvPicPr>
            <a:picLocks noChangeAspect="1"/>
          </p:cNvPicPr>
          <p:nvPr/>
        </p:nvPicPr>
        <p:blipFill>
          <a:blip r:embed="rId3"/>
          <a:stretch>
            <a:fillRect/>
          </a:stretch>
        </p:blipFill>
        <p:spPr>
          <a:xfrm>
            <a:off x="818388" y="2884932"/>
            <a:ext cx="210312" cy="210312"/>
          </a:xfrm>
          <a:prstGeom prst="rect">
            <a:avLst/>
          </a:prstGeom>
        </p:spPr>
      </p:pic>
      <p:sp>
        <p:nvSpPr>
          <p:cNvPr id="19" name="Text 14"/>
          <p:cNvSpPr txBox="1"/>
          <p:nvPr/>
        </p:nvSpPr>
        <p:spPr>
          <a:xfrm>
            <a:off x="1280160" y="2642616"/>
            <a:ext cx="2377440" cy="274320"/>
          </a:xfrm>
          <a:prstGeom prst="rect">
            <a:avLst/>
          </a:prstGeom>
          <a:noFill/>
          <a:ln/>
        </p:spPr>
        <p:txBody>
          <a:bodyPr wrap="square" lIns="0" tIns="0" rIns="0" bIns="0" rtlCol="0" anchor="t"/>
          <a:lstStyle/>
          <a:p>
            <a:pPr indent="0" marL="0">
              <a:buNone/>
            </a:pPr>
            <a:r>
              <a:rPr lang="en-US" sz="1300" b="1" dirty="0">
                <a:solidFill>
                  <a:srgbClr val="1B1F2A"/>
                </a:solidFill>
                <a:latin typeface="Calibri" pitchFamily="34" charset="0"/>
                <a:ea typeface="Calibri" pitchFamily="34" charset="-122"/>
                <a:cs typeface="Calibri" pitchFamily="34" charset="-120"/>
              </a:rPr>
              <a:t>Price Range</a:t>
            </a:r>
            <a:endParaRPr lang="en-US" sz="1300" dirty="0"/>
          </a:p>
        </p:txBody>
      </p:sp>
      <p:sp>
        <p:nvSpPr>
          <p:cNvPr id="20" name="Text 15"/>
          <p:cNvSpPr txBox="1"/>
          <p:nvPr/>
        </p:nvSpPr>
        <p:spPr>
          <a:xfrm>
            <a:off x="1280160" y="2935224"/>
            <a:ext cx="2423160" cy="50292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Range 1 is most common at 46.5%</a:t>
            </a:r>
            <a:endParaRPr lang="en-US" sz="1200" dirty="0"/>
          </a:p>
        </p:txBody>
      </p:sp>
      <p:sp>
        <p:nvSpPr>
          <p:cNvPr id="21" name="Shape 16"/>
          <p:cNvSpPr/>
          <p:nvPr/>
        </p:nvSpPr>
        <p:spPr>
          <a:xfrm>
            <a:off x="3950208" y="2514600"/>
            <a:ext cx="3246120" cy="960120"/>
          </a:xfrm>
          <a:prstGeom prst="roundRect">
            <a:avLst>
              <a:gd name="adj" fmla="val 9524"/>
            </a:avLst>
          </a:prstGeom>
          <a:solidFill>
            <a:srgbClr val="F4F6F8"/>
          </a:solidFill>
          <a:ln w="12700">
            <a:solidFill>
              <a:srgbClr val="F4F6F8"/>
            </a:solidFill>
            <a:prstDash val="solid"/>
          </a:ln>
        </p:spPr>
      </p:sp>
      <p:sp>
        <p:nvSpPr>
          <p:cNvPr id="22" name="Shape 17"/>
          <p:cNvSpPr/>
          <p:nvPr/>
        </p:nvSpPr>
        <p:spPr>
          <a:xfrm>
            <a:off x="4114800" y="2779776"/>
            <a:ext cx="420624" cy="420624"/>
          </a:xfrm>
          <a:prstGeom prst="ellipse">
            <a:avLst/>
          </a:prstGeom>
          <a:solidFill>
            <a:srgbClr val="E4572E"/>
          </a:solidFill>
          <a:ln w="12700">
            <a:solidFill>
              <a:srgbClr val="E4572E"/>
            </a:solidFill>
            <a:prstDash val="solid"/>
          </a:ln>
        </p:spPr>
      </p:sp>
      <p:pic>
        <p:nvPicPr>
          <p:cNvPr id="23" name="Image 3" descr="preencoded.png">    </p:cNvPr>
          <p:cNvPicPr>
            <a:picLocks noChangeAspect="1"/>
          </p:cNvPicPr>
          <p:nvPr/>
        </p:nvPicPr>
        <p:blipFill>
          <a:blip r:embed="rId4"/>
          <a:stretch>
            <a:fillRect/>
          </a:stretch>
        </p:blipFill>
        <p:spPr>
          <a:xfrm>
            <a:off x="4219956" y="2884932"/>
            <a:ext cx="210312" cy="210312"/>
          </a:xfrm>
          <a:prstGeom prst="rect">
            <a:avLst/>
          </a:prstGeom>
        </p:spPr>
      </p:pic>
      <p:sp>
        <p:nvSpPr>
          <p:cNvPr id="24" name="Text 18"/>
          <p:cNvSpPr txBox="1"/>
          <p:nvPr/>
        </p:nvSpPr>
        <p:spPr>
          <a:xfrm>
            <a:off x="4681728" y="2642616"/>
            <a:ext cx="2377440" cy="274320"/>
          </a:xfrm>
          <a:prstGeom prst="rect">
            <a:avLst/>
          </a:prstGeom>
          <a:noFill/>
          <a:ln/>
        </p:spPr>
        <p:txBody>
          <a:bodyPr wrap="square" lIns="0" tIns="0" rIns="0" bIns="0" rtlCol="0" anchor="t"/>
          <a:lstStyle/>
          <a:p>
            <a:pPr indent="0" marL="0">
              <a:buNone/>
            </a:pPr>
            <a:r>
              <a:rPr lang="en-US" sz="1300" b="1" dirty="0">
                <a:solidFill>
                  <a:srgbClr val="1B1F2A"/>
                </a:solidFill>
                <a:latin typeface="Calibri" pitchFamily="34" charset="0"/>
                <a:ea typeface="Calibri" pitchFamily="34" charset="-122"/>
                <a:cs typeface="Calibri" pitchFamily="34" charset="-120"/>
              </a:rPr>
              <a:t>Online Delivery</a:t>
            </a:r>
            <a:endParaRPr lang="en-US" sz="1300" dirty="0"/>
          </a:p>
        </p:txBody>
      </p:sp>
      <p:sp>
        <p:nvSpPr>
          <p:cNvPr id="25" name="Text 19"/>
          <p:cNvSpPr txBox="1"/>
          <p:nvPr/>
        </p:nvSpPr>
        <p:spPr>
          <a:xfrm>
            <a:off x="4681728" y="2935224"/>
            <a:ext cx="2423160" cy="50292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25.7% deliver; rated 3.25 vs 2.47</a:t>
            </a:r>
            <a:endParaRPr lang="en-US" sz="1200" dirty="0"/>
          </a:p>
        </p:txBody>
      </p:sp>
      <p:sp>
        <p:nvSpPr>
          <p:cNvPr id="26" name="Shape 20"/>
          <p:cNvSpPr/>
          <p:nvPr/>
        </p:nvSpPr>
        <p:spPr>
          <a:xfrm>
            <a:off x="548640" y="3611880"/>
            <a:ext cx="3246120" cy="960120"/>
          </a:xfrm>
          <a:prstGeom prst="roundRect">
            <a:avLst>
              <a:gd name="adj" fmla="val 9524"/>
            </a:avLst>
          </a:prstGeom>
          <a:solidFill>
            <a:srgbClr val="F4F6F8"/>
          </a:solidFill>
          <a:ln w="12700">
            <a:solidFill>
              <a:srgbClr val="F4F6F8"/>
            </a:solidFill>
            <a:prstDash val="solid"/>
          </a:ln>
        </p:spPr>
      </p:sp>
      <p:sp>
        <p:nvSpPr>
          <p:cNvPr id="27" name="Shape 21"/>
          <p:cNvSpPr/>
          <p:nvPr/>
        </p:nvSpPr>
        <p:spPr>
          <a:xfrm>
            <a:off x="713232" y="3877056"/>
            <a:ext cx="420624" cy="420624"/>
          </a:xfrm>
          <a:prstGeom prst="ellipse">
            <a:avLst/>
          </a:prstGeom>
          <a:solidFill>
            <a:srgbClr val="1F8A8A"/>
          </a:solidFill>
          <a:ln w="12700">
            <a:solidFill>
              <a:srgbClr val="1F8A8A"/>
            </a:solidFill>
            <a:prstDash val="solid"/>
          </a:ln>
        </p:spPr>
      </p:sp>
      <p:pic>
        <p:nvPicPr>
          <p:cNvPr id="28" name="Image 4" descr="preencoded.png">    </p:cNvPr>
          <p:cNvPicPr>
            <a:picLocks noChangeAspect="1"/>
          </p:cNvPicPr>
          <p:nvPr/>
        </p:nvPicPr>
        <p:blipFill>
          <a:blip r:embed="rId5"/>
          <a:stretch>
            <a:fillRect/>
          </a:stretch>
        </p:blipFill>
        <p:spPr>
          <a:xfrm>
            <a:off x="818388" y="3982212"/>
            <a:ext cx="210312" cy="210312"/>
          </a:xfrm>
          <a:prstGeom prst="rect">
            <a:avLst/>
          </a:prstGeom>
        </p:spPr>
      </p:pic>
      <p:sp>
        <p:nvSpPr>
          <p:cNvPr id="29" name="Text 22"/>
          <p:cNvSpPr txBox="1"/>
          <p:nvPr/>
        </p:nvSpPr>
        <p:spPr>
          <a:xfrm>
            <a:off x="1280160" y="3739896"/>
            <a:ext cx="2377440" cy="274320"/>
          </a:xfrm>
          <a:prstGeom prst="rect">
            <a:avLst/>
          </a:prstGeom>
          <a:noFill/>
          <a:ln/>
        </p:spPr>
        <p:txBody>
          <a:bodyPr wrap="square" lIns="0" tIns="0" rIns="0" bIns="0" rtlCol="0" anchor="t"/>
          <a:lstStyle/>
          <a:p>
            <a:pPr indent="0" marL="0">
              <a:buNone/>
            </a:pPr>
            <a:r>
              <a:rPr lang="en-US" sz="1300" b="1" dirty="0">
                <a:solidFill>
                  <a:srgbClr val="1B1F2A"/>
                </a:solidFill>
                <a:latin typeface="Calibri" pitchFamily="34" charset="0"/>
                <a:ea typeface="Calibri" pitchFamily="34" charset="-122"/>
                <a:cs typeface="Calibri" pitchFamily="34" charset="-120"/>
              </a:rPr>
              <a:t>Ratings</a:t>
            </a:r>
            <a:endParaRPr lang="en-US" sz="1300" dirty="0"/>
          </a:p>
        </p:txBody>
      </p:sp>
      <p:sp>
        <p:nvSpPr>
          <p:cNvPr id="30" name="Text 23"/>
          <p:cNvSpPr txBox="1"/>
          <p:nvPr/>
        </p:nvSpPr>
        <p:spPr>
          <a:xfrm>
            <a:off x="1280160" y="4032504"/>
            <a:ext cx="2423160" cy="50292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3–4 is the top range; 2,148 unrated</a:t>
            </a:r>
            <a:endParaRPr lang="en-US" sz="1200" dirty="0"/>
          </a:p>
        </p:txBody>
      </p:sp>
      <p:sp>
        <p:nvSpPr>
          <p:cNvPr id="31" name="Shape 24"/>
          <p:cNvSpPr/>
          <p:nvPr/>
        </p:nvSpPr>
        <p:spPr>
          <a:xfrm>
            <a:off x="3950208" y="3611880"/>
            <a:ext cx="3246120" cy="960120"/>
          </a:xfrm>
          <a:prstGeom prst="roundRect">
            <a:avLst>
              <a:gd name="adj" fmla="val 9524"/>
            </a:avLst>
          </a:prstGeom>
          <a:solidFill>
            <a:srgbClr val="F4F6F8"/>
          </a:solidFill>
          <a:ln w="12700">
            <a:solidFill>
              <a:srgbClr val="F4F6F8"/>
            </a:solidFill>
            <a:prstDash val="solid"/>
          </a:ln>
        </p:spPr>
      </p:sp>
      <p:sp>
        <p:nvSpPr>
          <p:cNvPr id="32" name="Shape 25"/>
          <p:cNvSpPr/>
          <p:nvPr/>
        </p:nvSpPr>
        <p:spPr>
          <a:xfrm>
            <a:off x="4114800" y="3877056"/>
            <a:ext cx="420624" cy="420624"/>
          </a:xfrm>
          <a:prstGeom prst="ellipse">
            <a:avLst/>
          </a:prstGeom>
          <a:solidFill>
            <a:srgbClr val="E4572E"/>
          </a:solidFill>
          <a:ln w="12700">
            <a:solidFill>
              <a:srgbClr val="E4572E"/>
            </a:solidFill>
            <a:prstDash val="solid"/>
          </a:ln>
        </p:spPr>
      </p:sp>
      <p:pic>
        <p:nvPicPr>
          <p:cNvPr id="33" name="Image 5" descr="preencoded.png">    </p:cNvPr>
          <p:cNvPicPr>
            <a:picLocks noChangeAspect="1"/>
          </p:cNvPicPr>
          <p:nvPr/>
        </p:nvPicPr>
        <p:blipFill>
          <a:blip r:embed="rId6"/>
          <a:stretch>
            <a:fillRect/>
          </a:stretch>
        </p:blipFill>
        <p:spPr>
          <a:xfrm>
            <a:off x="4219956" y="3982212"/>
            <a:ext cx="210312" cy="210312"/>
          </a:xfrm>
          <a:prstGeom prst="rect">
            <a:avLst/>
          </a:prstGeom>
        </p:spPr>
      </p:pic>
      <p:sp>
        <p:nvSpPr>
          <p:cNvPr id="34" name="Text 26"/>
          <p:cNvSpPr txBox="1"/>
          <p:nvPr/>
        </p:nvSpPr>
        <p:spPr>
          <a:xfrm>
            <a:off x="4681728" y="3739896"/>
            <a:ext cx="2377440" cy="274320"/>
          </a:xfrm>
          <a:prstGeom prst="rect">
            <a:avLst/>
          </a:prstGeom>
          <a:noFill/>
          <a:ln/>
        </p:spPr>
        <p:txBody>
          <a:bodyPr wrap="square" lIns="0" tIns="0" rIns="0" bIns="0" rtlCol="0" anchor="t"/>
          <a:lstStyle/>
          <a:p>
            <a:pPr indent="0" marL="0">
              <a:buNone/>
            </a:pPr>
            <a:r>
              <a:rPr lang="en-US" sz="1300" b="1" dirty="0">
                <a:solidFill>
                  <a:srgbClr val="1B1F2A"/>
                </a:solidFill>
                <a:latin typeface="Calibri" pitchFamily="34" charset="0"/>
                <a:ea typeface="Calibri" pitchFamily="34" charset="-122"/>
                <a:cs typeface="Calibri" pitchFamily="34" charset="-120"/>
              </a:rPr>
              <a:t>Chains</a:t>
            </a:r>
            <a:endParaRPr lang="en-US" sz="1300" dirty="0"/>
          </a:p>
        </p:txBody>
      </p:sp>
      <p:sp>
        <p:nvSpPr>
          <p:cNvPr id="35" name="Text 27"/>
          <p:cNvSpPr txBox="1"/>
          <p:nvPr/>
        </p:nvSpPr>
        <p:spPr>
          <a:xfrm>
            <a:off x="4681728" y="4032504"/>
            <a:ext cx="2423160" cy="50292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Cafe Coffee Day: 83 records</a:t>
            </a:r>
            <a:endParaRPr lang="en-US" sz="1200" dirty="0"/>
          </a:p>
        </p:txBody>
      </p:sp>
      <p:sp>
        <p:nvSpPr>
          <p:cNvPr id="36" name="Shape 28"/>
          <p:cNvSpPr/>
          <p:nvPr/>
        </p:nvSpPr>
        <p:spPr>
          <a:xfrm>
            <a:off x="548640" y="4709160"/>
            <a:ext cx="3246120" cy="960120"/>
          </a:xfrm>
          <a:prstGeom prst="roundRect">
            <a:avLst>
              <a:gd name="adj" fmla="val 9524"/>
            </a:avLst>
          </a:prstGeom>
          <a:solidFill>
            <a:srgbClr val="F4F6F8"/>
          </a:solidFill>
          <a:ln w="12700">
            <a:solidFill>
              <a:srgbClr val="F4F6F8"/>
            </a:solidFill>
            <a:prstDash val="solid"/>
          </a:ln>
        </p:spPr>
      </p:sp>
      <p:sp>
        <p:nvSpPr>
          <p:cNvPr id="37" name="Shape 29"/>
          <p:cNvSpPr/>
          <p:nvPr/>
        </p:nvSpPr>
        <p:spPr>
          <a:xfrm>
            <a:off x="713232" y="4974336"/>
            <a:ext cx="420624" cy="420624"/>
          </a:xfrm>
          <a:prstGeom prst="ellipse">
            <a:avLst/>
          </a:prstGeom>
          <a:solidFill>
            <a:srgbClr val="1F8A8A"/>
          </a:solidFill>
          <a:ln w="12700">
            <a:solidFill>
              <a:srgbClr val="1F8A8A"/>
            </a:solidFill>
            <a:prstDash val="solid"/>
          </a:ln>
        </p:spPr>
      </p:sp>
      <p:pic>
        <p:nvPicPr>
          <p:cNvPr id="38" name="Image 6" descr="preencoded.png">    </p:cNvPr>
          <p:cNvPicPr>
            <a:picLocks noChangeAspect="1"/>
          </p:cNvPicPr>
          <p:nvPr/>
        </p:nvPicPr>
        <p:blipFill>
          <a:blip r:embed="rId7"/>
          <a:stretch>
            <a:fillRect/>
          </a:stretch>
        </p:blipFill>
        <p:spPr>
          <a:xfrm>
            <a:off x="818388" y="5079492"/>
            <a:ext cx="210312" cy="210312"/>
          </a:xfrm>
          <a:prstGeom prst="rect">
            <a:avLst/>
          </a:prstGeom>
        </p:spPr>
      </p:pic>
      <p:sp>
        <p:nvSpPr>
          <p:cNvPr id="39" name="Text 30"/>
          <p:cNvSpPr txBox="1"/>
          <p:nvPr/>
        </p:nvSpPr>
        <p:spPr>
          <a:xfrm>
            <a:off x="1280160" y="4837176"/>
            <a:ext cx="2377440" cy="274320"/>
          </a:xfrm>
          <a:prstGeom prst="rect">
            <a:avLst/>
          </a:prstGeom>
          <a:noFill/>
          <a:ln/>
        </p:spPr>
        <p:txBody>
          <a:bodyPr wrap="square" lIns="0" tIns="0" rIns="0" bIns="0" rtlCol="0" anchor="t"/>
          <a:lstStyle/>
          <a:p>
            <a:pPr indent="0" marL="0">
              <a:buNone/>
            </a:pPr>
            <a:r>
              <a:rPr lang="en-US" sz="1300" b="1" dirty="0">
                <a:solidFill>
                  <a:srgbClr val="1B1F2A"/>
                </a:solidFill>
                <a:latin typeface="Calibri" pitchFamily="34" charset="0"/>
                <a:ea typeface="Calibri" pitchFamily="34" charset="-122"/>
                <a:cs typeface="Calibri" pitchFamily="34" charset="-120"/>
              </a:rPr>
              <a:t>Votes</a:t>
            </a:r>
            <a:endParaRPr lang="en-US" sz="1300" dirty="0"/>
          </a:p>
        </p:txBody>
      </p:sp>
      <p:sp>
        <p:nvSpPr>
          <p:cNvPr id="40" name="Text 31"/>
          <p:cNvSpPr txBox="1"/>
          <p:nvPr/>
        </p:nvSpPr>
        <p:spPr>
          <a:xfrm>
            <a:off x="1280160" y="5129784"/>
            <a:ext cx="2423160" cy="50292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Median 31 votes; r = 0.31 with rating</a:t>
            </a:r>
            <a:endParaRPr lang="en-US" sz="1200" dirty="0"/>
          </a:p>
        </p:txBody>
      </p:sp>
      <p:sp>
        <p:nvSpPr>
          <p:cNvPr id="41" name="Shape 32"/>
          <p:cNvSpPr/>
          <p:nvPr/>
        </p:nvSpPr>
        <p:spPr>
          <a:xfrm>
            <a:off x="3950208" y="4709160"/>
            <a:ext cx="3246120" cy="960120"/>
          </a:xfrm>
          <a:prstGeom prst="roundRect">
            <a:avLst>
              <a:gd name="adj" fmla="val 9524"/>
            </a:avLst>
          </a:prstGeom>
          <a:solidFill>
            <a:srgbClr val="F4F6F8"/>
          </a:solidFill>
          <a:ln w="12700">
            <a:solidFill>
              <a:srgbClr val="F4F6F8"/>
            </a:solidFill>
            <a:prstDash val="solid"/>
          </a:ln>
        </p:spPr>
      </p:sp>
      <p:sp>
        <p:nvSpPr>
          <p:cNvPr id="42" name="Shape 33"/>
          <p:cNvSpPr/>
          <p:nvPr/>
        </p:nvSpPr>
        <p:spPr>
          <a:xfrm>
            <a:off x="4114800" y="4974336"/>
            <a:ext cx="420624" cy="420624"/>
          </a:xfrm>
          <a:prstGeom prst="ellipse">
            <a:avLst/>
          </a:prstGeom>
          <a:solidFill>
            <a:srgbClr val="E4572E"/>
          </a:solidFill>
          <a:ln w="12700">
            <a:solidFill>
              <a:srgbClr val="E4572E"/>
            </a:solidFill>
            <a:prstDash val="solid"/>
          </a:ln>
        </p:spPr>
      </p:sp>
      <p:pic>
        <p:nvPicPr>
          <p:cNvPr id="43" name="Image 7" descr="preencoded.png">    </p:cNvPr>
          <p:cNvPicPr>
            <a:picLocks noChangeAspect="1"/>
          </p:cNvPicPr>
          <p:nvPr/>
        </p:nvPicPr>
        <p:blipFill>
          <a:blip r:embed="rId8"/>
          <a:stretch>
            <a:fillRect/>
          </a:stretch>
        </p:blipFill>
        <p:spPr>
          <a:xfrm>
            <a:off x="4219956" y="5079492"/>
            <a:ext cx="210312" cy="210312"/>
          </a:xfrm>
          <a:prstGeom prst="rect">
            <a:avLst/>
          </a:prstGeom>
        </p:spPr>
      </p:pic>
      <p:sp>
        <p:nvSpPr>
          <p:cNvPr id="44" name="Text 34"/>
          <p:cNvSpPr txBox="1"/>
          <p:nvPr/>
        </p:nvSpPr>
        <p:spPr>
          <a:xfrm>
            <a:off x="4681728" y="4837176"/>
            <a:ext cx="2377440" cy="274320"/>
          </a:xfrm>
          <a:prstGeom prst="rect">
            <a:avLst/>
          </a:prstGeom>
          <a:noFill/>
          <a:ln/>
        </p:spPr>
        <p:txBody>
          <a:bodyPr wrap="square" lIns="0" tIns="0" rIns="0" bIns="0" rtlCol="0" anchor="t"/>
          <a:lstStyle/>
          <a:p>
            <a:pPr indent="0" marL="0">
              <a:buNone/>
            </a:pPr>
            <a:r>
              <a:rPr lang="en-US" sz="1300" b="1" dirty="0">
                <a:solidFill>
                  <a:srgbClr val="1B1F2A"/>
                </a:solidFill>
                <a:latin typeface="Calibri" pitchFamily="34" charset="0"/>
                <a:ea typeface="Calibri" pitchFamily="34" charset="-122"/>
                <a:cs typeface="Calibri" pitchFamily="34" charset="-120"/>
              </a:rPr>
              <a:t>Services</a:t>
            </a:r>
            <a:endParaRPr lang="en-US" sz="1300" dirty="0"/>
          </a:p>
        </p:txBody>
      </p:sp>
      <p:sp>
        <p:nvSpPr>
          <p:cNvPr id="45" name="Text 35"/>
          <p:cNvSpPr txBox="1"/>
          <p:nvPr/>
        </p:nvSpPr>
        <p:spPr>
          <a:xfrm>
            <a:off x="4681728" y="5129784"/>
            <a:ext cx="2423160" cy="50292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Booking rises with price; delivery peaks at range 2</a:t>
            </a:r>
            <a:endParaRPr lang="en-US" sz="1200" dirty="0"/>
          </a:p>
        </p:txBody>
      </p:sp>
      <p:sp>
        <p:nvSpPr>
          <p:cNvPr id="46" name="Text 36"/>
          <p:cNvSpPr txBox="1"/>
          <p:nvPr/>
        </p:nvSpPr>
        <p:spPr>
          <a:xfrm>
            <a:off x="548640" y="5852160"/>
            <a:ext cx="6583680" cy="274320"/>
          </a:xfrm>
          <a:prstGeom prst="rect">
            <a:avLst/>
          </a:prstGeom>
          <a:noFill/>
          <a:ln/>
        </p:spPr>
        <p:txBody>
          <a:bodyPr wrap="square" lIns="0" tIns="0" rIns="0" bIns="0"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Also covered: cuisine combinations · geographic distribution · reviews</a:t>
            </a:r>
            <a:endParaRPr lang="en-US" sz="1200" dirty="0"/>
          </a:p>
        </p:txBody>
      </p:sp>
      <p:sp>
        <p:nvSpPr>
          <p:cNvPr id="47" name="Shape 37"/>
          <p:cNvSpPr/>
          <p:nvPr/>
        </p:nvSpPr>
        <p:spPr>
          <a:xfrm>
            <a:off x="7406640" y="1417320"/>
            <a:ext cx="4233672" cy="2423160"/>
          </a:xfrm>
          <a:prstGeom prst="roundRect">
            <a:avLst>
              <a:gd name="adj" fmla="val 3774"/>
            </a:avLst>
          </a:prstGeom>
          <a:solidFill>
            <a:srgbClr val="1B1F2A"/>
          </a:solidFill>
          <a:ln w="12700">
            <a:solidFill>
              <a:srgbClr val="1B1F2A"/>
            </a:solidFill>
            <a:prstDash val="solid"/>
          </a:ln>
        </p:spPr>
      </p:sp>
      <p:sp>
        <p:nvSpPr>
          <p:cNvPr id="48" name="Text 38"/>
          <p:cNvSpPr txBox="1"/>
          <p:nvPr/>
        </p:nvSpPr>
        <p:spPr>
          <a:xfrm>
            <a:off x="7635240" y="1554480"/>
            <a:ext cx="3657600" cy="320040"/>
          </a:xfrm>
          <a:prstGeom prst="rect">
            <a:avLst/>
          </a:prstGeom>
          <a:noFill/>
          <a:ln/>
        </p:spPr>
        <p:txBody>
          <a:bodyPr wrap="square" lIns="0" tIns="0" rIns="0" bIns="0" rtlCol="0" anchor="t"/>
          <a:lstStyle/>
          <a:p>
            <a:pPr indent="0" marL="0">
              <a:buNone/>
            </a:pPr>
            <a:r>
              <a:rPr lang="en-US" sz="1800" b="1" dirty="0">
                <a:solidFill>
                  <a:srgbClr val="5CC8C8"/>
                </a:solidFill>
                <a:latin typeface="Cambria" pitchFamily="34" charset="0"/>
                <a:ea typeface="Cambria" pitchFamily="34" charset="-122"/>
                <a:cs typeface="Cambria" pitchFamily="34" charset="-120"/>
              </a:rPr>
              <a:t>Python</a:t>
            </a:r>
            <a:endParaRPr lang="en-US" sz="1800" dirty="0"/>
          </a:p>
        </p:txBody>
      </p:sp>
      <p:sp>
        <p:nvSpPr>
          <p:cNvPr id="49" name="Shape 39"/>
          <p:cNvSpPr/>
          <p:nvPr/>
        </p:nvSpPr>
        <p:spPr>
          <a:xfrm>
            <a:off x="7635240" y="2011680"/>
            <a:ext cx="740664" cy="329184"/>
          </a:xfrm>
          <a:prstGeom prst="roundRect">
            <a:avLst>
              <a:gd name="adj" fmla="val 27778"/>
            </a:avLst>
          </a:prstGeom>
          <a:solidFill>
            <a:srgbClr val="2C3345"/>
          </a:solidFill>
          <a:ln w="12700">
            <a:solidFill>
              <a:srgbClr val="2C3345"/>
            </a:solidFill>
            <a:prstDash val="solid"/>
          </a:ln>
        </p:spPr>
      </p:sp>
      <p:sp>
        <p:nvSpPr>
          <p:cNvPr id="50" name="Text 40"/>
          <p:cNvSpPr txBox="1"/>
          <p:nvPr/>
        </p:nvSpPr>
        <p:spPr>
          <a:xfrm>
            <a:off x="7635240" y="2011680"/>
            <a:ext cx="740664"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Pandas</a:t>
            </a:r>
            <a:endParaRPr lang="en-US" sz="1100" dirty="0"/>
          </a:p>
        </p:txBody>
      </p:sp>
      <p:sp>
        <p:nvSpPr>
          <p:cNvPr id="51" name="Shape 41"/>
          <p:cNvSpPr/>
          <p:nvPr/>
        </p:nvSpPr>
        <p:spPr>
          <a:xfrm>
            <a:off x="8467344" y="2011680"/>
            <a:ext cx="662940" cy="329184"/>
          </a:xfrm>
          <a:prstGeom prst="roundRect">
            <a:avLst>
              <a:gd name="adj" fmla="val 27778"/>
            </a:avLst>
          </a:prstGeom>
          <a:solidFill>
            <a:srgbClr val="2C3345"/>
          </a:solidFill>
          <a:ln w="12700">
            <a:solidFill>
              <a:srgbClr val="2C3345"/>
            </a:solidFill>
            <a:prstDash val="solid"/>
          </a:ln>
        </p:spPr>
      </p:sp>
      <p:sp>
        <p:nvSpPr>
          <p:cNvPr id="52" name="Text 42"/>
          <p:cNvSpPr txBox="1"/>
          <p:nvPr/>
        </p:nvSpPr>
        <p:spPr>
          <a:xfrm>
            <a:off x="8467344" y="2011680"/>
            <a:ext cx="662940"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NumPy</a:t>
            </a:r>
            <a:endParaRPr lang="en-US" sz="1100" dirty="0"/>
          </a:p>
        </p:txBody>
      </p:sp>
      <p:sp>
        <p:nvSpPr>
          <p:cNvPr id="53" name="Shape 43"/>
          <p:cNvSpPr/>
          <p:nvPr/>
        </p:nvSpPr>
        <p:spPr>
          <a:xfrm>
            <a:off x="9221724" y="2011680"/>
            <a:ext cx="1051560" cy="329184"/>
          </a:xfrm>
          <a:prstGeom prst="roundRect">
            <a:avLst>
              <a:gd name="adj" fmla="val 27778"/>
            </a:avLst>
          </a:prstGeom>
          <a:solidFill>
            <a:srgbClr val="2C3345"/>
          </a:solidFill>
          <a:ln w="12700">
            <a:solidFill>
              <a:srgbClr val="2C3345"/>
            </a:solidFill>
            <a:prstDash val="solid"/>
          </a:ln>
        </p:spPr>
      </p:sp>
      <p:sp>
        <p:nvSpPr>
          <p:cNvPr id="54" name="Text 44"/>
          <p:cNvSpPr txBox="1"/>
          <p:nvPr/>
        </p:nvSpPr>
        <p:spPr>
          <a:xfrm>
            <a:off x="9221724" y="2011680"/>
            <a:ext cx="1051560"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Matplotlib</a:t>
            </a:r>
            <a:endParaRPr lang="en-US" sz="1100" dirty="0"/>
          </a:p>
        </p:txBody>
      </p:sp>
      <p:sp>
        <p:nvSpPr>
          <p:cNvPr id="55" name="Shape 45"/>
          <p:cNvSpPr/>
          <p:nvPr/>
        </p:nvSpPr>
        <p:spPr>
          <a:xfrm>
            <a:off x="10364724" y="2011680"/>
            <a:ext cx="1051560" cy="329184"/>
          </a:xfrm>
          <a:prstGeom prst="roundRect">
            <a:avLst>
              <a:gd name="adj" fmla="val 27778"/>
            </a:avLst>
          </a:prstGeom>
          <a:solidFill>
            <a:srgbClr val="2C3345"/>
          </a:solidFill>
          <a:ln w="12700">
            <a:solidFill>
              <a:srgbClr val="2C3345"/>
            </a:solidFill>
            <a:prstDash val="solid"/>
          </a:ln>
        </p:spPr>
      </p:sp>
      <p:sp>
        <p:nvSpPr>
          <p:cNvPr id="56" name="Text 46"/>
          <p:cNvSpPr txBox="1"/>
          <p:nvPr/>
        </p:nvSpPr>
        <p:spPr>
          <a:xfrm>
            <a:off x="10364724" y="2011680"/>
            <a:ext cx="1051560"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DataFrames</a:t>
            </a:r>
            <a:endParaRPr lang="en-US" sz="1100" dirty="0"/>
          </a:p>
        </p:txBody>
      </p:sp>
      <p:sp>
        <p:nvSpPr>
          <p:cNvPr id="57" name="Shape 47"/>
          <p:cNvSpPr/>
          <p:nvPr/>
        </p:nvSpPr>
        <p:spPr>
          <a:xfrm>
            <a:off x="7635240" y="2468880"/>
            <a:ext cx="818388" cy="329184"/>
          </a:xfrm>
          <a:prstGeom prst="roundRect">
            <a:avLst>
              <a:gd name="adj" fmla="val 27778"/>
            </a:avLst>
          </a:prstGeom>
          <a:solidFill>
            <a:srgbClr val="2C3345"/>
          </a:solidFill>
          <a:ln w="12700">
            <a:solidFill>
              <a:srgbClr val="2C3345"/>
            </a:solidFill>
            <a:prstDash val="solid"/>
          </a:ln>
        </p:spPr>
      </p:sp>
      <p:sp>
        <p:nvSpPr>
          <p:cNvPr id="58" name="Text 48"/>
          <p:cNvSpPr txBox="1"/>
          <p:nvPr/>
        </p:nvSpPr>
        <p:spPr>
          <a:xfrm>
            <a:off x="7635240" y="2468880"/>
            <a:ext cx="818388"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GroupBy</a:t>
            </a:r>
            <a:endParaRPr lang="en-US" sz="1100" dirty="0"/>
          </a:p>
        </p:txBody>
      </p:sp>
      <p:sp>
        <p:nvSpPr>
          <p:cNvPr id="59" name="Shape 49"/>
          <p:cNvSpPr/>
          <p:nvPr/>
        </p:nvSpPr>
        <p:spPr>
          <a:xfrm>
            <a:off x="8545068" y="2468880"/>
            <a:ext cx="1129284" cy="329184"/>
          </a:xfrm>
          <a:prstGeom prst="roundRect">
            <a:avLst>
              <a:gd name="adj" fmla="val 27778"/>
            </a:avLst>
          </a:prstGeom>
          <a:solidFill>
            <a:srgbClr val="2C3345"/>
          </a:solidFill>
          <a:ln w="12700">
            <a:solidFill>
              <a:srgbClr val="2C3345"/>
            </a:solidFill>
            <a:prstDash val="solid"/>
          </a:ln>
        </p:spPr>
      </p:sp>
      <p:sp>
        <p:nvSpPr>
          <p:cNvPr id="60" name="Text 50"/>
          <p:cNvSpPr txBox="1"/>
          <p:nvPr/>
        </p:nvSpPr>
        <p:spPr>
          <a:xfrm>
            <a:off x="8545068" y="2468880"/>
            <a:ext cx="1129284"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Aggregation</a:t>
            </a:r>
            <a:endParaRPr lang="en-US" sz="1100" dirty="0"/>
          </a:p>
        </p:txBody>
      </p:sp>
      <p:sp>
        <p:nvSpPr>
          <p:cNvPr id="61" name="Shape 51"/>
          <p:cNvSpPr/>
          <p:nvPr/>
        </p:nvSpPr>
        <p:spPr>
          <a:xfrm>
            <a:off x="9765792" y="2468880"/>
            <a:ext cx="973836" cy="329184"/>
          </a:xfrm>
          <a:prstGeom prst="roundRect">
            <a:avLst>
              <a:gd name="adj" fmla="val 27778"/>
            </a:avLst>
          </a:prstGeom>
          <a:solidFill>
            <a:srgbClr val="2C3345"/>
          </a:solidFill>
          <a:ln w="12700">
            <a:solidFill>
              <a:srgbClr val="2C3345"/>
            </a:solidFill>
            <a:prstDash val="solid"/>
          </a:ln>
        </p:spPr>
      </p:sp>
      <p:sp>
        <p:nvSpPr>
          <p:cNvPr id="62" name="Text 52"/>
          <p:cNvSpPr txBox="1"/>
          <p:nvPr/>
        </p:nvSpPr>
        <p:spPr>
          <a:xfrm>
            <a:off x="9765792" y="2468880"/>
            <a:ext cx="973836"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Filtering</a:t>
            </a:r>
            <a:endParaRPr lang="en-US" sz="1100" dirty="0"/>
          </a:p>
        </p:txBody>
      </p:sp>
      <p:sp>
        <p:nvSpPr>
          <p:cNvPr id="63" name="Shape 53"/>
          <p:cNvSpPr/>
          <p:nvPr/>
        </p:nvSpPr>
        <p:spPr>
          <a:xfrm>
            <a:off x="7635240" y="2926080"/>
            <a:ext cx="818388" cy="329184"/>
          </a:xfrm>
          <a:prstGeom prst="roundRect">
            <a:avLst>
              <a:gd name="adj" fmla="val 27778"/>
            </a:avLst>
          </a:prstGeom>
          <a:solidFill>
            <a:srgbClr val="2C3345"/>
          </a:solidFill>
          <a:ln w="12700">
            <a:solidFill>
              <a:srgbClr val="2C3345"/>
            </a:solidFill>
            <a:prstDash val="solid"/>
          </a:ln>
        </p:spPr>
      </p:sp>
      <p:sp>
        <p:nvSpPr>
          <p:cNvPr id="64" name="Text 54"/>
          <p:cNvSpPr txBox="1"/>
          <p:nvPr/>
        </p:nvSpPr>
        <p:spPr>
          <a:xfrm>
            <a:off x="7635240" y="2926080"/>
            <a:ext cx="818388"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Sorting</a:t>
            </a:r>
            <a:endParaRPr lang="en-US" sz="1100" dirty="0"/>
          </a:p>
        </p:txBody>
      </p:sp>
      <p:sp>
        <p:nvSpPr>
          <p:cNvPr id="65" name="Shape 55"/>
          <p:cNvSpPr/>
          <p:nvPr/>
        </p:nvSpPr>
        <p:spPr>
          <a:xfrm>
            <a:off x="8545068" y="2926080"/>
            <a:ext cx="1129284" cy="329184"/>
          </a:xfrm>
          <a:prstGeom prst="roundRect">
            <a:avLst>
              <a:gd name="adj" fmla="val 27778"/>
            </a:avLst>
          </a:prstGeom>
          <a:solidFill>
            <a:srgbClr val="2C3345"/>
          </a:solidFill>
          <a:ln w="12700">
            <a:solidFill>
              <a:srgbClr val="2C3345"/>
            </a:solidFill>
            <a:prstDash val="solid"/>
          </a:ln>
        </p:spPr>
      </p:sp>
      <p:sp>
        <p:nvSpPr>
          <p:cNvPr id="66" name="Text 56"/>
          <p:cNvSpPr txBox="1"/>
          <p:nvPr/>
        </p:nvSpPr>
        <p:spPr>
          <a:xfrm>
            <a:off x="8545068" y="2926080"/>
            <a:ext cx="1129284"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Correlation</a:t>
            </a:r>
            <a:endParaRPr lang="en-US" sz="1100" dirty="0"/>
          </a:p>
        </p:txBody>
      </p:sp>
      <p:sp>
        <p:nvSpPr>
          <p:cNvPr id="67" name="Shape 57"/>
          <p:cNvSpPr/>
          <p:nvPr/>
        </p:nvSpPr>
        <p:spPr>
          <a:xfrm>
            <a:off x="9765792" y="2926080"/>
            <a:ext cx="1440180" cy="329184"/>
          </a:xfrm>
          <a:prstGeom prst="roundRect">
            <a:avLst>
              <a:gd name="adj" fmla="val 27778"/>
            </a:avLst>
          </a:prstGeom>
          <a:solidFill>
            <a:srgbClr val="2C3345"/>
          </a:solidFill>
          <a:ln w="12700">
            <a:solidFill>
              <a:srgbClr val="2C3345"/>
            </a:solidFill>
            <a:prstDash val="solid"/>
          </a:ln>
        </p:spPr>
      </p:sp>
      <p:sp>
        <p:nvSpPr>
          <p:cNvPr id="68" name="Text 58"/>
          <p:cNvSpPr txBox="1"/>
          <p:nvPr/>
        </p:nvSpPr>
        <p:spPr>
          <a:xfrm>
            <a:off x="9765792" y="2926080"/>
            <a:ext cx="1440180"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Text processing</a:t>
            </a:r>
            <a:endParaRPr lang="en-US" sz="1100" dirty="0"/>
          </a:p>
        </p:txBody>
      </p:sp>
      <p:sp>
        <p:nvSpPr>
          <p:cNvPr id="69" name="Shape 59"/>
          <p:cNvSpPr/>
          <p:nvPr/>
        </p:nvSpPr>
        <p:spPr>
          <a:xfrm>
            <a:off x="7406640" y="4069080"/>
            <a:ext cx="4233672" cy="2148840"/>
          </a:xfrm>
          <a:prstGeom prst="roundRect">
            <a:avLst>
              <a:gd name="adj" fmla="val 4255"/>
            </a:avLst>
          </a:prstGeom>
          <a:solidFill>
            <a:srgbClr val="1B1F2A"/>
          </a:solidFill>
          <a:ln w="12700">
            <a:solidFill>
              <a:srgbClr val="1B1F2A"/>
            </a:solidFill>
            <a:prstDash val="solid"/>
          </a:ln>
        </p:spPr>
      </p:sp>
      <p:sp>
        <p:nvSpPr>
          <p:cNvPr id="70" name="Text 60"/>
          <p:cNvSpPr txBox="1"/>
          <p:nvPr/>
        </p:nvSpPr>
        <p:spPr>
          <a:xfrm>
            <a:off x="7635240" y="4206240"/>
            <a:ext cx="3657600" cy="320040"/>
          </a:xfrm>
          <a:prstGeom prst="rect">
            <a:avLst/>
          </a:prstGeom>
          <a:noFill/>
          <a:ln/>
        </p:spPr>
        <p:txBody>
          <a:bodyPr wrap="square" lIns="0" tIns="0" rIns="0" bIns="0" rtlCol="0" anchor="t"/>
          <a:lstStyle/>
          <a:p>
            <a:pPr indent="0" marL="0">
              <a:buNone/>
            </a:pPr>
            <a:r>
              <a:rPr lang="en-US" sz="1800" b="1" dirty="0">
                <a:solidFill>
                  <a:srgbClr val="F2B134"/>
                </a:solidFill>
                <a:latin typeface="Cambria" pitchFamily="34" charset="0"/>
                <a:ea typeface="Cambria" pitchFamily="34" charset="-122"/>
                <a:cs typeface="Cambria" pitchFamily="34" charset="-120"/>
              </a:rPr>
              <a:t>Data Analytics</a:t>
            </a:r>
            <a:endParaRPr lang="en-US" sz="1800" dirty="0"/>
          </a:p>
        </p:txBody>
      </p:sp>
      <p:sp>
        <p:nvSpPr>
          <p:cNvPr id="71" name="Shape 61"/>
          <p:cNvSpPr/>
          <p:nvPr/>
        </p:nvSpPr>
        <p:spPr>
          <a:xfrm>
            <a:off x="7635240" y="4663440"/>
            <a:ext cx="1284732" cy="329184"/>
          </a:xfrm>
          <a:prstGeom prst="roundRect">
            <a:avLst>
              <a:gd name="adj" fmla="val 27778"/>
            </a:avLst>
          </a:prstGeom>
          <a:solidFill>
            <a:srgbClr val="2C3345"/>
          </a:solidFill>
          <a:ln w="12700">
            <a:solidFill>
              <a:srgbClr val="2C3345"/>
            </a:solidFill>
            <a:prstDash val="solid"/>
          </a:ln>
        </p:spPr>
      </p:sp>
      <p:sp>
        <p:nvSpPr>
          <p:cNvPr id="72" name="Text 62"/>
          <p:cNvSpPr txBox="1"/>
          <p:nvPr/>
        </p:nvSpPr>
        <p:spPr>
          <a:xfrm>
            <a:off x="7635240" y="4663440"/>
            <a:ext cx="1284732"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Data cleaning</a:t>
            </a:r>
            <a:endParaRPr lang="en-US" sz="1100" dirty="0"/>
          </a:p>
        </p:txBody>
      </p:sp>
      <p:sp>
        <p:nvSpPr>
          <p:cNvPr id="73" name="Shape 63"/>
          <p:cNvSpPr/>
          <p:nvPr/>
        </p:nvSpPr>
        <p:spPr>
          <a:xfrm>
            <a:off x="9011412" y="4663440"/>
            <a:ext cx="1051560" cy="329184"/>
          </a:xfrm>
          <a:prstGeom prst="roundRect">
            <a:avLst>
              <a:gd name="adj" fmla="val 27778"/>
            </a:avLst>
          </a:prstGeom>
          <a:solidFill>
            <a:srgbClr val="2C3345"/>
          </a:solidFill>
          <a:ln w="12700">
            <a:solidFill>
              <a:srgbClr val="2C3345"/>
            </a:solidFill>
            <a:prstDash val="solid"/>
          </a:ln>
        </p:spPr>
      </p:sp>
      <p:sp>
        <p:nvSpPr>
          <p:cNvPr id="74" name="Text 64"/>
          <p:cNvSpPr txBox="1"/>
          <p:nvPr/>
        </p:nvSpPr>
        <p:spPr>
          <a:xfrm>
            <a:off x="9011412" y="4663440"/>
            <a:ext cx="1051560"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Validation</a:t>
            </a:r>
            <a:endParaRPr lang="en-US" sz="1100" dirty="0"/>
          </a:p>
        </p:txBody>
      </p:sp>
      <p:sp>
        <p:nvSpPr>
          <p:cNvPr id="75" name="Shape 65"/>
          <p:cNvSpPr/>
          <p:nvPr/>
        </p:nvSpPr>
        <p:spPr>
          <a:xfrm>
            <a:off x="10154412" y="4663440"/>
            <a:ext cx="507492" cy="329184"/>
          </a:xfrm>
          <a:prstGeom prst="roundRect">
            <a:avLst>
              <a:gd name="adj" fmla="val 27778"/>
            </a:avLst>
          </a:prstGeom>
          <a:solidFill>
            <a:srgbClr val="2C3345"/>
          </a:solidFill>
          <a:ln w="12700">
            <a:solidFill>
              <a:srgbClr val="2C3345"/>
            </a:solidFill>
            <a:prstDash val="solid"/>
          </a:ln>
        </p:spPr>
      </p:sp>
      <p:sp>
        <p:nvSpPr>
          <p:cNvPr id="76" name="Text 66"/>
          <p:cNvSpPr txBox="1"/>
          <p:nvPr/>
        </p:nvSpPr>
        <p:spPr>
          <a:xfrm>
            <a:off x="10154412" y="4663440"/>
            <a:ext cx="507492"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EDA</a:t>
            </a:r>
            <a:endParaRPr lang="en-US" sz="1100" dirty="0"/>
          </a:p>
        </p:txBody>
      </p:sp>
      <p:sp>
        <p:nvSpPr>
          <p:cNvPr id="77" name="Shape 67"/>
          <p:cNvSpPr/>
          <p:nvPr/>
        </p:nvSpPr>
        <p:spPr>
          <a:xfrm>
            <a:off x="7635240" y="5120640"/>
            <a:ext cx="1828800" cy="329184"/>
          </a:xfrm>
          <a:prstGeom prst="roundRect">
            <a:avLst>
              <a:gd name="adj" fmla="val 27778"/>
            </a:avLst>
          </a:prstGeom>
          <a:solidFill>
            <a:srgbClr val="2C3345"/>
          </a:solidFill>
          <a:ln w="12700">
            <a:solidFill>
              <a:srgbClr val="2C3345"/>
            </a:solidFill>
            <a:prstDash val="solid"/>
          </a:ln>
        </p:spPr>
      </p:sp>
      <p:sp>
        <p:nvSpPr>
          <p:cNvPr id="78" name="Text 68"/>
          <p:cNvSpPr txBox="1"/>
          <p:nvPr/>
        </p:nvSpPr>
        <p:spPr>
          <a:xfrm>
            <a:off x="7635240" y="5120640"/>
            <a:ext cx="1828800"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Categorical analysis</a:t>
            </a:r>
            <a:endParaRPr lang="en-US" sz="1100" dirty="0"/>
          </a:p>
        </p:txBody>
      </p:sp>
      <p:sp>
        <p:nvSpPr>
          <p:cNvPr id="79" name="Shape 69"/>
          <p:cNvSpPr/>
          <p:nvPr/>
        </p:nvSpPr>
        <p:spPr>
          <a:xfrm>
            <a:off x="9555480" y="5120640"/>
            <a:ext cx="1673352" cy="329184"/>
          </a:xfrm>
          <a:prstGeom prst="roundRect">
            <a:avLst>
              <a:gd name="adj" fmla="val 27778"/>
            </a:avLst>
          </a:prstGeom>
          <a:solidFill>
            <a:srgbClr val="2C3345"/>
          </a:solidFill>
          <a:ln w="12700">
            <a:solidFill>
              <a:srgbClr val="2C3345"/>
            </a:solidFill>
            <a:prstDash val="solid"/>
          </a:ln>
        </p:spPr>
      </p:sp>
      <p:sp>
        <p:nvSpPr>
          <p:cNvPr id="80" name="Text 70"/>
          <p:cNvSpPr txBox="1"/>
          <p:nvPr/>
        </p:nvSpPr>
        <p:spPr>
          <a:xfrm>
            <a:off x="9555480" y="5120640"/>
            <a:ext cx="1673352"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Numerical analysis</a:t>
            </a:r>
            <a:endParaRPr lang="en-US" sz="1100" dirty="0"/>
          </a:p>
        </p:txBody>
      </p:sp>
      <p:sp>
        <p:nvSpPr>
          <p:cNvPr id="81" name="Shape 71"/>
          <p:cNvSpPr/>
          <p:nvPr/>
        </p:nvSpPr>
        <p:spPr>
          <a:xfrm>
            <a:off x="7635240" y="5577840"/>
            <a:ext cx="1751076" cy="329184"/>
          </a:xfrm>
          <a:prstGeom prst="roundRect">
            <a:avLst>
              <a:gd name="adj" fmla="val 27778"/>
            </a:avLst>
          </a:prstGeom>
          <a:solidFill>
            <a:srgbClr val="2C3345"/>
          </a:solidFill>
          <a:ln w="12700">
            <a:solidFill>
              <a:srgbClr val="2C3345"/>
            </a:solidFill>
            <a:prstDash val="solid"/>
          </a:ln>
        </p:spPr>
      </p:sp>
      <p:sp>
        <p:nvSpPr>
          <p:cNvPr id="82" name="Text 72"/>
          <p:cNvSpPr txBox="1"/>
          <p:nvPr/>
        </p:nvSpPr>
        <p:spPr>
          <a:xfrm>
            <a:off x="7635240" y="5577840"/>
            <a:ext cx="1751076"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Geographic analysis</a:t>
            </a:r>
            <a:endParaRPr lang="en-US" sz="1100" dirty="0"/>
          </a:p>
        </p:txBody>
      </p:sp>
      <p:sp>
        <p:nvSpPr>
          <p:cNvPr id="83" name="Shape 73"/>
          <p:cNvSpPr/>
          <p:nvPr/>
        </p:nvSpPr>
        <p:spPr>
          <a:xfrm>
            <a:off x="7635240" y="6035040"/>
            <a:ext cx="2061972" cy="329184"/>
          </a:xfrm>
          <a:prstGeom prst="roundRect">
            <a:avLst>
              <a:gd name="adj" fmla="val 27778"/>
            </a:avLst>
          </a:prstGeom>
          <a:solidFill>
            <a:srgbClr val="2C3345"/>
          </a:solidFill>
          <a:ln w="12700">
            <a:solidFill>
              <a:srgbClr val="2C3345"/>
            </a:solidFill>
            <a:prstDash val="solid"/>
          </a:ln>
        </p:spPr>
      </p:sp>
      <p:sp>
        <p:nvSpPr>
          <p:cNvPr id="84" name="Text 74"/>
          <p:cNvSpPr txBox="1"/>
          <p:nvPr/>
        </p:nvSpPr>
        <p:spPr>
          <a:xfrm>
            <a:off x="7635240" y="6035040"/>
            <a:ext cx="2061972"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Business interpretation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F2A"/>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300" kern="0" dirty="0">
                <a:solidFill>
                  <a:srgbClr val="E4572E"/>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548640" y="621792"/>
            <a:ext cx="10972800" cy="5943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Conclusion &amp; Project Outcome</a:t>
            </a:r>
            <a:endParaRPr lang="en-US" sz="30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Restaurant Data Analysis  |  Vikash Rao</a:t>
            </a:r>
            <a:endParaRPr lang="en-US" sz="1000" dirty="0"/>
          </a:p>
        </p:txBody>
      </p:sp>
      <p:sp>
        <p:nvSpPr>
          <p:cNvPr id="5" name="Text 3"/>
          <p:cNvSpPr txBox="1"/>
          <p:nvPr/>
        </p:nvSpPr>
        <p:spPr>
          <a:xfrm>
            <a:off x="11155680" y="6446520"/>
            <a:ext cx="484632" cy="22860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
        <p:nvSpPr>
          <p:cNvPr id="6" name="Text 4"/>
          <p:cNvSpPr txBox="1"/>
          <p:nvPr/>
        </p:nvSpPr>
        <p:spPr>
          <a:xfrm>
            <a:off x="548640" y="1463040"/>
            <a:ext cx="6035040" cy="914400"/>
          </a:xfrm>
          <a:prstGeom prst="rect">
            <a:avLst/>
          </a:prstGeom>
          <a:noFill/>
          <a:ln/>
        </p:spPr>
        <p:txBody>
          <a:bodyPr wrap="square" lIns="0" tIns="0" rIns="0" bIns="0" rtlCol="0" anchor="t"/>
          <a:lstStyle/>
          <a:p>
            <a:pPr indent="0" marL="0">
              <a:buNone/>
            </a:pPr>
            <a:r>
              <a:rPr lang="en-US" sz="1700" dirty="0">
                <a:solidFill>
                  <a:srgbClr val="D5DAE3"/>
                </a:solidFill>
                <a:latin typeface="Calibri" pitchFamily="34" charset="0"/>
                <a:ea typeface="Calibri" pitchFamily="34" charset="-122"/>
                <a:cs typeface="Calibri" pitchFamily="34" charset="-120"/>
              </a:rPr>
              <a:t>This project gave me practical experience in turning raw restaurant data into structured information and visual insights.</a:t>
            </a:r>
            <a:endParaRPr lang="en-US" sz="1700" dirty="0"/>
          </a:p>
        </p:txBody>
      </p:sp>
      <p:sp>
        <p:nvSpPr>
          <p:cNvPr id="7" name="Shape 5"/>
          <p:cNvSpPr/>
          <p:nvPr/>
        </p:nvSpPr>
        <p:spPr>
          <a:xfrm>
            <a:off x="548640" y="2651760"/>
            <a:ext cx="1920240" cy="420624"/>
          </a:xfrm>
          <a:prstGeom prst="roundRect">
            <a:avLst>
              <a:gd name="adj" fmla="val 21739"/>
            </a:avLst>
          </a:prstGeom>
          <a:solidFill>
            <a:srgbClr val="2C3345"/>
          </a:solidFill>
          <a:ln w="12700">
            <a:solidFill>
              <a:srgbClr val="2C3345"/>
            </a:solidFill>
            <a:prstDash val="solid"/>
          </a:ln>
        </p:spPr>
      </p:sp>
      <p:sp>
        <p:nvSpPr>
          <p:cNvPr id="8" name="Text 6"/>
          <p:cNvSpPr txBox="1"/>
          <p:nvPr/>
        </p:nvSpPr>
        <p:spPr>
          <a:xfrm>
            <a:off x="548640" y="2651760"/>
            <a:ext cx="1920240" cy="42062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Cuisine preferences</a:t>
            </a:r>
            <a:endParaRPr lang="en-US" sz="1200" dirty="0"/>
          </a:p>
        </p:txBody>
      </p:sp>
      <p:sp>
        <p:nvSpPr>
          <p:cNvPr id="9" name="Shape 7"/>
          <p:cNvSpPr/>
          <p:nvPr/>
        </p:nvSpPr>
        <p:spPr>
          <a:xfrm>
            <a:off x="2606040" y="2651760"/>
            <a:ext cx="1920240" cy="420624"/>
          </a:xfrm>
          <a:prstGeom prst="roundRect">
            <a:avLst>
              <a:gd name="adj" fmla="val 21739"/>
            </a:avLst>
          </a:prstGeom>
          <a:solidFill>
            <a:srgbClr val="2C3345"/>
          </a:solidFill>
          <a:ln w="12700">
            <a:solidFill>
              <a:srgbClr val="2C3345"/>
            </a:solidFill>
            <a:prstDash val="solid"/>
          </a:ln>
        </p:spPr>
      </p:sp>
      <p:sp>
        <p:nvSpPr>
          <p:cNvPr id="10" name="Text 8"/>
          <p:cNvSpPr txBox="1"/>
          <p:nvPr/>
        </p:nvSpPr>
        <p:spPr>
          <a:xfrm>
            <a:off x="2606040" y="2651760"/>
            <a:ext cx="1920240" cy="42062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Restaurant locations</a:t>
            </a:r>
            <a:endParaRPr lang="en-US" sz="1200" dirty="0"/>
          </a:p>
        </p:txBody>
      </p:sp>
      <p:sp>
        <p:nvSpPr>
          <p:cNvPr id="11" name="Shape 9"/>
          <p:cNvSpPr/>
          <p:nvPr/>
        </p:nvSpPr>
        <p:spPr>
          <a:xfrm>
            <a:off x="4663440" y="2651760"/>
            <a:ext cx="1920240" cy="420624"/>
          </a:xfrm>
          <a:prstGeom prst="roundRect">
            <a:avLst>
              <a:gd name="adj" fmla="val 21739"/>
            </a:avLst>
          </a:prstGeom>
          <a:solidFill>
            <a:srgbClr val="2C3345"/>
          </a:solidFill>
          <a:ln w="12700">
            <a:solidFill>
              <a:srgbClr val="2C3345"/>
            </a:solidFill>
            <a:prstDash val="solid"/>
          </a:ln>
        </p:spPr>
      </p:sp>
      <p:sp>
        <p:nvSpPr>
          <p:cNvPr id="12" name="Text 10"/>
          <p:cNvSpPr txBox="1"/>
          <p:nvPr/>
        </p:nvSpPr>
        <p:spPr>
          <a:xfrm>
            <a:off x="4663440" y="2651760"/>
            <a:ext cx="1920240" cy="42062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Pricing</a:t>
            </a:r>
            <a:endParaRPr lang="en-US" sz="1200" dirty="0"/>
          </a:p>
        </p:txBody>
      </p:sp>
      <p:sp>
        <p:nvSpPr>
          <p:cNvPr id="13" name="Shape 11"/>
          <p:cNvSpPr/>
          <p:nvPr/>
        </p:nvSpPr>
        <p:spPr>
          <a:xfrm>
            <a:off x="548640" y="3218688"/>
            <a:ext cx="1920240" cy="420624"/>
          </a:xfrm>
          <a:prstGeom prst="roundRect">
            <a:avLst>
              <a:gd name="adj" fmla="val 21739"/>
            </a:avLst>
          </a:prstGeom>
          <a:solidFill>
            <a:srgbClr val="2C3345"/>
          </a:solidFill>
          <a:ln w="12700">
            <a:solidFill>
              <a:srgbClr val="2C3345"/>
            </a:solidFill>
            <a:prstDash val="solid"/>
          </a:ln>
        </p:spPr>
      </p:sp>
      <p:sp>
        <p:nvSpPr>
          <p:cNvPr id="14" name="Text 12"/>
          <p:cNvSpPr txBox="1"/>
          <p:nvPr/>
        </p:nvSpPr>
        <p:spPr>
          <a:xfrm>
            <a:off x="548640" y="3218688"/>
            <a:ext cx="1920240" cy="42062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Ratings</a:t>
            </a:r>
            <a:endParaRPr lang="en-US" sz="1200" dirty="0"/>
          </a:p>
        </p:txBody>
      </p:sp>
      <p:sp>
        <p:nvSpPr>
          <p:cNvPr id="15" name="Shape 13"/>
          <p:cNvSpPr/>
          <p:nvPr/>
        </p:nvSpPr>
        <p:spPr>
          <a:xfrm>
            <a:off x="2606040" y="3218688"/>
            <a:ext cx="1920240" cy="420624"/>
          </a:xfrm>
          <a:prstGeom prst="roundRect">
            <a:avLst>
              <a:gd name="adj" fmla="val 21739"/>
            </a:avLst>
          </a:prstGeom>
          <a:solidFill>
            <a:srgbClr val="2C3345"/>
          </a:solidFill>
          <a:ln w="12700">
            <a:solidFill>
              <a:srgbClr val="2C3345"/>
            </a:solidFill>
            <a:prstDash val="solid"/>
          </a:ln>
        </p:spPr>
      </p:sp>
      <p:sp>
        <p:nvSpPr>
          <p:cNvPr id="16" name="Text 14"/>
          <p:cNvSpPr txBox="1"/>
          <p:nvPr/>
        </p:nvSpPr>
        <p:spPr>
          <a:xfrm>
            <a:off x="2606040" y="3218688"/>
            <a:ext cx="1920240" cy="42062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Customer reviews</a:t>
            </a:r>
            <a:endParaRPr lang="en-US" sz="1200" dirty="0"/>
          </a:p>
        </p:txBody>
      </p:sp>
      <p:sp>
        <p:nvSpPr>
          <p:cNvPr id="17" name="Shape 15"/>
          <p:cNvSpPr/>
          <p:nvPr/>
        </p:nvSpPr>
        <p:spPr>
          <a:xfrm>
            <a:off x="4663440" y="3218688"/>
            <a:ext cx="1920240" cy="420624"/>
          </a:xfrm>
          <a:prstGeom prst="roundRect">
            <a:avLst>
              <a:gd name="adj" fmla="val 21739"/>
            </a:avLst>
          </a:prstGeom>
          <a:solidFill>
            <a:srgbClr val="2C3345"/>
          </a:solidFill>
          <a:ln w="12700">
            <a:solidFill>
              <a:srgbClr val="2C3345"/>
            </a:solidFill>
            <a:prstDash val="solid"/>
          </a:ln>
        </p:spPr>
      </p:sp>
      <p:sp>
        <p:nvSpPr>
          <p:cNvPr id="18" name="Text 16"/>
          <p:cNvSpPr txBox="1"/>
          <p:nvPr/>
        </p:nvSpPr>
        <p:spPr>
          <a:xfrm>
            <a:off x="4663440" y="3218688"/>
            <a:ext cx="1920240" cy="42062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Votes</a:t>
            </a:r>
            <a:endParaRPr lang="en-US" sz="1200" dirty="0"/>
          </a:p>
        </p:txBody>
      </p:sp>
      <p:sp>
        <p:nvSpPr>
          <p:cNvPr id="19" name="Shape 17"/>
          <p:cNvSpPr/>
          <p:nvPr/>
        </p:nvSpPr>
        <p:spPr>
          <a:xfrm>
            <a:off x="548640" y="3785616"/>
            <a:ext cx="1920240" cy="420624"/>
          </a:xfrm>
          <a:prstGeom prst="roundRect">
            <a:avLst>
              <a:gd name="adj" fmla="val 21739"/>
            </a:avLst>
          </a:prstGeom>
          <a:solidFill>
            <a:srgbClr val="2C3345"/>
          </a:solidFill>
          <a:ln w="12700">
            <a:solidFill>
              <a:srgbClr val="2C3345"/>
            </a:solidFill>
            <a:prstDash val="solid"/>
          </a:ln>
        </p:spPr>
      </p:sp>
      <p:sp>
        <p:nvSpPr>
          <p:cNvPr id="20" name="Text 18"/>
          <p:cNvSpPr txBox="1"/>
          <p:nvPr/>
        </p:nvSpPr>
        <p:spPr>
          <a:xfrm>
            <a:off x="548640" y="3785616"/>
            <a:ext cx="1920240" cy="42062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Restaurant chains</a:t>
            </a:r>
            <a:endParaRPr lang="en-US" sz="1200" dirty="0"/>
          </a:p>
        </p:txBody>
      </p:sp>
      <p:sp>
        <p:nvSpPr>
          <p:cNvPr id="21" name="Shape 19"/>
          <p:cNvSpPr/>
          <p:nvPr/>
        </p:nvSpPr>
        <p:spPr>
          <a:xfrm>
            <a:off x="2606040" y="3785616"/>
            <a:ext cx="1920240" cy="420624"/>
          </a:xfrm>
          <a:prstGeom prst="roundRect">
            <a:avLst>
              <a:gd name="adj" fmla="val 21739"/>
            </a:avLst>
          </a:prstGeom>
          <a:solidFill>
            <a:srgbClr val="2C3345"/>
          </a:solidFill>
          <a:ln w="12700">
            <a:solidFill>
              <a:srgbClr val="2C3345"/>
            </a:solidFill>
            <a:prstDash val="solid"/>
          </a:ln>
        </p:spPr>
      </p:sp>
      <p:sp>
        <p:nvSpPr>
          <p:cNvPr id="22" name="Text 20"/>
          <p:cNvSpPr txBox="1"/>
          <p:nvPr/>
        </p:nvSpPr>
        <p:spPr>
          <a:xfrm>
            <a:off x="2606040" y="3785616"/>
            <a:ext cx="1920240" cy="42062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Online delivery</a:t>
            </a:r>
            <a:endParaRPr lang="en-US" sz="1200" dirty="0"/>
          </a:p>
        </p:txBody>
      </p:sp>
      <p:sp>
        <p:nvSpPr>
          <p:cNvPr id="23" name="Shape 21"/>
          <p:cNvSpPr/>
          <p:nvPr/>
        </p:nvSpPr>
        <p:spPr>
          <a:xfrm>
            <a:off x="4663440" y="3785616"/>
            <a:ext cx="1920240" cy="420624"/>
          </a:xfrm>
          <a:prstGeom prst="roundRect">
            <a:avLst>
              <a:gd name="adj" fmla="val 21739"/>
            </a:avLst>
          </a:prstGeom>
          <a:solidFill>
            <a:srgbClr val="2C3345"/>
          </a:solidFill>
          <a:ln w="12700">
            <a:solidFill>
              <a:srgbClr val="2C3345"/>
            </a:solidFill>
            <a:prstDash val="solid"/>
          </a:ln>
        </p:spPr>
      </p:sp>
      <p:sp>
        <p:nvSpPr>
          <p:cNvPr id="24" name="Text 22"/>
          <p:cNvSpPr txBox="1"/>
          <p:nvPr/>
        </p:nvSpPr>
        <p:spPr>
          <a:xfrm>
            <a:off x="4663440" y="3785616"/>
            <a:ext cx="1920240" cy="42062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Table booking</a:t>
            </a:r>
            <a:endParaRPr lang="en-US" sz="1200" dirty="0"/>
          </a:p>
        </p:txBody>
      </p:sp>
      <p:sp>
        <p:nvSpPr>
          <p:cNvPr id="25" name="Text 23"/>
          <p:cNvSpPr txBox="1"/>
          <p:nvPr/>
        </p:nvSpPr>
        <p:spPr>
          <a:xfrm>
            <a:off x="548640" y="4663440"/>
            <a:ext cx="6035040" cy="548640"/>
          </a:xfrm>
          <a:prstGeom prst="rect">
            <a:avLst/>
          </a:prstGeom>
          <a:noFill/>
          <a:ln/>
        </p:spPr>
        <p:txBody>
          <a:bodyPr wrap="square" lIns="0" tIns="0" rIns="0" bIns="0" rtlCol="0" anchor="t"/>
          <a:lstStyle/>
          <a:p>
            <a:pPr indent="0" marL="0">
              <a:buNone/>
            </a:pPr>
            <a:r>
              <a:rPr lang="en-US" sz="1200" i="1" dirty="0">
                <a:solidFill>
                  <a:srgbClr val="A9B1C0"/>
                </a:solidFill>
                <a:latin typeface="Calibri" pitchFamily="34" charset="0"/>
                <a:ea typeface="Calibri" pitchFamily="34" charset="-122"/>
                <a:cs typeface="Calibri" pitchFamily="34" charset="-120"/>
              </a:rPr>
              <a:t>Findings describe associations in the data, not causation. Small groups were interpreted carefully.</a:t>
            </a:r>
            <a:endParaRPr lang="en-US" sz="1200" dirty="0"/>
          </a:p>
        </p:txBody>
      </p:sp>
      <p:sp>
        <p:nvSpPr>
          <p:cNvPr id="26" name="Shape 24"/>
          <p:cNvSpPr/>
          <p:nvPr/>
        </p:nvSpPr>
        <p:spPr>
          <a:xfrm>
            <a:off x="7040880" y="1463040"/>
            <a:ext cx="4599432" cy="4160520"/>
          </a:xfrm>
          <a:prstGeom prst="roundRect">
            <a:avLst>
              <a:gd name="adj" fmla="val 2198"/>
            </a:avLst>
          </a:prstGeom>
          <a:solidFill>
            <a:srgbClr val="232838"/>
          </a:solidFill>
          <a:ln w="12700">
            <a:solidFill>
              <a:srgbClr val="232838"/>
            </a:solidFill>
            <a:prstDash val="solid"/>
          </a:ln>
        </p:spPr>
      </p:sp>
      <p:sp>
        <p:nvSpPr>
          <p:cNvPr id="27" name="Text 25"/>
          <p:cNvSpPr txBox="1"/>
          <p:nvPr/>
        </p:nvSpPr>
        <p:spPr>
          <a:xfrm>
            <a:off x="7269480" y="1783080"/>
            <a:ext cx="4114800" cy="731520"/>
          </a:xfrm>
          <a:prstGeom prst="rect">
            <a:avLst/>
          </a:prstGeom>
          <a:noFill/>
          <a:ln/>
        </p:spPr>
        <p:txBody>
          <a:bodyPr wrap="square" lIns="0" tIns="0" rIns="0" bIns="0" rtlCol="0" anchor="t"/>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28" name="Text 26"/>
          <p:cNvSpPr txBox="1"/>
          <p:nvPr/>
        </p:nvSpPr>
        <p:spPr>
          <a:xfrm>
            <a:off x="7269480" y="2697480"/>
            <a:ext cx="4114800" cy="457200"/>
          </a:xfrm>
          <a:prstGeom prst="rect">
            <a:avLst/>
          </a:prstGeom>
          <a:noFill/>
          <a:ln/>
        </p:spPr>
        <p:txBody>
          <a:bodyPr wrap="square" lIns="0" tIns="0" rIns="0" bIns="0" rtlCol="0" anchor="t"/>
          <a:lstStyle/>
          <a:p>
            <a:pPr algn="ctr" indent="0" marL="0">
              <a:buNone/>
            </a:pPr>
            <a:r>
              <a:rPr lang="en-US" sz="2400" b="1" dirty="0">
                <a:solidFill>
                  <a:srgbClr val="F2B134"/>
                </a:solidFill>
                <a:latin typeface="Calibri" pitchFamily="34" charset="0"/>
                <a:ea typeface="Calibri" pitchFamily="34" charset="-122"/>
                <a:cs typeface="Calibri" pitchFamily="34" charset="-120"/>
              </a:rPr>
              <a:t>Vikash Rao</a:t>
            </a:r>
            <a:endParaRPr lang="en-US" sz="2400" dirty="0"/>
          </a:p>
        </p:txBody>
      </p:sp>
      <p:sp>
        <p:nvSpPr>
          <p:cNvPr id="29" name="Text 27"/>
          <p:cNvSpPr txBox="1"/>
          <p:nvPr/>
        </p:nvSpPr>
        <p:spPr>
          <a:xfrm>
            <a:off x="7269480" y="3200400"/>
            <a:ext cx="4114800" cy="320040"/>
          </a:xfrm>
          <a:prstGeom prst="rect">
            <a:avLst/>
          </a:prstGeom>
          <a:noFill/>
          <a:ln/>
        </p:spPr>
        <p:txBody>
          <a:bodyPr wrap="square" lIns="0" tIns="0" rIns="0" bIns="0" rtlCol="0" anchor="t"/>
          <a:lstStyle/>
          <a:p>
            <a:pPr algn="ctr" indent="0" marL="0">
              <a:buNone/>
            </a:pPr>
            <a:r>
              <a:rPr lang="en-US" sz="1500" dirty="0">
                <a:solidFill>
                  <a:srgbClr val="D5DAE3"/>
                </a:solidFill>
                <a:latin typeface="Calibri" pitchFamily="34" charset="0"/>
                <a:ea typeface="Calibri" pitchFamily="34" charset="-122"/>
                <a:cs typeface="Calibri" pitchFamily="34" charset="-120"/>
              </a:rPr>
              <a:t>Aspiring Data Analyst</a:t>
            </a:r>
            <a:endParaRPr lang="en-US" sz="1500" dirty="0"/>
          </a:p>
        </p:txBody>
      </p:sp>
      <p:sp>
        <p:nvSpPr>
          <p:cNvPr id="30" name="Text 28"/>
          <p:cNvSpPr txBox="1"/>
          <p:nvPr/>
        </p:nvSpPr>
        <p:spPr>
          <a:xfrm>
            <a:off x="7269480" y="3566160"/>
            <a:ext cx="4114800" cy="320040"/>
          </a:xfrm>
          <a:prstGeom prst="rect">
            <a:avLst/>
          </a:prstGeom>
          <a:noFill/>
          <a:ln/>
        </p:spPr>
        <p:txBody>
          <a:bodyPr wrap="square" lIns="0" tIns="0" rIns="0" bIns="0" rtlCol="0" anchor="t"/>
          <a:lstStyle/>
          <a:p>
            <a:pPr algn="ctr" indent="0" marL="0">
              <a:buNone/>
            </a:pPr>
            <a:r>
              <a:rPr lang="en-US" sz="1400" dirty="0">
                <a:solidFill>
                  <a:srgbClr val="D5DAE3"/>
                </a:solidFill>
                <a:latin typeface="Calibri" pitchFamily="34" charset="0"/>
                <a:ea typeface="Calibri" pitchFamily="34" charset="-122"/>
                <a:cs typeface="Calibri" pitchFamily="34" charset="-120"/>
              </a:rPr>
              <a:t>Python  |  SQL  |  Excel  |  Power BI</a:t>
            </a:r>
            <a:endParaRPr lang="en-US" sz="1400" dirty="0"/>
          </a:p>
        </p:txBody>
      </p:sp>
      <p:sp>
        <p:nvSpPr>
          <p:cNvPr id="31" name="Shape 29"/>
          <p:cNvSpPr/>
          <p:nvPr/>
        </p:nvSpPr>
        <p:spPr>
          <a:xfrm>
            <a:off x="7863840" y="4434840"/>
            <a:ext cx="2926080" cy="548640"/>
          </a:xfrm>
          <a:prstGeom prst="roundRect">
            <a:avLst>
              <a:gd name="adj" fmla="val 16667"/>
            </a:avLst>
          </a:prstGeom>
          <a:solidFill>
            <a:srgbClr val="E4572E"/>
          </a:solidFill>
          <a:ln w="12700">
            <a:solidFill>
              <a:srgbClr val="E4572E"/>
            </a:solidFill>
            <a:prstDash val="solid"/>
          </a:ln>
        </p:spPr>
      </p:sp>
      <p:sp>
        <p:nvSpPr>
          <p:cNvPr id="32" name="Text 30"/>
          <p:cNvSpPr txBox="1"/>
          <p:nvPr/>
        </p:nvSpPr>
        <p:spPr>
          <a:xfrm>
            <a:off x="7863840" y="4434840"/>
            <a:ext cx="292608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Questions &amp; Discussion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2026-09-30T05:58:10Z</dcterms:created>
  <dcterms:modified xsi:type="dcterms:W3CDTF">2026-09-30T05:58:10Z</dcterms:modified>
</cp:coreProperties>
</file>